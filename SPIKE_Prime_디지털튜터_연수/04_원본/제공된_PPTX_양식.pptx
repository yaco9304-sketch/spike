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87"/>
  </p:notesMasterIdLst>
  <p:sldIdLst>
    <p:sldId id="444" r:id="rId2"/>
    <p:sldId id="259" r:id="rId3"/>
    <p:sldId id="265" r:id="rId4"/>
    <p:sldId id="260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4" r:id="rId25"/>
    <p:sldId id="465" r:id="rId26"/>
    <p:sldId id="466" r:id="rId27"/>
    <p:sldId id="467" r:id="rId28"/>
    <p:sldId id="468" r:id="rId29"/>
    <p:sldId id="469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479" r:id="rId40"/>
    <p:sldId id="480" r:id="rId41"/>
    <p:sldId id="481" r:id="rId42"/>
    <p:sldId id="482" r:id="rId43"/>
    <p:sldId id="483" r:id="rId44"/>
    <p:sldId id="484" r:id="rId45"/>
    <p:sldId id="485" r:id="rId46"/>
    <p:sldId id="486" r:id="rId47"/>
    <p:sldId id="487" r:id="rId48"/>
    <p:sldId id="488" r:id="rId49"/>
    <p:sldId id="489" r:id="rId50"/>
    <p:sldId id="490" r:id="rId51"/>
    <p:sldId id="491" r:id="rId52"/>
    <p:sldId id="492" r:id="rId53"/>
    <p:sldId id="493" r:id="rId54"/>
    <p:sldId id="494" r:id="rId55"/>
    <p:sldId id="495" r:id="rId56"/>
    <p:sldId id="496" r:id="rId57"/>
    <p:sldId id="497" r:id="rId58"/>
    <p:sldId id="498" r:id="rId59"/>
    <p:sldId id="499" r:id="rId60"/>
    <p:sldId id="501" r:id="rId61"/>
    <p:sldId id="500" r:id="rId62"/>
    <p:sldId id="502" r:id="rId63"/>
    <p:sldId id="503" r:id="rId64"/>
    <p:sldId id="504" r:id="rId65"/>
    <p:sldId id="505" r:id="rId66"/>
    <p:sldId id="506" r:id="rId67"/>
    <p:sldId id="507" r:id="rId68"/>
    <p:sldId id="508" r:id="rId69"/>
    <p:sldId id="509" r:id="rId70"/>
    <p:sldId id="510" r:id="rId71"/>
    <p:sldId id="511" r:id="rId72"/>
    <p:sldId id="512" r:id="rId73"/>
    <p:sldId id="513" r:id="rId74"/>
    <p:sldId id="514" r:id="rId75"/>
    <p:sldId id="515" r:id="rId76"/>
    <p:sldId id="516" r:id="rId77"/>
    <p:sldId id="517" r:id="rId78"/>
    <p:sldId id="518" r:id="rId79"/>
    <p:sldId id="519" r:id="rId80"/>
    <p:sldId id="520" r:id="rId81"/>
    <p:sldId id="521" r:id="rId82"/>
    <p:sldId id="522" r:id="rId83"/>
    <p:sldId id="523" r:id="rId84"/>
    <p:sldId id="524" r:id="rId85"/>
    <p:sldId id="525" r:id="rId86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pos="306" userDrawn="1">
          <p15:clr>
            <a:srgbClr val="A4A3A4"/>
          </p15:clr>
        </p15:guide>
        <p15:guide id="4" pos="6429" userDrawn="1">
          <p15:clr>
            <a:srgbClr val="A4A3A4"/>
          </p15:clr>
        </p15:guide>
        <p15:guide id="5" orient="horz" pos="907" userDrawn="1">
          <p15:clr>
            <a:srgbClr val="A4A3A4"/>
          </p15:clr>
        </p15:guide>
        <p15:guide id="6" orient="horz" pos="42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3F8"/>
    <a:srgbClr val="F49737"/>
    <a:srgbClr val="F7F7F7"/>
    <a:srgbClr val="FFF1CC"/>
    <a:srgbClr val="ADD3FF"/>
    <a:srgbClr val="EFEFEF"/>
    <a:srgbClr val="FEF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1" autoAdjust="0"/>
    <p:restoredTop sz="92199" autoAdjust="0"/>
  </p:normalViewPr>
  <p:slideViewPr>
    <p:cSldViewPr snapToGrid="0">
      <p:cViewPr varScale="1">
        <p:scale>
          <a:sx n="109" d="100"/>
          <a:sy n="109" d="100"/>
        </p:scale>
        <p:origin x="1182" y="114"/>
      </p:cViewPr>
      <p:guideLst>
        <p:guide orient="horz" pos="2381"/>
        <p:guide pos="3368"/>
        <p:guide pos="306"/>
        <p:guide pos="6429"/>
        <p:guide orient="horz" pos="907"/>
        <p:guide orient="horz" pos="428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5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C90BC-F78E-43D0-ABF5-441E8FCD848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9901E-EC50-4EE3-B261-F5C88F7D8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064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B9901E-EC50-4EE3-B261-F5C88F7D8D3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70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9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교육디지털원패스가 </a:t>
            </a:r>
            <a:r>
              <a:rPr lang="ko-KR" altLang="en-US" b="1" dirty="0"/>
              <a:t>왜 필요한가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b="1" dirty="0"/>
              <a:t>도입 배경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 이유는 </a:t>
            </a:r>
            <a:r>
              <a:rPr lang="ko-KR" altLang="en-US" b="1" dirty="0"/>
              <a:t>플랫폼 다변화로 인한 로그인 혼선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요즘 학교에서는 </a:t>
            </a:r>
            <a:r>
              <a:rPr lang="en-US" altLang="ko-KR" dirty="0"/>
              <a:t>ZEP, </a:t>
            </a:r>
            <a:r>
              <a:rPr lang="ko-KR" altLang="en-US" dirty="0" err="1"/>
              <a:t>캔바</a:t>
            </a:r>
            <a:r>
              <a:rPr lang="en-US" altLang="ko-KR" dirty="0"/>
              <a:t>, </a:t>
            </a:r>
            <a:r>
              <a:rPr lang="ko-KR" altLang="en-US" dirty="0"/>
              <a:t>구글 </a:t>
            </a:r>
            <a:r>
              <a:rPr lang="ko-KR" altLang="en-US" dirty="0" err="1"/>
              <a:t>클래스룸</a:t>
            </a:r>
            <a:r>
              <a:rPr lang="en-US" altLang="ko-KR" dirty="0"/>
              <a:t>, </a:t>
            </a:r>
            <a:r>
              <a:rPr lang="ko-KR" altLang="en-US" dirty="0" err="1"/>
              <a:t>웨일북</a:t>
            </a:r>
            <a:r>
              <a:rPr lang="ko-KR" altLang="en-US" dirty="0"/>
              <a:t> 등 다양한 플랫폼을 사용하게 되면서</a:t>
            </a:r>
            <a:r>
              <a:rPr lang="en-US" altLang="ko-KR" dirty="0"/>
              <a:t>, </a:t>
            </a:r>
            <a:r>
              <a:rPr lang="ko-KR" altLang="en-US" dirty="0"/>
              <a:t>교사와 학생이 매번 플랫폼마다 </a:t>
            </a:r>
            <a:r>
              <a:rPr lang="ko-KR" altLang="en-US" b="1" dirty="0"/>
              <a:t>다른 계정</a:t>
            </a:r>
            <a:r>
              <a:rPr lang="ko-KR" altLang="en-US" dirty="0"/>
              <a:t>으로 로그인해야 하는 상황이 생기죠</a:t>
            </a:r>
            <a:r>
              <a:rPr lang="en-US" altLang="ko-KR" dirty="0"/>
              <a:t>. </a:t>
            </a:r>
            <a:r>
              <a:rPr lang="ko-KR" altLang="en-US" dirty="0"/>
              <a:t>이로 인해 </a:t>
            </a:r>
            <a:r>
              <a:rPr lang="ko-KR" altLang="en-US" b="1" dirty="0"/>
              <a:t>수업 전 로그인에만 </a:t>
            </a:r>
            <a:r>
              <a:rPr lang="en-US" altLang="ko-KR" b="1" dirty="0"/>
              <a:t>5~10</a:t>
            </a:r>
            <a:r>
              <a:rPr lang="ko-KR" altLang="en-US" b="1" dirty="0" err="1"/>
              <a:t>분씩</a:t>
            </a:r>
            <a:r>
              <a:rPr lang="ko-KR" altLang="en-US" b="1" dirty="0"/>
              <a:t> 허비되는 일도 빈번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번째는 </a:t>
            </a:r>
            <a:r>
              <a:rPr lang="ko-KR" altLang="en-US" b="1" dirty="0"/>
              <a:t>계정 관리의 비효율성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각각의 플랫폼 계정을 개별적으로 관리하려면</a:t>
            </a:r>
            <a:r>
              <a:rPr lang="en-US" altLang="ko-KR" dirty="0"/>
              <a:t>, </a:t>
            </a:r>
            <a:r>
              <a:rPr lang="ko-KR" altLang="en-US" dirty="0"/>
              <a:t>비밀번호 분실</a:t>
            </a:r>
            <a:r>
              <a:rPr lang="en-US" altLang="ko-KR" dirty="0"/>
              <a:t>, </a:t>
            </a:r>
            <a:r>
              <a:rPr lang="ko-KR" altLang="en-US" dirty="0"/>
              <a:t>로그인 실패 등의 위험이 늘 따릅니다</a:t>
            </a:r>
            <a:r>
              <a:rPr lang="en-US" altLang="ko-KR" dirty="0"/>
              <a:t>. </a:t>
            </a:r>
            <a:r>
              <a:rPr lang="ko-KR" altLang="en-US" dirty="0"/>
              <a:t>특히 담당 교사는 수십 명의 학생 계정까지 신경 써야 하니 관리 부담이 상당합니다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ko-KR" altLang="en-US" b="1" dirty="0"/>
              <a:t>하나의 통합 계정 체계가 필요해진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세 번째는 </a:t>
            </a:r>
            <a:r>
              <a:rPr lang="ko-KR" altLang="en-US" b="1" dirty="0"/>
              <a:t>보안과 개인정보 보호 강화의 흐름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공공기관과 교육기관도 인증 절차가 계속 강화되고 있습니다</a:t>
            </a:r>
            <a:r>
              <a:rPr lang="en-US" altLang="ko-KR" dirty="0"/>
              <a:t>. </a:t>
            </a:r>
            <a:r>
              <a:rPr lang="ko-KR" altLang="en-US" dirty="0"/>
              <a:t>이 과정에서 </a:t>
            </a:r>
            <a:r>
              <a:rPr lang="ko-KR" altLang="en-US" b="1" dirty="0"/>
              <a:t>안전하고 표준화된 인증 시스템</a:t>
            </a:r>
            <a:r>
              <a:rPr lang="en-US" altLang="ko-KR" dirty="0"/>
              <a:t>, </a:t>
            </a:r>
            <a:r>
              <a:rPr lang="ko-KR" altLang="en-US" dirty="0"/>
              <a:t>즉 공공 기반의 통합 로그인 체계가 요구되고 있는 상황입니다</a:t>
            </a:r>
            <a:r>
              <a:rPr lang="en-US" altLang="ko-KR" dirty="0"/>
              <a:t>. </a:t>
            </a:r>
            <a:r>
              <a:rPr lang="ko-KR" altLang="en-US" dirty="0"/>
              <a:t>마지막으로는 </a:t>
            </a:r>
            <a:r>
              <a:rPr lang="ko-KR" altLang="en-US" b="1" dirty="0"/>
              <a:t>정부 차원의 디지털 전환 정책</a:t>
            </a:r>
            <a:r>
              <a:rPr lang="ko-KR" altLang="en-US" dirty="0"/>
              <a:t>이 추진되고 있다는 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교육 분야도 디지털 기반 수업</a:t>
            </a:r>
            <a:r>
              <a:rPr lang="en-US" altLang="ko-KR" dirty="0"/>
              <a:t>, AI </a:t>
            </a:r>
            <a:r>
              <a:rPr lang="ko-KR" altLang="en-US" dirty="0"/>
              <a:t>기반 맞춤형 학습으로 나아가기 위해 </a:t>
            </a:r>
            <a:r>
              <a:rPr lang="ko-KR" altLang="en-US" b="1" dirty="0"/>
              <a:t>통합된 사용자 인증 체계가 필요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바로 이런 배경 속에서 등장한 것이 </a:t>
            </a:r>
            <a:r>
              <a:rPr lang="en-US" altLang="ko-KR" dirty="0"/>
              <a:t>“</a:t>
            </a:r>
            <a:r>
              <a:rPr lang="ko-KR" altLang="en-US" dirty="0"/>
              <a:t>교육디지털원패스</a:t>
            </a:r>
            <a:r>
              <a:rPr lang="en-US" altLang="ko-KR" dirty="0"/>
              <a:t>”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원패스는 단지 로그인 편의만을 위한 것이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미래 교육을 위한 디지털 인프라로서</a:t>
            </a:r>
            <a:r>
              <a:rPr lang="en-US" altLang="ko-KR" b="1" dirty="0"/>
              <a:t>, </a:t>
            </a:r>
            <a:r>
              <a:rPr lang="ko-KR" altLang="en-US" b="1" dirty="0"/>
              <a:t>안정성</a:t>
            </a:r>
            <a:r>
              <a:rPr lang="en-US" altLang="ko-KR" b="1" dirty="0"/>
              <a:t>·</a:t>
            </a:r>
            <a:r>
              <a:rPr lang="ko-KR" altLang="en-US" b="1" dirty="0"/>
              <a:t>보안</a:t>
            </a:r>
            <a:r>
              <a:rPr lang="en-US" altLang="ko-KR" b="1" dirty="0"/>
              <a:t>·</a:t>
            </a:r>
            <a:r>
              <a:rPr lang="ko-KR" altLang="en-US" b="1" dirty="0"/>
              <a:t>연계성 모두를 고려한 핵심 기반 시스템</a:t>
            </a:r>
            <a:r>
              <a:rPr lang="ko-KR" altLang="en-US" dirty="0"/>
              <a:t>이라고 이해하시면 좋겠습니다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49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20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924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93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708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392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145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835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139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318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487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80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41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072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189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598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479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1537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4712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815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662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645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3635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1672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9012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803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132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8337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4279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9647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4762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488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4516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199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1503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929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6871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248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0401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9901E-EC50-4EE3-B261-F5C88F7D8D30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09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0EB30EB-7F00-C6ED-F210-085C6FC1AC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2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4AE0886-735B-FF7A-7337-4609E1E72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652DA0-F38D-1435-454B-09AFF860762A}"/>
              </a:ext>
            </a:extLst>
          </p:cNvPr>
          <p:cNvSpPr txBox="1"/>
          <p:nvPr userDrawn="1"/>
        </p:nvSpPr>
        <p:spPr>
          <a:xfrm>
            <a:off x="1105719" y="872674"/>
            <a:ext cx="16943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교실 안 디지털 수업 파트너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0E645C-3860-53C4-8A16-CA6496A01FE4}"/>
              </a:ext>
            </a:extLst>
          </p:cNvPr>
          <p:cNvSpPr txBox="1"/>
          <p:nvPr userDrawn="1"/>
        </p:nvSpPr>
        <p:spPr>
          <a:xfrm>
            <a:off x="1116139" y="1296905"/>
            <a:ext cx="1673535" cy="13067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ko-KR" altLang="en-US" sz="4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EF33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디지털</a:t>
            </a:r>
            <a:endParaRPr lang="en-US" altLang="ko-KR" sz="4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EF339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>
              <a:lnSpc>
                <a:spcPts val="5000"/>
              </a:lnSpc>
            </a:pPr>
            <a:r>
              <a:rPr lang="ko-KR" altLang="en-US" sz="48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EF33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튜터</a:t>
            </a:r>
            <a:endParaRPr lang="ko-KR" altLang="en-US" sz="4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EF339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637E8-470E-2342-8C6B-CD21280FF474}"/>
              </a:ext>
            </a:extLst>
          </p:cNvPr>
          <p:cNvSpPr txBox="1"/>
          <p:nvPr userDrawn="1"/>
        </p:nvSpPr>
        <p:spPr>
          <a:xfrm>
            <a:off x="1060036" y="2605722"/>
            <a:ext cx="178574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지역특화 공통과정 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교수학습자료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030E996-7F23-B6C7-A3DD-AD90672136B9}"/>
              </a:ext>
            </a:extLst>
          </p:cNvPr>
          <p:cNvSpPr/>
          <p:nvPr userDrawn="1"/>
        </p:nvSpPr>
        <p:spPr>
          <a:xfrm>
            <a:off x="1537494" y="3270250"/>
            <a:ext cx="787400" cy="2286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교육생용</a:t>
            </a:r>
          </a:p>
        </p:txBody>
      </p:sp>
    </p:spTree>
    <p:extLst>
      <p:ext uri="{BB962C8B-B14F-4D97-AF65-F5344CB8AC3E}">
        <p14:creationId xmlns:p14="http://schemas.microsoft.com/office/powerpoint/2010/main" val="100345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442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교수학습자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410D140-4B34-FA8F-698B-3032AA98FC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64E0BB-B214-427F-85FF-C68772B913B8}"/>
              </a:ext>
            </a:extLst>
          </p:cNvPr>
          <p:cNvSpPr txBox="1"/>
          <p:nvPr userDrawn="1"/>
        </p:nvSpPr>
        <p:spPr>
          <a:xfrm>
            <a:off x="654799" y="676910"/>
            <a:ext cx="28100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디지털튜터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지역특화 공통과정 교수학습자료</a:t>
            </a:r>
          </a:p>
        </p:txBody>
      </p:sp>
    </p:spTree>
    <p:extLst>
      <p:ext uri="{BB962C8B-B14F-4D97-AF65-F5344CB8AC3E}">
        <p14:creationId xmlns:p14="http://schemas.microsoft.com/office/powerpoint/2010/main" val="151018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차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9776F69-9D6F-4FF8-A8BB-729FF55FCD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3" name="Google Shape;212;p54">
            <a:extLst>
              <a:ext uri="{FF2B5EF4-FFF2-40B4-BE49-F238E27FC236}">
                <a16:creationId xmlns:a16="http://schemas.microsoft.com/office/drawing/2014/main" id="{33BF1305-87DB-2AB6-95E9-150F751EC88A}"/>
              </a:ext>
            </a:extLst>
          </p:cNvPr>
          <p:cNvSpPr txBox="1"/>
          <p:nvPr userDrawn="1"/>
        </p:nvSpPr>
        <p:spPr>
          <a:xfrm>
            <a:off x="5238434" y="7098469"/>
            <a:ext cx="22923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/>
                <a:sym typeface="Arial"/>
              </a:rPr>
              <a:t>‹#›</a:t>
            </a:fld>
            <a:endParaRPr sz="100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나눔스퀘어_ac" panose="020B0600000101010101" pitchFamily="50" charset="-127"/>
              <a:ea typeface="나눔스퀘어_ac" panose="020B0600000101010101" pitchFamily="50" charset="-127"/>
              <a:cs typeface="Arial"/>
              <a:sym typeface="Arial"/>
            </a:endParaRPr>
          </a:p>
        </p:txBody>
      </p:sp>
      <p:sp>
        <p:nvSpPr>
          <p:cNvPr id="6" name="Google Shape;259;p54">
            <a:extLst>
              <a:ext uri="{FF2B5EF4-FFF2-40B4-BE49-F238E27FC236}">
                <a16:creationId xmlns:a16="http://schemas.microsoft.com/office/drawing/2014/main" id="{364A8370-4792-DD8D-6273-038CAFEFF53D}"/>
              </a:ext>
            </a:extLst>
          </p:cNvPr>
          <p:cNvSpPr txBox="1"/>
          <p:nvPr userDrawn="1"/>
        </p:nvSpPr>
        <p:spPr>
          <a:xfrm>
            <a:off x="969757" y="458756"/>
            <a:ext cx="5273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  <a:cs typeface="Arial"/>
                <a:sym typeface="Arial"/>
              </a:rPr>
              <a:t>단원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  <a:cs typeface="Arial"/>
                <a:sym typeface="Arial"/>
              </a:rPr>
              <a:t>Ⅱ</a:t>
            </a:r>
            <a:endParaRPr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49737"/>
              </a:solidFill>
              <a:latin typeface="+mj-ea"/>
              <a:ea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D944C3B-EE23-4281-956E-8C076AC98EED}"/>
              </a:ext>
            </a:extLst>
          </p:cNvPr>
          <p:cNvGrpSpPr/>
          <p:nvPr userDrawn="1"/>
        </p:nvGrpSpPr>
        <p:grpSpPr>
          <a:xfrm>
            <a:off x="6897370" y="642104"/>
            <a:ext cx="1706880" cy="484748"/>
            <a:chOff x="6897370" y="642104"/>
            <a:chExt cx="1706880" cy="4847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09C9D7-6EE2-423B-BE0E-C0DB196DA763}"/>
                </a:ext>
              </a:extLst>
            </p:cNvPr>
            <p:cNvSpPr txBox="1"/>
            <p:nvPr/>
          </p:nvSpPr>
          <p:spPr>
            <a:xfrm>
              <a:off x="6897370" y="642104"/>
              <a:ext cx="161417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1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차시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4E45AF-F987-4C0D-8790-9C9A7BA2DFBD}"/>
                </a:ext>
              </a:extLst>
            </p:cNvPr>
            <p:cNvSpPr txBox="1"/>
            <p:nvPr/>
          </p:nvSpPr>
          <p:spPr>
            <a:xfrm>
              <a:off x="6897370" y="803687"/>
              <a:ext cx="1706880" cy="32316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관리 콘솔 이해 및</a:t>
              </a:r>
            </a:p>
            <a:p>
              <a:pPr lvl="0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 계정 생성 관리</a:t>
              </a:r>
            </a:p>
          </p:txBody>
        </p:sp>
      </p:grpSp>
      <p:sp>
        <p:nvSpPr>
          <p:cNvPr id="13" name="Google Shape;260;p54">
            <a:extLst>
              <a:ext uri="{FF2B5EF4-FFF2-40B4-BE49-F238E27FC236}">
                <a16:creationId xmlns:a16="http://schemas.microsoft.com/office/drawing/2014/main" id="{DD07F99D-C6F0-4D99-906E-43DFD086A040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8273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차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9776F69-9D6F-4FF8-A8BB-729FF55FCD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3" name="Google Shape;212;p54">
            <a:extLst>
              <a:ext uri="{FF2B5EF4-FFF2-40B4-BE49-F238E27FC236}">
                <a16:creationId xmlns:a16="http://schemas.microsoft.com/office/drawing/2014/main" id="{33BF1305-87DB-2AB6-95E9-150F751EC88A}"/>
              </a:ext>
            </a:extLst>
          </p:cNvPr>
          <p:cNvSpPr txBox="1"/>
          <p:nvPr userDrawn="1"/>
        </p:nvSpPr>
        <p:spPr>
          <a:xfrm>
            <a:off x="5238434" y="7098469"/>
            <a:ext cx="22923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/>
                <a:sym typeface="Arial"/>
              </a:rPr>
              <a:t>‹#›</a:t>
            </a:fld>
            <a:endParaRPr sz="100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나눔스퀘어_ac" panose="020B0600000101010101" pitchFamily="50" charset="-127"/>
              <a:ea typeface="나눔스퀘어_ac" panose="020B0600000101010101" pitchFamily="50" charset="-127"/>
              <a:cs typeface="Arial"/>
              <a:sym typeface="Arial"/>
            </a:endParaRPr>
          </a:p>
        </p:txBody>
      </p:sp>
      <p:sp>
        <p:nvSpPr>
          <p:cNvPr id="6" name="Google Shape;259;p54">
            <a:extLst>
              <a:ext uri="{FF2B5EF4-FFF2-40B4-BE49-F238E27FC236}">
                <a16:creationId xmlns:a16="http://schemas.microsoft.com/office/drawing/2014/main" id="{364A8370-4792-DD8D-6273-038CAFEFF53D}"/>
              </a:ext>
            </a:extLst>
          </p:cNvPr>
          <p:cNvSpPr txBox="1"/>
          <p:nvPr userDrawn="1"/>
        </p:nvSpPr>
        <p:spPr>
          <a:xfrm>
            <a:off x="969756" y="458756"/>
            <a:ext cx="5273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  <a:cs typeface="Arial"/>
                <a:sym typeface="Arial"/>
              </a:rPr>
              <a:t>단원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  <a:cs typeface="Arial"/>
                <a:sym typeface="Arial"/>
              </a:rPr>
              <a:t>Ⅱ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49737"/>
              </a:solidFill>
              <a:latin typeface="+mj-ea"/>
              <a:ea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D944C3B-EE23-4281-956E-8C076AC98EED}"/>
              </a:ext>
            </a:extLst>
          </p:cNvPr>
          <p:cNvGrpSpPr/>
          <p:nvPr userDrawn="1"/>
        </p:nvGrpSpPr>
        <p:grpSpPr>
          <a:xfrm>
            <a:off x="6897370" y="642104"/>
            <a:ext cx="1706880" cy="484748"/>
            <a:chOff x="6897370" y="642104"/>
            <a:chExt cx="1706880" cy="4847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09C9D7-6EE2-423B-BE0E-C0DB196DA763}"/>
                </a:ext>
              </a:extLst>
            </p:cNvPr>
            <p:cNvSpPr txBox="1"/>
            <p:nvPr/>
          </p:nvSpPr>
          <p:spPr>
            <a:xfrm>
              <a:off x="6897370" y="642104"/>
              <a:ext cx="161417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2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차시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4E45AF-F987-4C0D-8790-9C9A7BA2DFBD}"/>
                </a:ext>
              </a:extLst>
            </p:cNvPr>
            <p:cNvSpPr txBox="1"/>
            <p:nvPr/>
          </p:nvSpPr>
          <p:spPr>
            <a:xfrm>
              <a:off x="6897370" y="803687"/>
              <a:ext cx="1706880" cy="32316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계정 일괄 생성 및</a:t>
              </a:r>
            </a:p>
            <a:p>
              <a:pPr lvl="0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실무 시나리오 실습</a:t>
              </a:r>
            </a:p>
          </p:txBody>
        </p:sp>
      </p:grpSp>
      <p:sp>
        <p:nvSpPr>
          <p:cNvPr id="13" name="Google Shape;260;p54">
            <a:extLst>
              <a:ext uri="{FF2B5EF4-FFF2-40B4-BE49-F238E27FC236}">
                <a16:creationId xmlns:a16="http://schemas.microsoft.com/office/drawing/2014/main" id="{DD07F99D-C6F0-4D99-906E-43DFD086A040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altLang="en-US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lang="ko-KR" altLang="en-US" sz="800"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647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단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BAFF3AB-C3DA-0C6B-8C30-87345B6D49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3" name="Google Shape;212;p54">
            <a:extLst>
              <a:ext uri="{FF2B5EF4-FFF2-40B4-BE49-F238E27FC236}">
                <a16:creationId xmlns:a16="http://schemas.microsoft.com/office/drawing/2014/main" id="{33BF1305-87DB-2AB6-95E9-150F751EC88A}"/>
              </a:ext>
            </a:extLst>
          </p:cNvPr>
          <p:cNvSpPr txBox="1"/>
          <p:nvPr userDrawn="1"/>
        </p:nvSpPr>
        <p:spPr>
          <a:xfrm>
            <a:off x="5238434" y="7098469"/>
            <a:ext cx="22923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/>
                <a:sym typeface="Arial"/>
              </a:rPr>
              <a:t>‹#›</a:t>
            </a:fld>
            <a:endParaRPr sz="100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나눔스퀘어_ac" panose="020B0600000101010101" pitchFamily="50" charset="-127"/>
              <a:ea typeface="나눔스퀘어_ac" panose="020B0600000101010101" pitchFamily="50" charset="-127"/>
              <a:cs typeface="Arial"/>
              <a:sym typeface="Arial"/>
            </a:endParaRPr>
          </a:p>
        </p:txBody>
      </p:sp>
      <p:sp>
        <p:nvSpPr>
          <p:cNvPr id="5" name="Google Shape;260;p54">
            <a:extLst>
              <a:ext uri="{FF2B5EF4-FFF2-40B4-BE49-F238E27FC236}">
                <a16:creationId xmlns:a16="http://schemas.microsoft.com/office/drawing/2014/main" id="{24841D08-D74E-429F-B4E0-EE5A15A7B413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altLang="en-US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lang="ko-KR" altLang="en-US" sz="800"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9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60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3" r:id="rId6"/>
    <p:sldLayoutId id="2147483672" r:id="rId7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D02A906-C409-484C-A940-6BD0BFD65307}"/>
              </a:ext>
            </a:extLst>
          </p:cNvPr>
          <p:cNvGrpSpPr/>
          <p:nvPr/>
        </p:nvGrpSpPr>
        <p:grpSpPr>
          <a:xfrm>
            <a:off x="3430318" y="771074"/>
            <a:ext cx="3831177" cy="3059563"/>
            <a:chOff x="3430318" y="771074"/>
            <a:chExt cx="3831177" cy="30595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8B3899-CE69-44E4-81DF-60E3E1EA1EE2}"/>
                </a:ext>
              </a:extLst>
            </p:cNvPr>
            <p:cNvSpPr txBox="1"/>
            <p:nvPr/>
          </p:nvSpPr>
          <p:spPr>
            <a:xfrm>
              <a:off x="4344831" y="771074"/>
              <a:ext cx="2002150" cy="2180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17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세방고딕 Bold" panose="00000800000000000000" pitchFamily="2" charset="-127"/>
                  <a:ea typeface="세방고딕 Bold" panose="00000800000000000000" pitchFamily="2" charset="-127"/>
                  <a:cs typeface="+mn-cs"/>
                </a:rPr>
                <a:t>교실 안 디지털 수업 파트너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E30BE3-45A4-40F8-8196-2BA9F95E3A56}"/>
                </a:ext>
              </a:extLst>
            </p:cNvPr>
            <p:cNvSpPr txBox="1"/>
            <p:nvPr/>
          </p:nvSpPr>
          <p:spPr>
            <a:xfrm>
              <a:off x="3864732" y="2885122"/>
              <a:ext cx="2962349" cy="94551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3072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지역특화 공통과정</a:t>
              </a:r>
              <a:endParaRPr kumimoji="0" lang="en-US" altLang="ko-KR" sz="307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세방고딕 Bold" panose="00000800000000000000" pitchFamily="2" charset="-127"/>
                <a:ea typeface="세방고딕 Bold" panose="00000800000000000000" pitchFamily="2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072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세방고딕 Bold" panose="00000800000000000000" pitchFamily="2" charset="-127"/>
                  <a:ea typeface="세방고딕 Bold" panose="00000800000000000000" pitchFamily="2" charset="-127"/>
                  <a:cs typeface="+mn-cs"/>
                </a:rPr>
                <a:t>교수학습자료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F64396-FBD8-4AD4-A584-FA0F64E2EE26}"/>
                </a:ext>
              </a:extLst>
            </p:cNvPr>
            <p:cNvSpPr txBox="1"/>
            <p:nvPr/>
          </p:nvSpPr>
          <p:spPr>
            <a:xfrm>
              <a:off x="3430318" y="1608455"/>
              <a:ext cx="3831177" cy="10156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EF339"/>
                  </a:solidFill>
                  <a:effectLst/>
                  <a:uLnTx/>
                  <a:uFillTx/>
                  <a:latin typeface="세방고딕 Bold" panose="00000800000000000000" pitchFamily="2" charset="-127"/>
                  <a:ea typeface="세방고딕 Bold" panose="00000800000000000000" pitchFamily="2" charset="-127"/>
                  <a:cs typeface="+mn-cs"/>
                </a:rPr>
                <a:t>디지털튜터</a:t>
              </a:r>
              <a:endPara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EF339"/>
                </a:solidFill>
                <a:effectLst/>
                <a:uLnTx/>
                <a:uFillTx/>
                <a:latin typeface="세방고딕 Bold" panose="00000800000000000000" pitchFamily="2" charset="-127"/>
                <a:ea typeface="세방고딕 Bold" panose="00000800000000000000" pitchFamily="2" charset="-127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8B7C7A96-3019-10B0-8868-03BDB7CCAFAC}"/>
              </a:ext>
            </a:extLst>
          </p:cNvPr>
          <p:cNvGrpSpPr/>
          <p:nvPr/>
        </p:nvGrpSpPr>
        <p:grpSpPr>
          <a:xfrm>
            <a:off x="6352310" y="1322983"/>
            <a:ext cx="3486532" cy="4536400"/>
            <a:chOff x="6390410" y="1648380"/>
            <a:chExt cx="3486532" cy="45364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58B650-2BC5-5AFE-FAF9-DDA1683D84E3}"/>
                </a:ext>
              </a:extLst>
            </p:cNvPr>
            <p:cNvSpPr txBox="1"/>
            <p:nvPr/>
          </p:nvSpPr>
          <p:spPr>
            <a:xfrm>
              <a:off x="6390410" y="3414791"/>
              <a:ext cx="3486532" cy="27699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fontAlgn="base">
                <a:defRPr/>
              </a:pPr>
              <a:r>
                <a:rPr lang="ko-KR" altLang="en-US" sz="600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수업 관리</a:t>
              </a:r>
              <a:endParaRPr lang="en-US" altLang="ko-KR" sz="600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 fontAlgn="base">
                <a:defRPr/>
              </a:pPr>
              <a:r>
                <a:rPr lang="ko-KR" altLang="en-US" sz="600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소프트웨어</a:t>
              </a:r>
              <a:endParaRPr lang="en-US" altLang="ko-KR" sz="600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 fontAlgn="base">
                <a:defRPr/>
              </a:pPr>
              <a:r>
                <a:rPr lang="ko-KR" altLang="en-US" sz="600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5BFABE-3A3D-65AF-3545-5841B62B2E02}"/>
                </a:ext>
              </a:extLst>
            </p:cNvPr>
            <p:cNvSpPr txBox="1"/>
            <p:nvPr/>
          </p:nvSpPr>
          <p:spPr>
            <a:xfrm>
              <a:off x="7736132" y="1648380"/>
              <a:ext cx="795089" cy="135421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880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II</a:t>
              </a:r>
              <a:endParaRPr lang="ko-KR" altLang="en-US" sz="880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951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324ECA-40EB-F64A-86EE-4C1949312078}"/>
              </a:ext>
            </a:extLst>
          </p:cNvPr>
          <p:cNvSpPr/>
          <p:nvPr/>
        </p:nvSpPr>
        <p:spPr>
          <a:xfrm>
            <a:off x="0" y="0"/>
            <a:ext cx="10691813" cy="7559675"/>
          </a:xfrm>
          <a:prstGeom prst="rect">
            <a:avLst/>
          </a:prstGeom>
          <a:solidFill>
            <a:srgbClr val="FFF1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>
                    <a:alpha val="0"/>
                  </a:schemeClr>
                </a:solidFill>
              </a:ln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0AD500-AED9-25BF-F876-7680201B9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84643" y="592568"/>
            <a:ext cx="8322526" cy="6967107"/>
          </a:xfrm>
          <a:prstGeom prst="rect">
            <a:avLst/>
          </a:prstGeom>
        </p:spPr>
      </p:pic>
      <p:sp>
        <p:nvSpPr>
          <p:cNvPr id="6" name="Google Shape;2838;p32">
            <a:extLst>
              <a:ext uri="{FF2B5EF4-FFF2-40B4-BE49-F238E27FC236}">
                <a16:creationId xmlns:a16="http://schemas.microsoft.com/office/drawing/2014/main" id="{9AF88D5F-B446-9C37-CFA1-943ADB4A5DBD}"/>
              </a:ext>
            </a:extLst>
          </p:cNvPr>
          <p:cNvSpPr txBox="1"/>
          <p:nvPr/>
        </p:nvSpPr>
        <p:spPr>
          <a:xfrm>
            <a:off x="2930184" y="5692205"/>
            <a:ext cx="483145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II</a:t>
            </a:r>
            <a:r>
              <a:rPr lang="ko-KR" sz="3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. </a:t>
            </a:r>
            <a:r>
              <a:rPr lang="ko-KR" altLang="en-US" sz="3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62626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수업 관리 소프트웨어 활용</a:t>
            </a:r>
            <a:endParaRPr sz="1600" dirty="0">
              <a:ln>
                <a:solidFill>
                  <a:schemeClr val="tx1">
                    <a:alpha val="0"/>
                  </a:schemeClr>
                </a:solidFill>
              </a:ln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D802925-CA2D-49C4-81F1-55B003EBDD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906" y="751085"/>
            <a:ext cx="7740000" cy="463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8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2901;p33">
            <a:extLst>
              <a:ext uri="{FF2B5EF4-FFF2-40B4-BE49-F238E27FC236}">
                <a16:creationId xmlns:a16="http://schemas.microsoft.com/office/drawing/2014/main" id="{2CD9850D-0CF6-4116-8910-4E3FA7FD7890}"/>
              </a:ext>
            </a:extLst>
          </p:cNvPr>
          <p:cNvGrpSpPr/>
          <p:nvPr/>
        </p:nvGrpSpPr>
        <p:grpSpPr>
          <a:xfrm>
            <a:off x="679968" y="1279726"/>
            <a:ext cx="9425324" cy="2556005"/>
            <a:chOff x="679968" y="753191"/>
            <a:chExt cx="9425324" cy="2556005"/>
          </a:xfrm>
        </p:grpSpPr>
        <p:sp>
          <p:nvSpPr>
            <p:cNvPr id="18" name="Google Shape;2902;p33">
              <a:extLst>
                <a:ext uri="{FF2B5EF4-FFF2-40B4-BE49-F238E27FC236}">
                  <a16:creationId xmlns:a16="http://schemas.microsoft.com/office/drawing/2014/main" id="{038C3F94-BB55-47D9-9126-482FE985E9DB}"/>
                </a:ext>
              </a:extLst>
            </p:cNvPr>
            <p:cNvSpPr txBox="1"/>
            <p:nvPr/>
          </p:nvSpPr>
          <p:spPr>
            <a:xfrm>
              <a:off x="812767" y="1693369"/>
              <a:ext cx="9292525" cy="16158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180000" indent="-180000">
                <a:spcBef>
                  <a:spcPts val="400"/>
                </a:spcBef>
                <a:spcAft>
                  <a:spcPts val="600"/>
                </a:spcAft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ko-KR" altLang="en-US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학교에서 계정 관리는 왜 중요한가</a:t>
              </a:r>
              <a:r>
                <a:rPr lang="en-US" altLang="ko-KR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?</a:t>
              </a:r>
            </a:p>
            <a:p>
              <a:pPr marL="180000" indent="-180000">
                <a:spcBef>
                  <a:spcPts val="400"/>
                </a:spcBef>
                <a:spcAft>
                  <a:spcPts val="600"/>
                </a:spcAft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ko-KR" altLang="en-US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교사와 학생 계정은 어떻게 체계적으로 관리해야 하는가</a:t>
              </a:r>
              <a:r>
                <a:rPr lang="en-US" altLang="ko-KR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?</a:t>
              </a:r>
            </a:p>
            <a:p>
              <a:pPr marL="180000" indent="-180000">
                <a:spcBef>
                  <a:spcPts val="400"/>
                </a:spcBef>
                <a:spcAft>
                  <a:spcPts val="600"/>
                </a:spcAft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ko-KR" altLang="en-US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학기 초 계정 정리는 어떻게 효율적으로 수행할 수 있는가</a:t>
              </a:r>
              <a:r>
                <a:rPr lang="en-US" altLang="ko-KR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?</a:t>
              </a:r>
            </a:p>
            <a:p>
              <a:pPr marL="180000" indent="-180000">
                <a:spcBef>
                  <a:spcPts val="400"/>
                </a:spcBef>
                <a:spcAft>
                  <a:spcPts val="600"/>
                </a:spcAft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ko-KR" altLang="en-US" sz="2000" spc="-50" dirty="0" err="1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디지털튜터는</a:t>
              </a:r>
              <a:r>
                <a:rPr lang="ko-KR" altLang="en-US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계정 관리 과정에서 어떤 역할을 해야 하는가</a:t>
              </a:r>
              <a:r>
                <a:rPr lang="en-US" altLang="ko-KR" sz="2000" spc="-5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?</a:t>
              </a:r>
            </a:p>
          </p:txBody>
        </p:sp>
        <p:grpSp>
          <p:nvGrpSpPr>
            <p:cNvPr id="19" name="Google Shape;2903;p33">
              <a:extLst>
                <a:ext uri="{FF2B5EF4-FFF2-40B4-BE49-F238E27FC236}">
                  <a16:creationId xmlns:a16="http://schemas.microsoft.com/office/drawing/2014/main" id="{CDBF8AD0-7F41-4D96-A965-5D5F69F95B59}"/>
                </a:ext>
              </a:extLst>
            </p:cNvPr>
            <p:cNvGrpSpPr/>
            <p:nvPr/>
          </p:nvGrpSpPr>
          <p:grpSpPr>
            <a:xfrm>
              <a:off x="679968" y="753191"/>
              <a:ext cx="4576234" cy="674005"/>
              <a:chOff x="679968" y="753191"/>
              <a:chExt cx="4576234" cy="674005"/>
            </a:xfrm>
          </p:grpSpPr>
          <p:sp>
            <p:nvSpPr>
              <p:cNvPr id="20" name="Google Shape;2904;p33">
                <a:extLst>
                  <a:ext uri="{FF2B5EF4-FFF2-40B4-BE49-F238E27FC236}">
                    <a16:creationId xmlns:a16="http://schemas.microsoft.com/office/drawing/2014/main" id="{79A1A96C-D5BF-4C3D-987D-B12EFB960426}"/>
                  </a:ext>
                </a:extLst>
              </p:cNvPr>
              <p:cNvSpPr/>
              <p:nvPr/>
            </p:nvSpPr>
            <p:spPr>
              <a:xfrm>
                <a:off x="743911" y="889146"/>
                <a:ext cx="4512291" cy="538050"/>
              </a:xfrm>
              <a:prstGeom prst="roundRect">
                <a:avLst>
                  <a:gd name="adj" fmla="val 50000"/>
                </a:avLst>
              </a:prstGeom>
              <a:solidFill>
                <a:srgbClr val="F49737"/>
              </a:solidFill>
              <a:ln>
                <a:noFill/>
              </a:ln>
            </p:spPr>
            <p:txBody>
              <a:bodyPr wrap="square" lIns="359999" tIns="0" rIns="0" bIns="0" anchor="ctr" anchorCtr="0">
                <a:noAutofit/>
              </a:bodyPr>
              <a:lstStyle/>
              <a:p>
                <a:pPr>
                  <a:defRPr/>
                </a:pPr>
                <a:r>
                  <a:rPr lang="ko-KR" altLang="en-US" sz="2400" dirty="0">
                    <a:ln w="9525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sym typeface="Arial"/>
                  </a:rPr>
                  <a:t>단원 학습을 위한 핵심 질문</a:t>
                </a:r>
                <a:endParaRPr sz="240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  <p:pic>
            <p:nvPicPr>
              <p:cNvPr id="21" name="Google Shape;2905;p33">
                <a:extLst>
                  <a:ext uri="{FF2B5EF4-FFF2-40B4-BE49-F238E27FC236}">
                    <a16:creationId xmlns:a16="http://schemas.microsoft.com/office/drawing/2014/main" id="{D3AF10CF-2F78-442B-BB88-8CD0B3A9F061}"/>
                  </a:ext>
                </a:extLst>
              </p:cNvPr>
              <p:cNvPicPr/>
              <p:nvPr/>
            </p:nvPicPr>
            <p:blipFill rotWithShape="1">
              <a:blip r:embed="rId3">
                <a:alphaModFix/>
              </a:blip>
              <a:srcRect/>
              <a:stretch>
                <a:fillRect/>
              </a:stretch>
            </p:blipFill>
            <p:spPr>
              <a:xfrm>
                <a:off x="679968" y="753191"/>
                <a:ext cx="384549" cy="3753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" name="Google Shape;2908;p33">
            <a:extLst>
              <a:ext uri="{FF2B5EF4-FFF2-40B4-BE49-F238E27FC236}">
                <a16:creationId xmlns:a16="http://schemas.microsoft.com/office/drawing/2014/main" id="{48A41382-12A9-4467-8B70-CE2189918D93}"/>
              </a:ext>
            </a:extLst>
          </p:cNvPr>
          <p:cNvGrpSpPr/>
          <p:nvPr/>
        </p:nvGrpSpPr>
        <p:grpSpPr>
          <a:xfrm>
            <a:off x="679968" y="4077145"/>
            <a:ext cx="2101332" cy="649923"/>
            <a:chOff x="679968" y="753191"/>
            <a:chExt cx="2101332" cy="649923"/>
          </a:xfrm>
        </p:grpSpPr>
        <p:sp>
          <p:nvSpPr>
            <p:cNvPr id="23" name="Google Shape;2909;p33">
              <a:extLst>
                <a:ext uri="{FF2B5EF4-FFF2-40B4-BE49-F238E27FC236}">
                  <a16:creationId xmlns:a16="http://schemas.microsoft.com/office/drawing/2014/main" id="{6447508B-B4E5-4293-80AC-F0292B89C214}"/>
                </a:ext>
              </a:extLst>
            </p:cNvPr>
            <p:cNvSpPr/>
            <p:nvPr/>
          </p:nvSpPr>
          <p:spPr>
            <a:xfrm>
              <a:off x="743912" y="889146"/>
              <a:ext cx="2037388" cy="513968"/>
            </a:xfrm>
            <a:prstGeom prst="roundRect">
              <a:avLst>
                <a:gd name="adj" fmla="val 50000"/>
              </a:avLst>
            </a:prstGeom>
            <a:solidFill>
              <a:srgbClr val="F49737"/>
            </a:solidFill>
            <a:ln>
              <a:noFill/>
            </a:ln>
          </p:spPr>
          <p:txBody>
            <a:bodyPr wrap="square" lIns="288000" tIns="0" rIns="0" bIns="0" anchor="ctr" anchorCtr="0">
              <a:noAutofit/>
            </a:bodyPr>
            <a:lstStyle/>
            <a:p>
              <a:pPr lvl="0">
                <a:defRPr/>
              </a:pPr>
              <a:r>
                <a:rPr lang="ko-KR" altLang="en-US" sz="240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sym typeface="Arial"/>
                </a:rPr>
                <a:t>단원 목표</a:t>
              </a:r>
              <a:endParaRPr sz="2400" dirty="0">
                <a:ln w="9525">
                  <a:solidFill>
                    <a:schemeClr val="tx1">
                      <a:alpha val="0"/>
                    </a:schemeClr>
                  </a:solidFill>
                </a:ln>
                <a:solidFill>
                  <a:schemeClr val="lt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pic>
          <p:nvPicPr>
            <p:cNvPr id="24" name="Google Shape;2910;p33">
              <a:extLst>
                <a:ext uri="{FF2B5EF4-FFF2-40B4-BE49-F238E27FC236}">
                  <a16:creationId xmlns:a16="http://schemas.microsoft.com/office/drawing/2014/main" id="{C0F139E2-E368-4CDE-9AB6-5910A66C4E8A}"/>
                </a:ext>
              </a:extLst>
            </p:cNvPr>
            <p:cNvPicPr/>
            <p:nvPr/>
          </p:nvPicPr>
          <p:blipFill rotWithShape="1">
            <a:blip r:embed="rId3">
              <a:alphaModFix/>
            </a:blip>
            <a:srcRect/>
            <a:stretch>
              <a:fillRect/>
            </a:stretch>
          </p:blipFill>
          <p:spPr>
            <a:xfrm>
              <a:off x="679968" y="753191"/>
              <a:ext cx="384549" cy="3753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907;p33">
            <a:extLst>
              <a:ext uri="{FF2B5EF4-FFF2-40B4-BE49-F238E27FC236}">
                <a16:creationId xmlns:a16="http://schemas.microsoft.com/office/drawing/2014/main" id="{40DA1337-7266-46CF-B991-79B548EEFDA0}"/>
              </a:ext>
            </a:extLst>
          </p:cNvPr>
          <p:cNvSpPr txBox="1"/>
          <p:nvPr/>
        </p:nvSpPr>
        <p:spPr>
          <a:xfrm>
            <a:off x="3000056" y="4274223"/>
            <a:ext cx="7105236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288000" lvl="0" indent="-288000" fontAlgn="base">
              <a:spcBef>
                <a:spcPts val="2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크롬 관리 콘솔을 이해하고 교사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·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학생 계정을 생성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·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관리하며 계정 생성 원칙과 대량 관리 방법을 적용하여 </a:t>
            </a:r>
            <a:r>
              <a:rPr lang="ko-KR" altLang="en-US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디지털튜터로서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수업 지원 역할을 수행할 수 있다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6106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903;p33">
            <a:extLst>
              <a:ext uri="{FF2B5EF4-FFF2-40B4-BE49-F238E27FC236}">
                <a16:creationId xmlns:a16="http://schemas.microsoft.com/office/drawing/2014/main" id="{402C796B-0E06-486F-8CD2-6B82F0908A9D}"/>
              </a:ext>
            </a:extLst>
          </p:cNvPr>
          <p:cNvGrpSpPr/>
          <p:nvPr/>
        </p:nvGrpSpPr>
        <p:grpSpPr>
          <a:xfrm>
            <a:off x="679968" y="1279726"/>
            <a:ext cx="2101543" cy="674005"/>
            <a:chOff x="679968" y="753191"/>
            <a:chExt cx="2101543" cy="674005"/>
          </a:xfrm>
        </p:grpSpPr>
        <p:sp>
          <p:nvSpPr>
            <p:cNvPr id="3" name="Google Shape;2904;p33">
              <a:extLst>
                <a:ext uri="{FF2B5EF4-FFF2-40B4-BE49-F238E27FC236}">
                  <a16:creationId xmlns:a16="http://schemas.microsoft.com/office/drawing/2014/main" id="{E25E00C8-5DC6-4AB1-A4C9-AA25CEC6222F}"/>
                </a:ext>
              </a:extLst>
            </p:cNvPr>
            <p:cNvSpPr/>
            <p:nvPr/>
          </p:nvSpPr>
          <p:spPr>
            <a:xfrm>
              <a:off x="743911" y="889146"/>
              <a:ext cx="2037600" cy="538050"/>
            </a:xfrm>
            <a:prstGeom prst="roundRect">
              <a:avLst>
                <a:gd name="adj" fmla="val 50000"/>
              </a:avLst>
            </a:prstGeom>
            <a:solidFill>
              <a:srgbClr val="F49737"/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altLang="ko-KR" sz="240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sym typeface="Arial"/>
                </a:rPr>
                <a:t>1</a:t>
              </a:r>
              <a:r>
                <a:rPr lang="ko-KR" altLang="en-US" sz="240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sym typeface="Arial"/>
                </a:rPr>
                <a:t>차시</a:t>
              </a:r>
            </a:p>
          </p:txBody>
        </p:sp>
        <p:pic>
          <p:nvPicPr>
            <p:cNvPr id="4" name="Google Shape;2905;p33">
              <a:extLst>
                <a:ext uri="{FF2B5EF4-FFF2-40B4-BE49-F238E27FC236}">
                  <a16:creationId xmlns:a16="http://schemas.microsoft.com/office/drawing/2014/main" id="{5F953AD3-16F1-4152-AE90-D2DF7E46CA30}"/>
                </a:ext>
              </a:extLst>
            </p:cNvPr>
            <p:cNvPicPr/>
            <p:nvPr/>
          </p:nvPicPr>
          <p:blipFill rotWithShape="1">
            <a:blip r:embed="rId2">
              <a:alphaModFix/>
            </a:blip>
            <a:srcRect/>
            <a:stretch>
              <a:fillRect/>
            </a:stretch>
          </p:blipFill>
          <p:spPr>
            <a:xfrm>
              <a:off x="679968" y="753191"/>
              <a:ext cx="384549" cy="3753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2906;p33">
            <a:extLst>
              <a:ext uri="{FF2B5EF4-FFF2-40B4-BE49-F238E27FC236}">
                <a16:creationId xmlns:a16="http://schemas.microsoft.com/office/drawing/2014/main" id="{4ADB39DD-6F00-4F8D-ADF4-E411231A6E83}"/>
              </a:ext>
            </a:extLst>
          </p:cNvPr>
          <p:cNvGrpSpPr/>
          <p:nvPr/>
        </p:nvGrpSpPr>
        <p:grpSpPr>
          <a:xfrm>
            <a:off x="679968" y="4077145"/>
            <a:ext cx="9298440" cy="1752826"/>
            <a:chOff x="679968" y="753191"/>
            <a:chExt cx="9298440" cy="1752826"/>
          </a:xfrm>
        </p:grpSpPr>
        <p:sp>
          <p:nvSpPr>
            <p:cNvPr id="6" name="Google Shape;2907;p33">
              <a:extLst>
                <a:ext uri="{FF2B5EF4-FFF2-40B4-BE49-F238E27FC236}">
                  <a16:creationId xmlns:a16="http://schemas.microsoft.com/office/drawing/2014/main" id="{5BEEFBF5-2884-40BF-868F-E9964435F070}"/>
                </a:ext>
              </a:extLst>
            </p:cNvPr>
            <p:cNvSpPr txBox="1"/>
            <p:nvPr/>
          </p:nvSpPr>
          <p:spPr>
            <a:xfrm rot="10800000" flipV="1">
              <a:off x="3000056" y="926097"/>
              <a:ext cx="6978352" cy="1579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en-US"/>
              </a:defPPr>
              <a:lvl1pPr>
                <a:spcAft>
                  <a:spcPts val="400"/>
                </a:spcAft>
                <a:defRPr sz="240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latin typeface="세방고딕 Regular" panose="00000500000000000000" pitchFamily="2" charset="-127"/>
                  <a:ea typeface="세방고딕 Regular" panose="00000500000000000000" pitchFamily="2" charset="-127"/>
                </a:defRPr>
              </a:lvl1pPr>
            </a:lstStyle>
            <a:p>
              <a:pPr marL="360000" indent="-360000">
                <a:spcAft>
                  <a:spcPts val="800"/>
                </a:spcAft>
                <a:buFont typeface="+mj-lt"/>
                <a:buAutoNum type="arabicPeriod"/>
              </a:pPr>
              <a:r>
                <a:rPr lang="ko-KR" altLang="en-US" dirty="0"/>
                <a:t>관리 콘솔의 구조를 이해하고 개별 사용자 계정을 생성할 수 있다</a:t>
              </a:r>
              <a:r>
                <a:rPr lang="en-US" altLang="ko-KR" dirty="0"/>
                <a:t>. </a:t>
              </a:r>
            </a:p>
            <a:p>
              <a:pPr marL="360000" indent="-360000">
                <a:spcAft>
                  <a:spcPts val="800"/>
                </a:spcAft>
                <a:buFont typeface="+mj-lt"/>
                <a:buAutoNum type="arabicPeriod"/>
              </a:pPr>
              <a:r>
                <a:rPr lang="ko-KR" altLang="en-US" dirty="0"/>
                <a:t>조직 단위</a:t>
              </a:r>
              <a:r>
                <a:rPr lang="en-US" altLang="ko-KR" dirty="0"/>
                <a:t>(OU)</a:t>
              </a:r>
              <a:r>
                <a:rPr lang="ko-KR" altLang="en-US" dirty="0"/>
                <a:t>를 설정하고 사용자 계정을 관리할 수 있다</a:t>
              </a:r>
              <a:r>
                <a:rPr lang="en-US" altLang="ko-KR" dirty="0"/>
                <a:t>. </a:t>
              </a:r>
            </a:p>
          </p:txBody>
        </p:sp>
        <p:grpSp>
          <p:nvGrpSpPr>
            <p:cNvPr id="7" name="Google Shape;2908;p33">
              <a:extLst>
                <a:ext uri="{FF2B5EF4-FFF2-40B4-BE49-F238E27FC236}">
                  <a16:creationId xmlns:a16="http://schemas.microsoft.com/office/drawing/2014/main" id="{F3F90A84-1811-47F8-BB19-B1B3900E6F91}"/>
                </a:ext>
              </a:extLst>
            </p:cNvPr>
            <p:cNvGrpSpPr/>
            <p:nvPr/>
          </p:nvGrpSpPr>
          <p:grpSpPr>
            <a:xfrm>
              <a:off x="679968" y="753191"/>
              <a:ext cx="2101332" cy="649923"/>
              <a:chOff x="679968" y="753191"/>
              <a:chExt cx="2101332" cy="649923"/>
            </a:xfrm>
          </p:grpSpPr>
          <p:sp>
            <p:nvSpPr>
              <p:cNvPr id="8" name="Google Shape;2909;p33">
                <a:extLst>
                  <a:ext uri="{FF2B5EF4-FFF2-40B4-BE49-F238E27FC236}">
                    <a16:creationId xmlns:a16="http://schemas.microsoft.com/office/drawing/2014/main" id="{18C1CC56-AF66-4EF5-8867-FA97BDB54F1C}"/>
                  </a:ext>
                </a:extLst>
              </p:cNvPr>
              <p:cNvSpPr/>
              <p:nvPr/>
            </p:nvSpPr>
            <p:spPr>
              <a:xfrm>
                <a:off x="743912" y="889146"/>
                <a:ext cx="2037388" cy="513968"/>
              </a:xfrm>
              <a:prstGeom prst="roundRect">
                <a:avLst>
                  <a:gd name="adj" fmla="val 50000"/>
                </a:avLst>
              </a:prstGeom>
              <a:solidFill>
                <a:srgbClr val="F49737"/>
              </a:solidFill>
              <a:ln>
                <a:noFill/>
              </a:ln>
            </p:spPr>
            <p:txBody>
              <a:bodyPr wrap="square" lIns="288000" tIns="0" rIns="0" bIns="0" anchor="ctr" anchorCtr="0">
                <a:noAutofit/>
              </a:bodyPr>
              <a:lstStyle/>
              <a:p>
                <a:pPr>
                  <a:defRPr/>
                </a:pPr>
                <a:r>
                  <a:rPr lang="ko-KR" altLang="en-US" sz="2400" dirty="0">
                    <a:ln w="9525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sym typeface="Arial"/>
                  </a:rPr>
                  <a:t>학습 목표</a:t>
                </a:r>
              </a:p>
            </p:txBody>
          </p:sp>
          <p:pic>
            <p:nvPicPr>
              <p:cNvPr id="9" name="Google Shape;2910;p33">
                <a:extLst>
                  <a:ext uri="{FF2B5EF4-FFF2-40B4-BE49-F238E27FC236}">
                    <a16:creationId xmlns:a16="http://schemas.microsoft.com/office/drawing/2014/main" id="{C3743A45-045D-4CBD-BDF6-C0A988FF2AE6}"/>
                  </a:ext>
                </a:extLst>
              </p:cNvPr>
              <p:cNvPicPr/>
              <p:nvPr/>
            </p:nvPicPr>
            <p:blipFill rotWithShape="1">
              <a:blip r:embed="rId2">
                <a:alphaModFix/>
              </a:blip>
              <a:srcRect/>
              <a:stretch>
                <a:fillRect/>
              </a:stretch>
            </p:blipFill>
            <p:spPr>
              <a:xfrm>
                <a:off x="679968" y="753191"/>
                <a:ext cx="384549" cy="3753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" name="Google Shape;2902;p33">
            <a:extLst>
              <a:ext uri="{FF2B5EF4-FFF2-40B4-BE49-F238E27FC236}">
                <a16:creationId xmlns:a16="http://schemas.microsoft.com/office/drawing/2014/main" id="{35FD351A-3ED6-40FA-92AA-D9B482823EB9}"/>
              </a:ext>
            </a:extLst>
          </p:cNvPr>
          <p:cNvSpPr txBox="1"/>
          <p:nvPr/>
        </p:nvSpPr>
        <p:spPr>
          <a:xfrm>
            <a:off x="812767" y="2175081"/>
            <a:ext cx="9055133" cy="1354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lvl="0">
              <a:buSzPct val="90000"/>
              <a:defRPr/>
            </a:pPr>
            <a:r>
              <a:rPr lang="ko-KR" altLang="en-US" sz="44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관리 콘솔 이해 및 </a:t>
            </a:r>
          </a:p>
          <a:p>
            <a:pPr lvl="0">
              <a:buSzPct val="90000"/>
              <a:defRPr/>
            </a:pPr>
            <a:r>
              <a:rPr lang="ko-KR" altLang="en-US" sz="44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사용자 계정 생성</a:t>
            </a:r>
          </a:p>
        </p:txBody>
      </p:sp>
    </p:spTree>
    <p:extLst>
      <p:ext uri="{BB962C8B-B14F-4D97-AF65-F5344CB8AC3E}">
        <p14:creationId xmlns:p14="http://schemas.microsoft.com/office/powerpoint/2010/main" val="114426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20;p34">
            <a:extLst>
              <a:ext uri="{FF2B5EF4-FFF2-40B4-BE49-F238E27FC236}">
                <a16:creationId xmlns:a16="http://schemas.microsoft.com/office/drawing/2014/main" id="{7AA2DDB6-BAB4-4F43-9E0E-B6FF2A9592AB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en-US" altLang="ko-KR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1) </a:t>
            </a: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관리 콘솔</a:t>
            </a:r>
          </a:p>
        </p:txBody>
      </p:sp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8C816EEC-0597-48C5-B9A9-0DA3F1329247}"/>
              </a:ext>
            </a:extLst>
          </p:cNvPr>
          <p:cNvSpPr txBox="1"/>
          <p:nvPr/>
        </p:nvSpPr>
        <p:spPr>
          <a:xfrm>
            <a:off x="485774" y="1414586"/>
            <a:ext cx="40124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) Google Workspace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관리 콘솔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B1B62A0-0081-4EEA-BD93-6403C9BC80A5}"/>
              </a:ext>
            </a:extLst>
          </p:cNvPr>
          <p:cNvGrpSpPr/>
          <p:nvPr/>
        </p:nvGrpSpPr>
        <p:grpSpPr>
          <a:xfrm>
            <a:off x="485774" y="1825016"/>
            <a:ext cx="9720263" cy="707886"/>
            <a:chOff x="485774" y="1825016"/>
            <a:chExt cx="9720263" cy="707886"/>
          </a:xfrm>
        </p:grpSpPr>
        <p:sp>
          <p:nvSpPr>
            <p:cNvPr id="6" name="Google Shape;2922;p34">
              <a:extLst>
                <a:ext uri="{FF2B5EF4-FFF2-40B4-BE49-F238E27FC236}">
                  <a16:creationId xmlns:a16="http://schemas.microsoft.com/office/drawing/2014/main" id="{773CEE9C-45C8-41ED-A1C7-9C19926C97ED}"/>
                </a:ext>
              </a:extLst>
            </p:cNvPr>
            <p:cNvSpPr txBox="1"/>
            <p:nvPr/>
          </p:nvSpPr>
          <p:spPr>
            <a:xfrm>
              <a:off x="485774" y="1825016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정의</a:t>
              </a:r>
            </a:p>
          </p:txBody>
        </p:sp>
        <p:sp>
          <p:nvSpPr>
            <p:cNvPr id="7" name="Google Shape;2922;p34">
              <a:extLst>
                <a:ext uri="{FF2B5EF4-FFF2-40B4-BE49-F238E27FC236}">
                  <a16:creationId xmlns:a16="http://schemas.microsoft.com/office/drawing/2014/main" id="{274D42AC-D4A0-4B38-BE3D-5A8F4E47BEB0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학교나 조직의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Google Workspace for Education 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환경을 중앙에서 관리하는 통제 본부입니다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6423A44-D9A5-4182-BB90-97EFD6FEA8FD}"/>
              </a:ext>
            </a:extLst>
          </p:cNvPr>
          <p:cNvGrpSpPr/>
          <p:nvPr/>
        </p:nvGrpSpPr>
        <p:grpSpPr>
          <a:xfrm>
            <a:off x="485774" y="2832260"/>
            <a:ext cx="9720263" cy="2812437"/>
            <a:chOff x="485774" y="2832260"/>
            <a:chExt cx="9720263" cy="2812437"/>
          </a:xfrm>
        </p:grpSpPr>
        <p:sp>
          <p:nvSpPr>
            <p:cNvPr id="17" name="Google Shape;2921;p34">
              <a:extLst>
                <a:ext uri="{FF2B5EF4-FFF2-40B4-BE49-F238E27FC236}">
                  <a16:creationId xmlns:a16="http://schemas.microsoft.com/office/drawing/2014/main" id="{58C7D222-FFEA-4F13-8899-207F2B61C08F}"/>
                </a:ext>
              </a:extLst>
            </p:cNvPr>
            <p:cNvSpPr txBox="1"/>
            <p:nvPr/>
          </p:nvSpPr>
          <p:spPr>
            <a:xfrm>
              <a:off x="485774" y="2832260"/>
              <a:ext cx="40124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90"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Arial"/>
                  <a:sym typeface="Arial"/>
                </a:rPr>
                <a:t>나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Arial"/>
                  <a:sym typeface="Arial"/>
                </a:rPr>
                <a:t>) </a:t>
              </a:r>
              <a:r>
                <a:rPr lang="ko-KR" altLang="en-US" sz="20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Arial"/>
                  <a:sym typeface="Arial"/>
                </a:rPr>
                <a:t>디지털튜터와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Arial"/>
                  <a:sym typeface="Arial"/>
                </a:rPr>
                <a:t> 관리 콘솔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1E7F5B8-F78C-4C3B-B8A7-962B3B1DD578}"/>
                </a:ext>
              </a:extLst>
            </p:cNvPr>
            <p:cNvGrpSpPr/>
            <p:nvPr/>
          </p:nvGrpSpPr>
          <p:grpSpPr>
            <a:xfrm>
              <a:off x="485774" y="3242690"/>
              <a:ext cx="9720263" cy="2402007"/>
              <a:chOff x="485774" y="3242690"/>
              <a:chExt cx="9720263" cy="2402007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6267CB6E-19A8-4FBD-9F62-8666BC39A24E}"/>
                  </a:ext>
                </a:extLst>
              </p:cNvPr>
              <p:cNvGrpSpPr/>
              <p:nvPr/>
            </p:nvGrpSpPr>
            <p:grpSpPr>
              <a:xfrm>
                <a:off x="485774" y="3242690"/>
                <a:ext cx="9720263" cy="707886"/>
                <a:chOff x="485774" y="1825016"/>
                <a:chExt cx="9720263" cy="707886"/>
              </a:xfrm>
            </p:grpSpPr>
            <p:sp>
              <p:nvSpPr>
                <p:cNvPr id="19" name="Google Shape;2922;p34">
                  <a:extLst>
                    <a:ext uri="{FF2B5EF4-FFF2-40B4-BE49-F238E27FC236}">
                      <a16:creationId xmlns:a16="http://schemas.microsoft.com/office/drawing/2014/main" id="{8292B5CF-7F94-46D8-9A44-CE96DCAF1F8F}"/>
                    </a:ext>
                  </a:extLst>
                </p:cNvPr>
                <p:cNvSpPr txBox="1"/>
                <p:nvPr/>
              </p:nvSpPr>
              <p:spPr>
                <a:xfrm>
                  <a:off x="485774" y="1825016"/>
                  <a:ext cx="9720263" cy="3539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216000" lvl="0" indent="-216000">
                    <a:spcAft>
                      <a:spcPts val="600"/>
                    </a:spcAft>
                    <a:buClr>
                      <a:srgbClr val="3F3F3F"/>
                    </a:buClr>
                    <a:buSzPct val="105000"/>
                    <a:buBlip>
                      <a:blip r:embed="rId3"/>
                    </a:buBlip>
                  </a:pPr>
                  <a:r>
                    <a:rPr lang="ko-KR" altLang="en-US" dirty="0">
                      <a:ln>
                        <a:solidFill>
                          <a:srgbClr val="00B9AD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</a:rPr>
                    <a:t>수업 지원의 시작</a:t>
                  </a:r>
                </a:p>
              </p:txBody>
            </p:sp>
            <p:sp>
              <p:nvSpPr>
                <p:cNvPr id="20" name="Google Shape;2922;p34">
                  <a:extLst>
                    <a:ext uri="{FF2B5EF4-FFF2-40B4-BE49-F238E27FC236}">
                      <a16:creationId xmlns:a16="http://schemas.microsoft.com/office/drawing/2014/main" id="{FB20103B-C4D8-4BC1-A662-D0A224D525F5}"/>
                    </a:ext>
                  </a:extLst>
                </p:cNvPr>
                <p:cNvSpPr txBox="1"/>
                <p:nvPr/>
              </p:nvSpPr>
              <p:spPr>
                <a:xfrm>
                  <a:off x="485774" y="2178959"/>
                  <a:ext cx="9720263" cy="3539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216000" indent="-216000">
                    <a:spcAft>
                      <a:spcPts val="600"/>
                    </a:spcAft>
                    <a:buClr>
                      <a:srgbClr val="3F3F3F"/>
                    </a:buClr>
                    <a:buSzPct val="90000"/>
                    <a:buBlip>
                      <a:blip r:embed="rId4"/>
                    </a:buBlip>
                  </a:pPr>
                  <a:r>
                    <a:rPr lang="ko-KR" altLang="en-US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학교의 모든 구글 계정은 관리 콘솔에서 생성하고 관리 됩니다</a:t>
                  </a:r>
                  <a:r>
                    <a:rPr lang="en-US" altLang="ko-KR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.</a:t>
                  </a: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EFCF914D-6863-4F8C-8CE3-D51C2F2E4207}"/>
                  </a:ext>
                </a:extLst>
              </p:cNvPr>
              <p:cNvGrpSpPr/>
              <p:nvPr/>
            </p:nvGrpSpPr>
            <p:grpSpPr>
              <a:xfrm>
                <a:off x="485774" y="4089750"/>
                <a:ext cx="9720263" cy="707886"/>
                <a:chOff x="485774" y="1825016"/>
                <a:chExt cx="9720263" cy="707886"/>
              </a:xfrm>
            </p:grpSpPr>
            <p:sp>
              <p:nvSpPr>
                <p:cNvPr id="22" name="Google Shape;2922;p34">
                  <a:extLst>
                    <a:ext uri="{FF2B5EF4-FFF2-40B4-BE49-F238E27FC236}">
                      <a16:creationId xmlns:a16="http://schemas.microsoft.com/office/drawing/2014/main" id="{A00EB154-7380-4DA2-8E79-38F50FEB4DFC}"/>
                    </a:ext>
                  </a:extLst>
                </p:cNvPr>
                <p:cNvSpPr txBox="1"/>
                <p:nvPr/>
              </p:nvSpPr>
              <p:spPr>
                <a:xfrm>
                  <a:off x="485774" y="1825016"/>
                  <a:ext cx="9720263" cy="3539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216000" lvl="0" indent="-216000">
                    <a:spcAft>
                      <a:spcPts val="600"/>
                    </a:spcAft>
                    <a:buClr>
                      <a:srgbClr val="3F3F3F"/>
                    </a:buClr>
                    <a:buSzPct val="105000"/>
                    <a:buBlip>
                      <a:blip r:embed="rId3"/>
                    </a:buBlip>
                  </a:pPr>
                  <a:r>
                    <a:rPr lang="ko-KR" altLang="en-US" dirty="0">
                      <a:ln>
                        <a:solidFill>
                          <a:srgbClr val="00B9AD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</a:rPr>
                    <a:t>현장 문제 해결 도구</a:t>
                  </a:r>
                </a:p>
              </p:txBody>
            </p:sp>
            <p:sp>
              <p:nvSpPr>
                <p:cNvPr id="23" name="Google Shape;2922;p34">
                  <a:extLst>
                    <a:ext uri="{FF2B5EF4-FFF2-40B4-BE49-F238E27FC236}">
                      <a16:creationId xmlns:a16="http://schemas.microsoft.com/office/drawing/2014/main" id="{42344C18-D84E-498F-9917-AA38942B21BD}"/>
                    </a:ext>
                  </a:extLst>
                </p:cNvPr>
                <p:cNvSpPr txBox="1"/>
                <p:nvPr/>
              </p:nvSpPr>
              <p:spPr>
                <a:xfrm>
                  <a:off x="485774" y="2178959"/>
                  <a:ext cx="9720263" cy="3539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216000" indent="-216000">
                    <a:spcAft>
                      <a:spcPts val="600"/>
                    </a:spcAft>
                    <a:buClr>
                      <a:srgbClr val="3F3F3F"/>
                    </a:buClr>
                    <a:buSzPct val="90000"/>
                    <a:buBlip>
                      <a:blip r:embed="rId4"/>
                    </a:buBlip>
                  </a:pPr>
                  <a:r>
                    <a:rPr lang="ko-KR" altLang="en-US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계정 생성</a:t>
                  </a:r>
                  <a:r>
                    <a:rPr lang="en-US" altLang="ko-KR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, </a:t>
                  </a:r>
                  <a:r>
                    <a:rPr lang="ko-KR" altLang="en-US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삭제</a:t>
                  </a:r>
                  <a:r>
                    <a:rPr lang="en-US" altLang="ko-KR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, </a:t>
                  </a:r>
                  <a:r>
                    <a:rPr lang="ko-KR" altLang="en-US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비밀번호 초기화 등 수업 중 발생하는 다양한 문제를 현장에서 즉시 처리할 수 있습니다</a:t>
                  </a:r>
                  <a:r>
                    <a:rPr lang="en-US" altLang="ko-KR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.</a:t>
                  </a:r>
                </a:p>
              </p:txBody>
            </p: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DFAC739C-5CCF-47B5-984F-B020D9DF027C}"/>
                  </a:ext>
                </a:extLst>
              </p:cNvPr>
              <p:cNvGrpSpPr/>
              <p:nvPr/>
            </p:nvGrpSpPr>
            <p:grpSpPr>
              <a:xfrm>
                <a:off x="485774" y="4936811"/>
                <a:ext cx="9720263" cy="707886"/>
                <a:chOff x="485774" y="1825016"/>
                <a:chExt cx="9720263" cy="707886"/>
              </a:xfrm>
            </p:grpSpPr>
            <p:sp>
              <p:nvSpPr>
                <p:cNvPr id="25" name="Google Shape;2922;p34">
                  <a:extLst>
                    <a:ext uri="{FF2B5EF4-FFF2-40B4-BE49-F238E27FC236}">
                      <a16:creationId xmlns:a16="http://schemas.microsoft.com/office/drawing/2014/main" id="{73F1C690-C63B-44A9-A969-B45DE3048FD8}"/>
                    </a:ext>
                  </a:extLst>
                </p:cNvPr>
                <p:cNvSpPr txBox="1"/>
                <p:nvPr/>
              </p:nvSpPr>
              <p:spPr>
                <a:xfrm>
                  <a:off x="485774" y="1825016"/>
                  <a:ext cx="9720263" cy="3539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216000" lvl="0" indent="-216000">
                    <a:spcAft>
                      <a:spcPts val="600"/>
                    </a:spcAft>
                    <a:buClr>
                      <a:srgbClr val="3F3F3F"/>
                    </a:buClr>
                    <a:buSzPct val="105000"/>
                    <a:buBlip>
                      <a:blip r:embed="rId3"/>
                    </a:buBlip>
                  </a:pPr>
                  <a:r>
                    <a:rPr lang="ko-KR" altLang="en-US" dirty="0">
                      <a:ln>
                        <a:solidFill>
                          <a:srgbClr val="00B9AD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j-ea"/>
                      <a:ea typeface="+mj-ea"/>
                    </a:rPr>
                    <a:t>효율적인 계정 관리</a:t>
                  </a:r>
                </a:p>
              </p:txBody>
            </p:sp>
            <p:sp>
              <p:nvSpPr>
                <p:cNvPr id="26" name="Google Shape;2922;p34">
                  <a:extLst>
                    <a:ext uri="{FF2B5EF4-FFF2-40B4-BE49-F238E27FC236}">
                      <a16:creationId xmlns:a16="http://schemas.microsoft.com/office/drawing/2014/main" id="{B8365150-34EC-4865-9127-530E0F12F2EE}"/>
                    </a:ext>
                  </a:extLst>
                </p:cNvPr>
                <p:cNvSpPr txBox="1"/>
                <p:nvPr/>
              </p:nvSpPr>
              <p:spPr>
                <a:xfrm>
                  <a:off x="485774" y="2178959"/>
                  <a:ext cx="9720263" cy="3539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216000" indent="-216000">
                    <a:spcAft>
                      <a:spcPts val="600"/>
                    </a:spcAft>
                    <a:buClr>
                      <a:srgbClr val="3F3F3F"/>
                    </a:buClr>
                    <a:buSzPct val="90000"/>
                    <a:buBlip>
                      <a:blip r:embed="rId4"/>
                    </a:buBlip>
                  </a:pPr>
                  <a:r>
                    <a:rPr lang="ko-KR" altLang="en-US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여러 계정을 한 곳에서 관리할 수 있어 업무를 빠르고 체계적으로 처리할 수 있습니다</a:t>
                  </a:r>
                  <a:r>
                    <a:rPr lang="en-US" altLang="ko-KR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.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5997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8C816EEC-0597-48C5-B9A9-0DA3F1329247}"/>
              </a:ext>
            </a:extLst>
          </p:cNvPr>
          <p:cNvSpPr txBox="1"/>
          <p:nvPr/>
        </p:nvSpPr>
        <p:spPr>
          <a:xfrm>
            <a:off x="485774" y="1414586"/>
            <a:ext cx="40124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주요 용어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8A202C5-8FD1-43C7-A755-BD235F0F3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54046"/>
              </p:ext>
            </p:extLst>
          </p:nvPr>
        </p:nvGraphicFramePr>
        <p:xfrm>
          <a:off x="485905" y="1825013"/>
          <a:ext cx="9720133" cy="497901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57295">
                  <a:extLst>
                    <a:ext uri="{9D8B030D-6E8A-4147-A177-3AD203B41FA5}">
                      <a16:colId xmlns:a16="http://schemas.microsoft.com/office/drawing/2014/main" val="1907659668"/>
                    </a:ext>
                  </a:extLst>
                </a:gridCol>
                <a:gridCol w="7462838">
                  <a:extLst>
                    <a:ext uri="{9D8B030D-6E8A-4147-A177-3AD203B41FA5}">
                      <a16:colId xmlns:a16="http://schemas.microsoft.com/office/drawing/2014/main" val="2612090769"/>
                    </a:ext>
                  </a:extLst>
                </a:gridCol>
              </a:tblGrid>
              <a:tr h="431451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용어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1800" b="1" kern="1200" spc="-30" dirty="0" err="1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연결</a:t>
                      </a:r>
                      <a:r>
                        <a:rPr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sz="1800" b="1" kern="1200" spc="-30" dirty="0" err="1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방법</a:t>
                      </a:r>
                      <a:endParaRPr sz="1800" b="1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51342"/>
                  </a:ext>
                </a:extLst>
              </a:tr>
              <a:tr h="1515854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관리콘솔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구글 워크스페이스의 모든 설정을 관리하는 웹 기반 관리 도구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712571"/>
                  </a:ext>
                </a:extLst>
              </a:tr>
              <a:tr h="1515854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OU(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조직 단위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사용자를 묶어 관리하는 폴더 개념으로 학년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학급별 정책 분리 가능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568"/>
                  </a:ext>
                </a:extLst>
              </a:tr>
              <a:tr h="1515854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단계 인증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로그인 시 비밀번호 외에 추가 인증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문자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앱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코드 등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을 요구하여 계정 보안을 강화하는 방법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682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56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20;p34">
            <a:extLst>
              <a:ext uri="{FF2B5EF4-FFF2-40B4-BE49-F238E27FC236}">
                <a16:creationId xmlns:a16="http://schemas.microsoft.com/office/drawing/2014/main" id="{558F9AD6-F82C-4FFD-9A84-391200D687B8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en-US" altLang="ko-KR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2) </a:t>
            </a: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관리 콘솔 접속하기</a:t>
            </a:r>
          </a:p>
        </p:txBody>
      </p:sp>
      <p:sp>
        <p:nvSpPr>
          <p:cNvPr id="7" name="Google Shape;2921;p34">
            <a:extLst>
              <a:ext uri="{FF2B5EF4-FFF2-40B4-BE49-F238E27FC236}">
                <a16:creationId xmlns:a16="http://schemas.microsoft.com/office/drawing/2014/main" id="{5BB7FBDE-1EA8-496A-934A-BB207307F0FB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접속 주소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: admin.google.com 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B8FC77F-88BB-444A-AA9D-87AB628CC81F}"/>
              </a:ext>
            </a:extLst>
          </p:cNvPr>
          <p:cNvGrpSpPr/>
          <p:nvPr/>
        </p:nvGrpSpPr>
        <p:grpSpPr>
          <a:xfrm>
            <a:off x="485774" y="1924946"/>
            <a:ext cx="9720263" cy="764373"/>
            <a:chOff x="485774" y="1414583"/>
            <a:chExt cx="9720263" cy="764373"/>
          </a:xfrm>
        </p:grpSpPr>
        <p:sp>
          <p:nvSpPr>
            <p:cNvPr id="14" name="Google Shape;2921;p34">
              <a:extLst>
                <a:ext uri="{FF2B5EF4-FFF2-40B4-BE49-F238E27FC236}">
                  <a16:creationId xmlns:a16="http://schemas.microsoft.com/office/drawing/2014/main" id="{3FBE895A-32B2-4557-8F3D-D4F9B0A21AD7}"/>
                </a:ext>
              </a:extLst>
            </p:cNvPr>
            <p:cNvSpPr txBox="1"/>
            <p:nvPr/>
          </p:nvSpPr>
          <p:spPr>
            <a:xfrm>
              <a:off x="485774" y="1414583"/>
              <a:ext cx="4012483" cy="3077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buClr>
                  <a:srgbClr val="3F3F3F"/>
                </a:buClr>
                <a:buSzPts val="1890"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나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)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활동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1: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관리 콘솔 접속하기</a:t>
              </a:r>
            </a:p>
          </p:txBody>
        </p:sp>
        <p:sp>
          <p:nvSpPr>
            <p:cNvPr id="15" name="Google Shape;2922;p34">
              <a:extLst>
                <a:ext uri="{FF2B5EF4-FFF2-40B4-BE49-F238E27FC236}">
                  <a16:creationId xmlns:a16="http://schemas.microsoft.com/office/drawing/2014/main" id="{54FD0659-C333-4CBB-8405-306458AAAA36}"/>
                </a:ext>
              </a:extLst>
            </p:cNvPr>
            <p:cNvSpPr txBox="1"/>
            <p:nvPr/>
          </p:nvSpPr>
          <p:spPr>
            <a:xfrm>
              <a:off x="485774" y="1825013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3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① 크롬 브라우저를 실행하고 주소창에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admin.google.com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을 입력합니다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.</a:t>
              </a: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9525A41-8B54-4562-AA7C-8E7F6CED83F3}"/>
              </a:ext>
            </a:extLst>
          </p:cNvPr>
          <p:cNvSpPr/>
          <p:nvPr/>
        </p:nvSpPr>
        <p:spPr>
          <a:xfrm>
            <a:off x="485906" y="2735042"/>
            <a:ext cx="9720000" cy="4068983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Google Shape;2921;p34">
            <a:extLst>
              <a:ext uri="{FF2B5EF4-FFF2-40B4-BE49-F238E27FC236}">
                <a16:creationId xmlns:a16="http://schemas.microsoft.com/office/drawing/2014/main" id="{2DFC35F8-B57B-472F-9BC1-3108ED43C397}"/>
              </a:ext>
            </a:extLst>
          </p:cNvPr>
          <p:cNvSpPr txBox="1"/>
          <p:nvPr/>
        </p:nvSpPr>
        <p:spPr>
          <a:xfrm>
            <a:off x="1831351" y="2851608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1-1&gt;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관리 콘솔 접속 주소 입력 화면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2D5986-9FA0-430F-819C-3E6FA75804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7" y="3199579"/>
            <a:ext cx="9467518" cy="350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9525A41-8B54-4562-AA7C-8E7F6CED83F3}"/>
              </a:ext>
            </a:extLst>
          </p:cNvPr>
          <p:cNvSpPr/>
          <p:nvPr/>
        </p:nvSpPr>
        <p:spPr>
          <a:xfrm>
            <a:off x="485906" y="1799377"/>
            <a:ext cx="9720000" cy="5004648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Google Shape;2921;p34">
            <a:extLst>
              <a:ext uri="{FF2B5EF4-FFF2-40B4-BE49-F238E27FC236}">
                <a16:creationId xmlns:a16="http://schemas.microsoft.com/office/drawing/2014/main" id="{2DFC35F8-B57B-472F-9BC1-3108ED43C397}"/>
              </a:ext>
            </a:extLst>
          </p:cNvPr>
          <p:cNvSpPr txBox="1"/>
          <p:nvPr/>
        </p:nvSpPr>
        <p:spPr>
          <a:xfrm>
            <a:off x="1831351" y="1915943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1-2&gt;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관리자 계정 로그인 화면</a:t>
            </a:r>
          </a:p>
        </p:txBody>
      </p:sp>
      <p:sp>
        <p:nvSpPr>
          <p:cNvPr id="11" name="Google Shape;2922;p34">
            <a:extLst>
              <a:ext uri="{FF2B5EF4-FFF2-40B4-BE49-F238E27FC236}">
                <a16:creationId xmlns:a16="http://schemas.microsoft.com/office/drawing/2014/main" id="{E0FC8277-7C3A-4BAF-A908-FC19C3368FBE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학교 관리자 계정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이메일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비밀번호를 입력하고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다음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0743EA-56F6-4F40-9468-57816A612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58" y="2211572"/>
            <a:ext cx="9528296" cy="451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5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9525A41-8B54-4562-AA7C-8E7F6CED83F3}"/>
              </a:ext>
            </a:extLst>
          </p:cNvPr>
          <p:cNvSpPr/>
          <p:nvPr/>
        </p:nvSpPr>
        <p:spPr>
          <a:xfrm>
            <a:off x="485906" y="1799377"/>
            <a:ext cx="9720000" cy="5004648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Google Shape;2921;p34">
            <a:extLst>
              <a:ext uri="{FF2B5EF4-FFF2-40B4-BE49-F238E27FC236}">
                <a16:creationId xmlns:a16="http://schemas.microsoft.com/office/drawing/2014/main" id="{2DFC35F8-B57B-472F-9BC1-3108ED43C397}"/>
              </a:ext>
            </a:extLst>
          </p:cNvPr>
          <p:cNvSpPr txBox="1"/>
          <p:nvPr/>
        </p:nvSpPr>
        <p:spPr>
          <a:xfrm>
            <a:off x="1831351" y="1915943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1-3&gt;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관리 콘솔 대시보드 화면</a:t>
            </a:r>
          </a:p>
        </p:txBody>
      </p:sp>
      <p:sp>
        <p:nvSpPr>
          <p:cNvPr id="11" name="Google Shape;2922;p34">
            <a:extLst>
              <a:ext uri="{FF2B5EF4-FFF2-40B4-BE49-F238E27FC236}">
                <a16:creationId xmlns:a16="http://schemas.microsoft.com/office/drawing/2014/main" id="{E0FC8277-7C3A-4BAF-A908-FC19C3368FBE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관리 콘솔 대시보드가 정상적으로 열리는지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988602E-778E-4AD1-8649-3BA08F466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58" y="2211572"/>
            <a:ext cx="9528296" cy="451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9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1;p34">
            <a:extLst>
              <a:ext uri="{FF2B5EF4-FFF2-40B4-BE49-F238E27FC236}">
                <a16:creationId xmlns:a16="http://schemas.microsoft.com/office/drawing/2014/main" id="{13BBC059-AFA8-4118-AAAB-DBCC1F69FC1D}"/>
              </a:ext>
            </a:extLst>
          </p:cNvPr>
          <p:cNvSpPr txBox="1"/>
          <p:nvPr/>
        </p:nvSpPr>
        <p:spPr>
          <a:xfrm>
            <a:off x="485774" y="1414583"/>
            <a:ext cx="40124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점검하기</a:t>
            </a:r>
            <a:endParaRPr lang="en-US" altLang="ko-KR" sz="20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/>
              <a:sym typeface="Arial"/>
            </a:endParaRPr>
          </a:p>
        </p:txBody>
      </p:sp>
      <p:sp>
        <p:nvSpPr>
          <p:cNvPr id="8" name="Google Shape;2922;p34">
            <a:extLst>
              <a:ext uri="{FF2B5EF4-FFF2-40B4-BE49-F238E27FC236}">
                <a16:creationId xmlns:a16="http://schemas.microsoft.com/office/drawing/2014/main" id="{1A3E96AA-2306-4547-A31E-06EAA463BB8B}"/>
              </a:ext>
            </a:extLst>
          </p:cNvPr>
          <p:cNvSpPr txBox="1"/>
          <p:nvPr/>
        </p:nvSpPr>
        <p:spPr>
          <a:xfrm>
            <a:off x="485774" y="1825012"/>
            <a:ext cx="9720263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관리 콘솔 대시보드 화면이 정상적으로 열렸나요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상단에 학교 도메인 이름이 표시되고 있나요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좌측 메뉴에서 ‘사용자’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,‘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기기’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,‘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보안’ 항목이 보이나요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6745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1;p34">
            <a:extLst>
              <a:ext uri="{FF2B5EF4-FFF2-40B4-BE49-F238E27FC236}">
                <a16:creationId xmlns:a16="http://schemas.microsoft.com/office/drawing/2014/main" id="{13BBC059-AFA8-4118-AAAB-DBCC1F69FC1D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조직 단위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(OU)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?</a:t>
            </a:r>
          </a:p>
        </p:txBody>
      </p:sp>
      <p:sp>
        <p:nvSpPr>
          <p:cNvPr id="8" name="Google Shape;2922;p34">
            <a:extLst>
              <a:ext uri="{FF2B5EF4-FFF2-40B4-BE49-F238E27FC236}">
                <a16:creationId xmlns:a16="http://schemas.microsoft.com/office/drawing/2014/main" id="{1A3E96AA-2306-4547-A31E-06EAA463BB8B}"/>
              </a:ext>
            </a:extLst>
          </p:cNvPr>
          <p:cNvSpPr txBox="1"/>
          <p:nvPr/>
        </p:nvSpPr>
        <p:spPr>
          <a:xfrm>
            <a:off x="485774" y="1825012"/>
            <a:ext cx="9720263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개념</a:t>
            </a:r>
            <a:endParaRPr lang="en-US" altLang="ko-KR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68000" indent="-216000">
              <a:spcAft>
                <a:spcPts val="600"/>
              </a:spcAft>
              <a:buClr>
                <a:srgbClr val="3F3F3F"/>
              </a:buClr>
              <a:buSzPct val="90000"/>
              <a:buFont typeface="KoPub돋움체 Medium" panose="02020603020101020101" pitchFamily="18" charset="-127"/>
              <a:buChar char="-"/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계정을 묶어 정책을 다르게 적용할 수 있는 폴더 구조</a:t>
            </a:r>
          </a:p>
          <a:p>
            <a:pPr marL="468000" indent="-216000">
              <a:spcAft>
                <a:spcPts val="600"/>
              </a:spcAft>
              <a:buClr>
                <a:srgbClr val="3F3F3F"/>
              </a:buClr>
              <a:buSzPct val="90000"/>
              <a:buFont typeface="KoPub돋움체 Medium" panose="02020603020101020101" pitchFamily="18" charset="-127"/>
              <a:buChar char="-"/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최상위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 →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교직원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학생→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2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학년→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2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</a:t>
            </a:r>
          </a:p>
        </p:txBody>
      </p:sp>
      <p:sp>
        <p:nvSpPr>
          <p:cNvPr id="4" name="Google Shape;2920;p34">
            <a:extLst>
              <a:ext uri="{FF2B5EF4-FFF2-40B4-BE49-F238E27FC236}">
                <a16:creationId xmlns:a16="http://schemas.microsoft.com/office/drawing/2014/main" id="{4245CC1D-A092-4643-A98E-4219BA64FC77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en-US" altLang="ko-KR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3) </a:t>
            </a: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조직 단위</a:t>
            </a:r>
          </a:p>
        </p:txBody>
      </p:sp>
    </p:spTree>
    <p:extLst>
      <p:ext uri="{BB962C8B-B14F-4D97-AF65-F5344CB8AC3E}">
        <p14:creationId xmlns:p14="http://schemas.microsoft.com/office/powerpoint/2010/main" val="152337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1;p34">
            <a:extLst>
              <a:ext uri="{FF2B5EF4-FFF2-40B4-BE49-F238E27FC236}">
                <a16:creationId xmlns:a16="http://schemas.microsoft.com/office/drawing/2014/main" id="{13BBC059-AFA8-4118-AAAB-DBCC1F69FC1D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나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2: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조직 단위 확인하기</a:t>
            </a:r>
          </a:p>
        </p:txBody>
      </p:sp>
      <p:sp>
        <p:nvSpPr>
          <p:cNvPr id="8" name="Google Shape;2922;p34">
            <a:extLst>
              <a:ext uri="{FF2B5EF4-FFF2-40B4-BE49-F238E27FC236}">
                <a16:creationId xmlns:a16="http://schemas.microsoft.com/office/drawing/2014/main" id="{1A3E96AA-2306-4547-A31E-06EAA463BB8B}"/>
              </a:ext>
            </a:extLst>
          </p:cNvPr>
          <p:cNvSpPr txBox="1"/>
          <p:nvPr/>
        </p:nvSpPr>
        <p:spPr>
          <a:xfrm>
            <a:off x="485774" y="1825012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관리 콘솔 좌측 메뉴에서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디렉터리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조직 단위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클릭합니다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61BA0B4-66EF-48EE-8C30-75CBAD512D86}"/>
              </a:ext>
            </a:extLst>
          </p:cNvPr>
          <p:cNvSpPr/>
          <p:nvPr/>
        </p:nvSpPr>
        <p:spPr>
          <a:xfrm>
            <a:off x="485906" y="2232837"/>
            <a:ext cx="9720000" cy="4571189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B2B643EF-43BF-4BA9-9ECE-653A98C9A61E}"/>
              </a:ext>
            </a:extLst>
          </p:cNvPr>
          <p:cNvSpPr txBox="1"/>
          <p:nvPr/>
        </p:nvSpPr>
        <p:spPr>
          <a:xfrm>
            <a:off x="1831351" y="2360510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1-4&gt;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관리 콘솔에서 조직 단위 메뉴 선택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E62F5-3214-4319-92B0-35BCBFB4C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801" y="2695541"/>
            <a:ext cx="7168211" cy="401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10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61BA0B4-66EF-48EE-8C30-75CBAD512D86}"/>
              </a:ext>
            </a:extLst>
          </p:cNvPr>
          <p:cNvSpPr/>
          <p:nvPr/>
        </p:nvSpPr>
        <p:spPr>
          <a:xfrm>
            <a:off x="485906" y="1825013"/>
            <a:ext cx="9720000" cy="4979014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Google Shape;2921;p34">
            <a:extLst>
              <a:ext uri="{FF2B5EF4-FFF2-40B4-BE49-F238E27FC236}">
                <a16:creationId xmlns:a16="http://schemas.microsoft.com/office/drawing/2014/main" id="{7E347E4A-3645-4778-AA72-B7274599C11A}"/>
              </a:ext>
            </a:extLst>
          </p:cNvPr>
          <p:cNvSpPr txBox="1"/>
          <p:nvPr/>
        </p:nvSpPr>
        <p:spPr>
          <a:xfrm>
            <a:off x="1831351" y="1955754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1-5&gt;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관리 콘솔 조직 단위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(OU)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트리 구조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0073E9B-97B7-4AD6-86B3-0DB2D18CA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66" y="2261984"/>
            <a:ext cx="9368282" cy="4402086"/>
          </a:xfrm>
          <a:prstGeom prst="rect">
            <a:avLst/>
          </a:prstGeom>
        </p:spPr>
      </p:pic>
      <p:sp>
        <p:nvSpPr>
          <p:cNvPr id="16" name="Google Shape;2922;p34">
            <a:extLst>
              <a:ext uri="{FF2B5EF4-FFF2-40B4-BE49-F238E27FC236}">
                <a16:creationId xmlns:a16="http://schemas.microsoft.com/office/drawing/2014/main" id="{42998257-F139-4554-8D3B-3F5F3A186C60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4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현재 학교에 설정된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트리 구조를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2595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1;p34">
            <a:extLst>
              <a:ext uri="{FF2B5EF4-FFF2-40B4-BE49-F238E27FC236}">
                <a16:creationId xmlns:a16="http://schemas.microsoft.com/office/drawing/2014/main" id="{13BBC059-AFA8-4118-AAAB-DBCC1F69FC1D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3: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새 조직 단위 만들기</a:t>
            </a:r>
          </a:p>
        </p:txBody>
      </p:sp>
      <p:sp>
        <p:nvSpPr>
          <p:cNvPr id="8" name="Google Shape;2922;p34">
            <a:extLst>
              <a:ext uri="{FF2B5EF4-FFF2-40B4-BE49-F238E27FC236}">
                <a16:creationId xmlns:a16="http://schemas.microsoft.com/office/drawing/2014/main" id="{1A3E96AA-2306-4547-A31E-06EAA463BB8B}"/>
              </a:ext>
            </a:extLst>
          </p:cNvPr>
          <p:cNvSpPr txBox="1"/>
          <p:nvPr/>
        </p:nvSpPr>
        <p:spPr>
          <a:xfrm>
            <a:off x="485774" y="1825012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조직 단위 목록에서 우리 학교행을 찾습니다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61BA0B4-66EF-48EE-8C30-75CBAD512D86}"/>
              </a:ext>
            </a:extLst>
          </p:cNvPr>
          <p:cNvSpPr/>
          <p:nvPr/>
        </p:nvSpPr>
        <p:spPr>
          <a:xfrm>
            <a:off x="485906" y="2232837"/>
            <a:ext cx="9720000" cy="4571189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B2B643EF-43BF-4BA9-9ECE-653A98C9A61E}"/>
              </a:ext>
            </a:extLst>
          </p:cNvPr>
          <p:cNvSpPr txBox="1"/>
          <p:nvPr/>
        </p:nvSpPr>
        <p:spPr>
          <a:xfrm>
            <a:off x="1831351" y="2360510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1-6&gt;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조직 단위 목록에서 우리 학교 조직 찾기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F2FF3D-DEA6-4D5E-8DA2-76919E709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05" y="2699268"/>
            <a:ext cx="9538402" cy="39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2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61BA0B4-66EF-48EE-8C30-75CBAD512D86}"/>
              </a:ext>
            </a:extLst>
          </p:cNvPr>
          <p:cNvSpPr/>
          <p:nvPr/>
        </p:nvSpPr>
        <p:spPr>
          <a:xfrm>
            <a:off x="485906" y="2105247"/>
            <a:ext cx="9720000" cy="4698779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B2B643EF-43BF-4BA9-9ECE-653A98C9A61E}"/>
              </a:ext>
            </a:extLst>
          </p:cNvPr>
          <p:cNvSpPr txBox="1"/>
          <p:nvPr/>
        </p:nvSpPr>
        <p:spPr>
          <a:xfrm>
            <a:off x="1831351" y="2240008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1-7&gt;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조직 단위 행에서 하위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OU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/>
              </a:rPr>
              <a:t>추가 버튼 클릭</a:t>
            </a:r>
          </a:p>
        </p:txBody>
      </p:sp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2244EC14-E5B8-467C-ADD6-C56F41606C9B}"/>
              </a:ext>
            </a:extLst>
          </p:cNvPr>
          <p:cNvSpPr txBox="1"/>
          <p:nvPr/>
        </p:nvSpPr>
        <p:spPr>
          <a:xfrm>
            <a:off x="485774" y="1414583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하위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추가하고 싶은 조직 단위 행 오른쪽 끝의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[+]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버튼을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b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누르는 행이 상위 조직이 되므로 위치를 잘 확인하세요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8E2B96C-C1EF-4E19-9469-5414C9618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04" y="2636874"/>
            <a:ext cx="9524225" cy="399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48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61BA0B4-66EF-48EE-8C30-75CBAD512D86}"/>
              </a:ext>
            </a:extLst>
          </p:cNvPr>
          <p:cNvSpPr/>
          <p:nvPr/>
        </p:nvSpPr>
        <p:spPr>
          <a:xfrm>
            <a:off x="485906" y="1825013"/>
            <a:ext cx="9720000" cy="4979014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Google Shape;2921;p34">
            <a:extLst>
              <a:ext uri="{FF2B5EF4-FFF2-40B4-BE49-F238E27FC236}">
                <a16:creationId xmlns:a16="http://schemas.microsoft.com/office/drawing/2014/main" id="{7E347E4A-3645-4778-AA72-B7274599C11A}"/>
              </a:ext>
            </a:extLst>
          </p:cNvPr>
          <p:cNvSpPr txBox="1"/>
          <p:nvPr/>
        </p:nvSpPr>
        <p:spPr>
          <a:xfrm>
            <a:off x="1831351" y="1955754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1-8&gt;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조직 단위 이름 입력</a:t>
            </a:r>
          </a:p>
        </p:txBody>
      </p:sp>
      <p:sp>
        <p:nvSpPr>
          <p:cNvPr id="16" name="Google Shape;2922;p34">
            <a:extLst>
              <a:ext uri="{FF2B5EF4-FFF2-40B4-BE49-F238E27FC236}">
                <a16:creationId xmlns:a16="http://schemas.microsoft.com/office/drawing/2014/main" id="{42998257-F139-4554-8D3B-3F5F3A186C60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새 조직 단위 만들기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팝업에서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조직 단위의 이름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입력하고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상위 조직 단위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A0B3C6-2D81-4DCB-A20E-8921C84028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310" y="2248723"/>
            <a:ext cx="4789192" cy="439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98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61BA0B4-66EF-48EE-8C30-75CBAD512D86}"/>
              </a:ext>
            </a:extLst>
          </p:cNvPr>
          <p:cNvSpPr/>
          <p:nvPr/>
        </p:nvSpPr>
        <p:spPr>
          <a:xfrm>
            <a:off x="485906" y="1825013"/>
            <a:ext cx="9720000" cy="4979014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Google Shape;2921;p34">
            <a:extLst>
              <a:ext uri="{FF2B5EF4-FFF2-40B4-BE49-F238E27FC236}">
                <a16:creationId xmlns:a16="http://schemas.microsoft.com/office/drawing/2014/main" id="{7E347E4A-3645-4778-AA72-B7274599C11A}"/>
              </a:ext>
            </a:extLst>
          </p:cNvPr>
          <p:cNvSpPr txBox="1"/>
          <p:nvPr/>
        </p:nvSpPr>
        <p:spPr>
          <a:xfrm>
            <a:off x="1831351" y="1955754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1-9&gt;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조직 단위 생성 완료를 위한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만들기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버튼 클릭</a:t>
            </a:r>
          </a:p>
        </p:txBody>
      </p:sp>
      <p:sp>
        <p:nvSpPr>
          <p:cNvPr id="16" name="Google Shape;2922;p34">
            <a:extLst>
              <a:ext uri="{FF2B5EF4-FFF2-40B4-BE49-F238E27FC236}">
                <a16:creationId xmlns:a16="http://schemas.microsoft.com/office/drawing/2014/main" id="{42998257-F139-4554-8D3B-3F5F3A186C60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만들기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153554-F8B6-4F17-8B94-957094BFB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310" y="2248723"/>
            <a:ext cx="4789192" cy="439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1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61BA0B4-66EF-48EE-8C30-75CBAD512D86}"/>
              </a:ext>
            </a:extLst>
          </p:cNvPr>
          <p:cNvSpPr/>
          <p:nvPr/>
        </p:nvSpPr>
        <p:spPr>
          <a:xfrm>
            <a:off x="485906" y="1825013"/>
            <a:ext cx="9720000" cy="4979014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Google Shape;2921;p34">
            <a:extLst>
              <a:ext uri="{FF2B5EF4-FFF2-40B4-BE49-F238E27FC236}">
                <a16:creationId xmlns:a16="http://schemas.microsoft.com/office/drawing/2014/main" id="{7E347E4A-3645-4778-AA72-B7274599C11A}"/>
              </a:ext>
            </a:extLst>
          </p:cNvPr>
          <p:cNvSpPr txBox="1"/>
          <p:nvPr/>
        </p:nvSpPr>
        <p:spPr>
          <a:xfrm>
            <a:off x="1831351" y="1955754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1-10&gt;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조직 단위 목록에서 새로 생성된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OU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확인</a:t>
            </a:r>
          </a:p>
        </p:txBody>
      </p:sp>
      <p:sp>
        <p:nvSpPr>
          <p:cNvPr id="16" name="Google Shape;2922;p34">
            <a:extLst>
              <a:ext uri="{FF2B5EF4-FFF2-40B4-BE49-F238E27FC236}">
                <a16:creationId xmlns:a16="http://schemas.microsoft.com/office/drawing/2014/main" id="{42998257-F139-4554-8D3B-3F5F3A186C60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⑤ 목록에서 우리 학교 아래에 새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추가된 것을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1FCEDA-9558-4304-83FA-EAB7BEBF7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581" y="2166277"/>
            <a:ext cx="7312652" cy="45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17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1;p34">
            <a:extLst>
              <a:ext uri="{FF2B5EF4-FFF2-40B4-BE49-F238E27FC236}">
                <a16:creationId xmlns:a16="http://schemas.microsoft.com/office/drawing/2014/main" id="{FAA1F045-4597-4BFC-90BF-3D5CC0AF8C35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점검하기</a:t>
            </a:r>
          </a:p>
        </p:txBody>
      </p:sp>
      <p:sp>
        <p:nvSpPr>
          <p:cNvPr id="8" name="Google Shape;2922;p34">
            <a:extLst>
              <a:ext uri="{FF2B5EF4-FFF2-40B4-BE49-F238E27FC236}">
                <a16:creationId xmlns:a16="http://schemas.microsoft.com/office/drawing/2014/main" id="{7BDBCF2B-3FC3-454B-9630-3E85CDE7FFF9}"/>
              </a:ext>
            </a:extLst>
          </p:cNvPr>
          <p:cNvSpPr txBox="1"/>
          <p:nvPr/>
        </p:nvSpPr>
        <p:spPr>
          <a:xfrm>
            <a:off x="485774" y="1825012"/>
            <a:ext cx="9720263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우리 학교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최상위 구조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교직원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학생 분리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확인했나요</a:t>
            </a:r>
            <a:endParaRPr lang="en-US" altLang="ko-KR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새로 만든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목록에 표시되나요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이름의 띄어쓰기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철자가 의도한 대로 입력됐나요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122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0CAE60C7-3BD5-4C29-B01C-DC1D7F20A33E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사용자 계정 생성하기</a:t>
            </a:r>
          </a:p>
        </p:txBody>
      </p:sp>
      <p:sp>
        <p:nvSpPr>
          <p:cNvPr id="6" name="Google Shape;2920;p34">
            <a:extLst>
              <a:ext uri="{FF2B5EF4-FFF2-40B4-BE49-F238E27FC236}">
                <a16:creationId xmlns:a16="http://schemas.microsoft.com/office/drawing/2014/main" id="{9C0DB751-93CD-4406-A0A7-57F1571F9718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en-US" altLang="ko-KR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4) </a:t>
            </a: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사용자 계정 생성하기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6515A4-5799-437E-B3BF-81334044108E}"/>
              </a:ext>
            </a:extLst>
          </p:cNvPr>
          <p:cNvGrpSpPr/>
          <p:nvPr/>
        </p:nvGrpSpPr>
        <p:grpSpPr>
          <a:xfrm>
            <a:off x="485774" y="1825012"/>
            <a:ext cx="9720263" cy="1061833"/>
            <a:chOff x="485774" y="1825012"/>
            <a:chExt cx="9720263" cy="1061833"/>
          </a:xfrm>
        </p:grpSpPr>
        <p:sp>
          <p:nvSpPr>
            <p:cNvPr id="9" name="Google Shape;2922;p34">
              <a:extLst>
                <a:ext uri="{FF2B5EF4-FFF2-40B4-BE49-F238E27FC236}">
                  <a16:creationId xmlns:a16="http://schemas.microsoft.com/office/drawing/2014/main" id="{753AB26E-F737-4C3B-BA9F-685F9F84CA95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계정 이름 기본 원칙</a:t>
              </a:r>
            </a:p>
          </p:txBody>
        </p:sp>
        <p:sp>
          <p:nvSpPr>
            <p:cNvPr id="10" name="Google Shape;2922;p34">
              <a:extLst>
                <a:ext uri="{FF2B5EF4-FFF2-40B4-BE49-F238E27FC236}">
                  <a16:creationId xmlns:a16="http://schemas.microsoft.com/office/drawing/2014/main" id="{5EA7254C-1B02-458C-86C1-4930EB7405E6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소속 시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·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도 교육청 및 학교별 자체 수립된 계정 생성 가이드를 준수합니다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 방지와 관리를 위해 고유한 </a:t>
              </a:r>
              <a:r>
                <a:rPr lang="ko-KR" altLang="en-US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식별값을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포함하여 구성합니다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106667A-CB85-431C-90C8-C54244D937FF}"/>
              </a:ext>
            </a:extLst>
          </p:cNvPr>
          <p:cNvGrpSpPr/>
          <p:nvPr/>
        </p:nvGrpSpPr>
        <p:grpSpPr>
          <a:xfrm>
            <a:off x="485774" y="3129510"/>
            <a:ext cx="9720263" cy="1415776"/>
            <a:chOff x="485774" y="1825012"/>
            <a:chExt cx="9720263" cy="1415776"/>
          </a:xfrm>
        </p:grpSpPr>
        <p:sp>
          <p:nvSpPr>
            <p:cNvPr id="12" name="Google Shape;2922;p34">
              <a:extLst>
                <a:ext uri="{FF2B5EF4-FFF2-40B4-BE49-F238E27FC236}">
                  <a16:creationId xmlns:a16="http://schemas.microsoft.com/office/drawing/2014/main" id="{80FFFCEF-D6A4-4A7C-8682-A369C9A5ABAE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교사 계정 생성 규칙</a:t>
              </a:r>
            </a:p>
          </p:txBody>
        </p:sp>
        <p:sp>
          <p:nvSpPr>
            <p:cNvPr id="13" name="Google Shape;2922;p34">
              <a:extLst>
                <a:ext uri="{FF2B5EF4-FFF2-40B4-BE49-F238E27FC236}">
                  <a16:creationId xmlns:a16="http://schemas.microsoft.com/office/drawing/2014/main" id="{F0DA8AAA-7983-4429-B6A4-A7A9ED8F3A2D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1061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나이스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(NEIS) 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아이디 기반의 계정 생성을 권장합니다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일반적으로 계정 형식은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[</a:t>
              </a:r>
              <a:r>
                <a:rPr lang="ko-KR" altLang="en-US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나이스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ID] @ [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교육청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학교 도메인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]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입니다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교직원 전보 시에도 일관된 아이디 사용을 통해 업무 연속성을 유지합니다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5172FC-1130-4405-A14B-DFDB36EE2D72}"/>
              </a:ext>
            </a:extLst>
          </p:cNvPr>
          <p:cNvGrpSpPr/>
          <p:nvPr/>
        </p:nvGrpSpPr>
        <p:grpSpPr>
          <a:xfrm>
            <a:off x="485774" y="4787951"/>
            <a:ext cx="9720263" cy="1061833"/>
            <a:chOff x="485774" y="1825012"/>
            <a:chExt cx="9720263" cy="1061833"/>
          </a:xfrm>
        </p:grpSpPr>
        <p:sp>
          <p:nvSpPr>
            <p:cNvPr id="15" name="Google Shape;2922;p34">
              <a:extLst>
                <a:ext uri="{FF2B5EF4-FFF2-40B4-BE49-F238E27FC236}">
                  <a16:creationId xmlns:a16="http://schemas.microsoft.com/office/drawing/2014/main" id="{0DE9734E-D1C7-4994-9B6E-094CBDC50B66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학생 계정 생성 규칙</a:t>
              </a:r>
            </a:p>
          </p:txBody>
        </p:sp>
        <p:sp>
          <p:nvSpPr>
            <p:cNvPr id="16" name="Google Shape;2922;p34">
              <a:extLst>
                <a:ext uri="{FF2B5EF4-FFF2-40B4-BE49-F238E27FC236}">
                  <a16:creationId xmlns:a16="http://schemas.microsoft.com/office/drawing/2014/main" id="{6A0CABD4-CAA7-4247-8C34-FA4764ADB818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시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·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도 교육청 및 학교별 학번 체계를 반영하여 구성합니다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예시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 (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전북교육청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): [</a:t>
              </a:r>
              <a:r>
                <a:rPr lang="ko-KR" altLang="en-US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입학년도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] + [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학교 고유코드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] + [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번호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] 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453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0CAE60C7-3BD5-4C29-B01C-DC1D7F20A33E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사용자 계정 생성하기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6515A4-5799-437E-B3BF-81334044108E}"/>
              </a:ext>
            </a:extLst>
          </p:cNvPr>
          <p:cNvGrpSpPr/>
          <p:nvPr/>
        </p:nvGrpSpPr>
        <p:grpSpPr>
          <a:xfrm>
            <a:off x="485774" y="1825012"/>
            <a:ext cx="9720263" cy="1061833"/>
            <a:chOff x="485774" y="1825012"/>
            <a:chExt cx="9720263" cy="1061833"/>
          </a:xfrm>
        </p:grpSpPr>
        <p:sp>
          <p:nvSpPr>
            <p:cNvPr id="9" name="Google Shape;2922;p34">
              <a:extLst>
                <a:ext uri="{FF2B5EF4-FFF2-40B4-BE49-F238E27FC236}">
                  <a16:creationId xmlns:a16="http://schemas.microsoft.com/office/drawing/2014/main" id="{753AB26E-F737-4C3B-BA9F-685F9F84CA95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조직 단위</a:t>
              </a:r>
              <a:r>
                <a:rPr lang="en-US" altLang="ko-KR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(OU) </a:t>
              </a: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확인</a:t>
              </a:r>
            </a:p>
          </p:txBody>
        </p:sp>
        <p:sp>
          <p:nvSpPr>
            <p:cNvPr id="10" name="Google Shape;2922;p34">
              <a:extLst>
                <a:ext uri="{FF2B5EF4-FFF2-40B4-BE49-F238E27FC236}">
                  <a16:creationId xmlns:a16="http://schemas.microsoft.com/office/drawing/2014/main" id="{5EA7254C-1B02-458C-86C1-4930EB7405E6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조직 단위에 따라 사용할 수 있는 기능이 달라집니다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교사 계정은 ‘교사’ 조직 단위에 생성합니다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106667A-CB85-431C-90C8-C54244D937FF}"/>
              </a:ext>
            </a:extLst>
          </p:cNvPr>
          <p:cNvGrpSpPr/>
          <p:nvPr/>
        </p:nvGrpSpPr>
        <p:grpSpPr>
          <a:xfrm>
            <a:off x="485774" y="3129510"/>
            <a:ext cx="9720263" cy="1061833"/>
            <a:chOff x="485774" y="1825012"/>
            <a:chExt cx="9720263" cy="1061833"/>
          </a:xfrm>
        </p:grpSpPr>
        <p:sp>
          <p:nvSpPr>
            <p:cNvPr id="12" name="Google Shape;2922;p34">
              <a:extLst>
                <a:ext uri="{FF2B5EF4-FFF2-40B4-BE49-F238E27FC236}">
                  <a16:creationId xmlns:a16="http://schemas.microsoft.com/office/drawing/2014/main" id="{80FFFCEF-D6A4-4A7C-8682-A369C9A5ABAE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권한 설정 기준</a:t>
              </a:r>
            </a:p>
          </p:txBody>
        </p:sp>
        <p:sp>
          <p:nvSpPr>
            <p:cNvPr id="13" name="Google Shape;2922;p34">
              <a:extLst>
                <a:ext uri="{FF2B5EF4-FFF2-40B4-BE49-F238E27FC236}">
                  <a16:creationId xmlns:a16="http://schemas.microsoft.com/office/drawing/2014/main" id="{F0DA8AAA-7983-4429-B6A4-A7A9ED8F3A2D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불필요한 권한 부여는 보안 위험이 될 수 있습니다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관리자 권한은 필요한 경우에만 부여합니다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5854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0CAE60C7-3BD5-4C29-B01C-DC1D7F20A33E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나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4: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새 사용자 추가하기</a:t>
            </a:r>
          </a:p>
        </p:txBody>
      </p:sp>
      <p:sp>
        <p:nvSpPr>
          <p:cNvPr id="14" name="Google Shape;2922;p34">
            <a:extLst>
              <a:ext uri="{FF2B5EF4-FFF2-40B4-BE49-F238E27FC236}">
                <a16:creationId xmlns:a16="http://schemas.microsoft.com/office/drawing/2014/main" id="{ABAACCCE-F8EE-4AC9-97D2-0FE864DCE64D}"/>
              </a:ext>
            </a:extLst>
          </p:cNvPr>
          <p:cNvSpPr txBox="1"/>
          <p:nvPr/>
        </p:nvSpPr>
        <p:spPr>
          <a:xfrm>
            <a:off x="485774" y="1825012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①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-1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관리 콘솔 좌측 메뉴에서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디렉터리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클릭한 후 오른쪽 상단의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새 사용자 추가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버튼을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7125D9C-84AD-44D4-A56E-3270C9E6DD30}"/>
              </a:ext>
            </a:extLst>
          </p:cNvPr>
          <p:cNvSpPr/>
          <p:nvPr/>
        </p:nvSpPr>
        <p:spPr>
          <a:xfrm>
            <a:off x="485906" y="2526762"/>
            <a:ext cx="9720000" cy="4277263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Google Shape;2921;p34">
            <a:extLst>
              <a:ext uri="{FF2B5EF4-FFF2-40B4-BE49-F238E27FC236}">
                <a16:creationId xmlns:a16="http://schemas.microsoft.com/office/drawing/2014/main" id="{994590E0-9435-4DED-83AC-9A101D10A93C}"/>
              </a:ext>
            </a:extLst>
          </p:cNvPr>
          <p:cNvSpPr txBox="1"/>
          <p:nvPr/>
        </p:nvSpPr>
        <p:spPr>
          <a:xfrm>
            <a:off x="1831351" y="2657503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1-11&gt;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디렉터리 사용자 메뉴에서 새 사용자 추가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6812FAF-E5D4-467F-ACCC-410593C0C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05" y="3062177"/>
            <a:ext cx="9538402" cy="361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77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7125D9C-84AD-44D4-A56E-3270C9E6DD30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Google Shape;2921;p34">
            <a:extLst>
              <a:ext uri="{FF2B5EF4-FFF2-40B4-BE49-F238E27FC236}">
                <a16:creationId xmlns:a16="http://schemas.microsoft.com/office/drawing/2014/main" id="{994590E0-9435-4DED-83AC-9A101D10A93C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1-12&gt;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관리 콘솔 대시보드에서 사용자 추가</a:t>
            </a:r>
          </a:p>
        </p:txBody>
      </p:sp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①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-2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관리 콘솔 대시보드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화면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추가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버튼을 클릭하여 바로 사용자를 추가할 수 있습니다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091F3D-DF02-47FE-946E-E2CB407E6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82" y="2247013"/>
            <a:ext cx="9510048" cy="443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7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7125D9C-84AD-44D4-A56E-3270C9E6DD30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Google Shape;2921;p34">
            <a:extLst>
              <a:ext uri="{FF2B5EF4-FFF2-40B4-BE49-F238E27FC236}">
                <a16:creationId xmlns:a16="http://schemas.microsoft.com/office/drawing/2014/main" id="{994590E0-9435-4DED-83AC-9A101D10A93C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1-13&gt;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정보 입력</a:t>
            </a:r>
          </a:p>
        </p:txBody>
      </p:sp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② 성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이메일 주소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이름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입력합니다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5B7B66-B51B-4581-86B1-3EDDCA6151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81" y="2417135"/>
            <a:ext cx="9510047" cy="426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53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7125D9C-84AD-44D4-A56E-3270C9E6DD30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Google Shape;2921;p34">
            <a:extLst>
              <a:ext uri="{FF2B5EF4-FFF2-40B4-BE49-F238E27FC236}">
                <a16:creationId xmlns:a16="http://schemas.microsoft.com/office/drawing/2014/main" id="{994590E0-9435-4DED-83AC-9A101D10A93C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1-14&gt;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설정 메뉴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조직 단위 변경 메뉴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펼치기</a:t>
            </a:r>
          </a:p>
        </p:txBody>
      </p:sp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③ 조직 단위를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교직원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OU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로 변경합니다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0A4030-C570-44E6-B4E5-3478BE249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81" y="2417135"/>
            <a:ext cx="9510046" cy="426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63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7125D9C-84AD-44D4-A56E-3270C9E6DD30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Google Shape;2921;p34">
            <a:extLst>
              <a:ext uri="{FF2B5EF4-FFF2-40B4-BE49-F238E27FC236}">
                <a16:creationId xmlns:a16="http://schemas.microsoft.com/office/drawing/2014/main" id="{994590E0-9435-4DED-83AC-9A101D10A93C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1-15&gt;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조직 단위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(OU)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수정</a:t>
            </a:r>
          </a:p>
        </p:txBody>
      </p:sp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③ 조직 단위를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교직원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OU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로 변경합니다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EC6860-2969-4B96-B415-94F1985F9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668" y="2382656"/>
            <a:ext cx="7298477" cy="429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76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7125D9C-84AD-44D4-A56E-3270C9E6DD30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Google Shape;2921;p34">
            <a:extLst>
              <a:ext uri="{FF2B5EF4-FFF2-40B4-BE49-F238E27FC236}">
                <a16:creationId xmlns:a16="http://schemas.microsoft.com/office/drawing/2014/main" id="{994590E0-9435-4DED-83AC-9A101D10A93C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1-16&gt;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조직 단위 선택 팝업에서 ‘교사’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OU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선택</a:t>
            </a:r>
          </a:p>
        </p:txBody>
      </p:sp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③ 조직 단위를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교직원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OU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로 변경합니다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0336B0-F79A-49D3-8FF6-DEF31BB14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369" y="2275366"/>
            <a:ext cx="4407074" cy="440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78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④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추가 옵션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비밀번호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초기 비밀번호를 설정하고 사용자가 최초 로그인 시 비밀번호를</a:t>
            </a:r>
            <a:b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변경할 수 있도록 ‘다음 로그인 시 비밀번호 변경’ 체크박스를 선택합니다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88E0E9E-CE07-41C7-9ABC-C3FB28CA23BF}"/>
              </a:ext>
            </a:extLst>
          </p:cNvPr>
          <p:cNvSpPr/>
          <p:nvPr/>
        </p:nvSpPr>
        <p:spPr>
          <a:xfrm>
            <a:off x="485906" y="2112336"/>
            <a:ext cx="9720000" cy="4691690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Google Shape;2921;p34">
            <a:extLst>
              <a:ext uri="{FF2B5EF4-FFF2-40B4-BE49-F238E27FC236}">
                <a16:creationId xmlns:a16="http://schemas.microsoft.com/office/drawing/2014/main" id="{4D5E6812-9237-4D25-A4A4-6781CFF2B262}"/>
              </a:ext>
            </a:extLst>
          </p:cNvPr>
          <p:cNvSpPr txBox="1"/>
          <p:nvPr/>
        </p:nvSpPr>
        <p:spPr>
          <a:xfrm>
            <a:off x="1831351" y="2218023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1-17&gt;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초기 비밀번호 설정 및 비밀번호 변경 옵션 선택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8FD8560-A907-4A6B-9177-926751B9E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846" y="2578141"/>
            <a:ext cx="7270122" cy="41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0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⑤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새 사용자 추가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버튼을 클릭하여 계정을 생성합니다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CEBBE1-DDC0-45A7-B246-60196C80DC28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Google Shape;2921;p34">
            <a:extLst>
              <a:ext uri="{FF2B5EF4-FFF2-40B4-BE49-F238E27FC236}">
                <a16:creationId xmlns:a16="http://schemas.microsoft.com/office/drawing/2014/main" id="{6A0E7C6A-5EF5-4EDE-A87D-A011B38B3F96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1-18&gt;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계정 생성 버튼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1B5FC1B-BAE5-4A1B-A515-EF9308526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64" y="2217650"/>
            <a:ext cx="9472836" cy="445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28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1BC92A63-73F7-4D25-9CD2-C079598CE6BA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⑥ 사용자 목록에서 생성된 계정을 검색하여 정상적으로 생성되었는지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CEBBE1-DDC0-45A7-B246-60196C80DC28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Google Shape;2921;p34">
            <a:extLst>
              <a:ext uri="{FF2B5EF4-FFF2-40B4-BE49-F238E27FC236}">
                <a16:creationId xmlns:a16="http://schemas.microsoft.com/office/drawing/2014/main" id="{6A0E7C6A-5EF5-4EDE-A87D-A011B38B3F96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1-19&gt;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목록에서 생성된 교사 계정 확인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326B52-FB25-49C4-9D17-71BB281E0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12" y="3253896"/>
            <a:ext cx="9473988" cy="208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56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B81C4319-C82F-42A2-B76F-4EE9333F3D7A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점검하기</a:t>
            </a:r>
          </a:p>
        </p:txBody>
      </p:sp>
      <p:sp>
        <p:nvSpPr>
          <p:cNvPr id="11" name="Google Shape;2922;p34">
            <a:extLst>
              <a:ext uri="{FF2B5EF4-FFF2-40B4-BE49-F238E27FC236}">
                <a16:creationId xmlns:a16="http://schemas.microsoft.com/office/drawing/2014/main" id="{F465EB10-001D-4AA2-A30C-45614EF4E8EE}"/>
              </a:ext>
            </a:extLst>
          </p:cNvPr>
          <p:cNvSpPr txBox="1"/>
          <p:nvPr/>
        </p:nvSpPr>
        <p:spPr>
          <a:xfrm>
            <a:off x="485774" y="1825012"/>
            <a:ext cx="9720263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사용자 목록에서 새로 만든 계정이 보이나요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계정의 조직 단위가 원하는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지정되어 있나요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계정 상태가 ‘활성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’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표시되나요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94091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17A66C8D-E97F-4410-AE3D-68C8792F728B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2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단계 인증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(2FA)</a:t>
            </a:r>
          </a:p>
        </p:txBody>
      </p:sp>
      <p:sp>
        <p:nvSpPr>
          <p:cNvPr id="5" name="Google Shape;2920;p34">
            <a:extLst>
              <a:ext uri="{FF2B5EF4-FFF2-40B4-BE49-F238E27FC236}">
                <a16:creationId xmlns:a16="http://schemas.microsoft.com/office/drawing/2014/main" id="{E0558F6E-21AF-4E06-9C56-F9B6BD0E8D88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en-US" altLang="ko-KR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5) </a:t>
            </a: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관리자 보안 설정하기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0994BE4-5B71-4653-A391-1A535CE10A1B}"/>
              </a:ext>
            </a:extLst>
          </p:cNvPr>
          <p:cNvGrpSpPr/>
          <p:nvPr/>
        </p:nvGrpSpPr>
        <p:grpSpPr>
          <a:xfrm>
            <a:off x="485774" y="1825012"/>
            <a:ext cx="9720263" cy="707890"/>
            <a:chOff x="485774" y="1825012"/>
            <a:chExt cx="9720263" cy="707890"/>
          </a:xfrm>
        </p:grpSpPr>
        <p:sp>
          <p:nvSpPr>
            <p:cNvPr id="7" name="Google Shape;2922;p34">
              <a:extLst>
                <a:ext uri="{FF2B5EF4-FFF2-40B4-BE49-F238E27FC236}">
                  <a16:creationId xmlns:a16="http://schemas.microsoft.com/office/drawing/2014/main" id="{6438D438-3905-49B7-BE61-B5625F9A7A72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개념</a:t>
              </a:r>
            </a:p>
          </p:txBody>
        </p:sp>
        <p:sp>
          <p:nvSpPr>
            <p:cNvPr id="8" name="Google Shape;2922;p34">
              <a:extLst>
                <a:ext uri="{FF2B5EF4-FFF2-40B4-BE49-F238E27FC236}">
                  <a16:creationId xmlns:a16="http://schemas.microsoft.com/office/drawing/2014/main" id="{3F33B064-D2A3-43BD-90DD-F9FE48F44F00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비밀번호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(1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단계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+ 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전화번호 문자 인증 코드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(2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단계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로 이중 확인하는 보안 방식입니다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2FD26EC-87A6-42BE-B180-41CDFF2BB8F6}"/>
              </a:ext>
            </a:extLst>
          </p:cNvPr>
          <p:cNvGrpSpPr/>
          <p:nvPr/>
        </p:nvGrpSpPr>
        <p:grpSpPr>
          <a:xfrm>
            <a:off x="485774" y="2775091"/>
            <a:ext cx="9720263" cy="1061833"/>
            <a:chOff x="485774" y="1825012"/>
            <a:chExt cx="9720263" cy="1061833"/>
          </a:xfrm>
        </p:grpSpPr>
        <p:sp>
          <p:nvSpPr>
            <p:cNvPr id="16" name="Google Shape;2922;p34">
              <a:extLst>
                <a:ext uri="{FF2B5EF4-FFF2-40B4-BE49-F238E27FC236}">
                  <a16:creationId xmlns:a16="http://schemas.microsoft.com/office/drawing/2014/main" id="{383AFC44-E0A4-4AC5-8CAD-8E452F942CF4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적용 대상</a:t>
              </a:r>
            </a:p>
          </p:txBody>
        </p:sp>
        <p:sp>
          <p:nvSpPr>
            <p:cNvPr id="17" name="Google Shape;2922;p34">
              <a:extLst>
                <a:ext uri="{FF2B5EF4-FFF2-40B4-BE49-F238E27FC236}">
                  <a16:creationId xmlns:a16="http://schemas.microsoft.com/office/drawing/2014/main" id="{CB30C2C6-0BA0-418E-9AC3-CE34A07BD87C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구글 워크스페이스 관리자 권한 계정은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단계 인증이 강제 적용됩니다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 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로그인 시 등록 화면이 나오면 반드시 설정하세요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9F1F419-B9ED-41B0-9319-951B35D0240D}"/>
              </a:ext>
            </a:extLst>
          </p:cNvPr>
          <p:cNvGrpSpPr/>
          <p:nvPr/>
        </p:nvGrpSpPr>
        <p:grpSpPr>
          <a:xfrm>
            <a:off x="485774" y="4079114"/>
            <a:ext cx="9720263" cy="984889"/>
            <a:chOff x="485774" y="1825012"/>
            <a:chExt cx="9720263" cy="984889"/>
          </a:xfrm>
        </p:grpSpPr>
        <p:sp>
          <p:nvSpPr>
            <p:cNvPr id="19" name="Google Shape;2922;p34">
              <a:extLst>
                <a:ext uri="{FF2B5EF4-FFF2-40B4-BE49-F238E27FC236}">
                  <a16:creationId xmlns:a16="http://schemas.microsoft.com/office/drawing/2014/main" id="{49D3F54A-7A81-43E5-8845-22F923F5B856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3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백업코드</a:t>
              </a:r>
            </a:p>
          </p:txBody>
        </p:sp>
        <p:sp>
          <p:nvSpPr>
            <p:cNvPr id="20" name="Google Shape;2922;p34">
              <a:extLst>
                <a:ext uri="{FF2B5EF4-FFF2-40B4-BE49-F238E27FC236}">
                  <a16:creationId xmlns:a16="http://schemas.microsoft.com/office/drawing/2014/main" id="{836CA06C-FB99-4E28-A46D-28EFE9BBA6DE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63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4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휴대폰 분실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·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번호 변경 등 문자 인증이 불가능할 때 사용하는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회용 비상 코드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개입니다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b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</a:b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전화번호 등록 완료 후 생성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8736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17A66C8D-E97F-4410-AE3D-68C8792F728B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나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5: 2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단계 인증 설정하기</a:t>
            </a:r>
          </a:p>
        </p:txBody>
      </p:sp>
      <p:sp>
        <p:nvSpPr>
          <p:cNvPr id="14" name="Google Shape;2922;p34">
            <a:extLst>
              <a:ext uri="{FF2B5EF4-FFF2-40B4-BE49-F238E27FC236}">
                <a16:creationId xmlns:a16="http://schemas.microsoft.com/office/drawing/2014/main" id="{DA92D944-3B9F-409A-8249-B42AEF04EF28}"/>
              </a:ext>
            </a:extLst>
          </p:cNvPr>
          <p:cNvSpPr txBox="1"/>
          <p:nvPr/>
        </p:nvSpPr>
        <p:spPr>
          <a:xfrm>
            <a:off x="485774" y="1825012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① 구글 로그인 후 우측 상단 프로필 아이콘을 클릭하고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[Google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계정 관리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버튼을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4943C5B-F0F4-436F-98BA-A0B1A4E866E8}"/>
              </a:ext>
            </a:extLst>
          </p:cNvPr>
          <p:cNvSpPr/>
          <p:nvPr/>
        </p:nvSpPr>
        <p:spPr>
          <a:xfrm>
            <a:off x="485906" y="2225750"/>
            <a:ext cx="9720000" cy="457827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Google Shape;2921;p34">
            <a:extLst>
              <a:ext uri="{FF2B5EF4-FFF2-40B4-BE49-F238E27FC236}">
                <a16:creationId xmlns:a16="http://schemas.microsoft.com/office/drawing/2014/main" id="{AFD61604-D038-4510-A6F1-3C75163D6562}"/>
              </a:ext>
            </a:extLst>
          </p:cNvPr>
          <p:cNvSpPr txBox="1"/>
          <p:nvPr/>
        </p:nvSpPr>
        <p:spPr>
          <a:xfrm>
            <a:off x="1831351" y="23456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1-20&gt; Google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앱 메뉴에서 계정 선택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A3E2868-348A-4DE0-804D-C397F1521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982" y="2796388"/>
            <a:ext cx="2337848" cy="391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3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DCDF654C-A981-414A-A148-5ED1993639F5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② 좌측 메뉴에서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보안 및 로그인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EA7025A-ADE9-4625-890B-9386AC06096B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655DA483-2392-4358-99BD-A2D2FEE364C9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1-21&gt;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보안 및 로그인 클릭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3234FDF-D5E8-4AE9-89BA-9BE9D6A93D4A}"/>
              </a:ext>
            </a:extLst>
          </p:cNvPr>
          <p:cNvGrpSpPr/>
          <p:nvPr/>
        </p:nvGrpSpPr>
        <p:grpSpPr>
          <a:xfrm>
            <a:off x="619233" y="2318711"/>
            <a:ext cx="9453343" cy="4386889"/>
            <a:chOff x="619233" y="2318711"/>
            <a:chExt cx="9453343" cy="4386889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24A2D72-088D-446F-B2D6-E107C52FA8BA}"/>
                </a:ext>
              </a:extLst>
            </p:cNvPr>
            <p:cNvSpPr/>
            <p:nvPr/>
          </p:nvSpPr>
          <p:spPr>
            <a:xfrm>
              <a:off x="619233" y="5521842"/>
              <a:ext cx="9389547" cy="1183758"/>
            </a:xfrm>
            <a:prstGeom prst="rect">
              <a:avLst/>
            </a:prstGeom>
            <a:solidFill>
              <a:srgbClr val="F0F3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98CA37F-CEAE-4863-BD25-58E5E9390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234" y="2318711"/>
              <a:ext cx="9453342" cy="32243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4650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DCDF654C-A981-414A-A148-5ED1993639F5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③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[2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단계 인증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EA7025A-ADE9-4625-890B-9386AC06096B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655DA483-2392-4358-99BD-A2D2FEE364C9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1-22&gt; 2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단계 인증 설정 메뉴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3A14BE-0EC0-415B-B317-031AA2290BBC}"/>
              </a:ext>
            </a:extLst>
          </p:cNvPr>
          <p:cNvGrpSpPr/>
          <p:nvPr/>
        </p:nvGrpSpPr>
        <p:grpSpPr>
          <a:xfrm>
            <a:off x="619233" y="2318711"/>
            <a:ext cx="9453342" cy="4386889"/>
            <a:chOff x="619233" y="2318711"/>
            <a:chExt cx="9453342" cy="438688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54F3A1C-E8F4-436B-8BD8-721DFCEAC5B3}"/>
                </a:ext>
              </a:extLst>
            </p:cNvPr>
            <p:cNvSpPr/>
            <p:nvPr/>
          </p:nvSpPr>
          <p:spPr>
            <a:xfrm>
              <a:off x="619233" y="5521842"/>
              <a:ext cx="9453341" cy="1183758"/>
            </a:xfrm>
            <a:prstGeom prst="rect">
              <a:avLst/>
            </a:prstGeom>
            <a:solidFill>
              <a:srgbClr val="F0F3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0C148C6-B32B-427B-A29A-CFE5FA0CE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234" y="2318711"/>
              <a:ext cx="9453341" cy="36693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3342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DCDF654C-A981-414A-A148-5ED1993639F5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④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단계 인증 설정 화면에서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전화번호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선택합니다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EA7025A-ADE9-4625-890B-9386AC06096B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655DA483-2392-4358-99BD-A2D2FEE364C9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1-23&gt; 2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단계 인증방법 중 전화번호 선택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8A892B-C674-4BA1-84A1-6B26A755F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769" y="2211572"/>
            <a:ext cx="7732274" cy="450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94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DCDF654C-A981-414A-A148-5ED1993639F5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⑤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[2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단계 인증 백업 전화번호 추가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버튼을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EA7025A-ADE9-4625-890B-9386AC06096B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655DA483-2392-4358-99BD-A2D2FEE364C9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1-24&gt;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백업 전화번호 추가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E9B49A4-19AF-4C89-8457-E2569B788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421" y="2235329"/>
            <a:ext cx="5412970" cy="44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200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DCDF654C-A981-414A-A148-5ED1993639F5}"/>
              </a:ext>
            </a:extLst>
          </p:cNvPr>
          <p:cNvSpPr txBox="1"/>
          <p:nvPr/>
        </p:nvSpPr>
        <p:spPr>
          <a:xfrm>
            <a:off x="485774" y="1414583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⑥ 전화번호를 입력한 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문자 메시지로 코드 받기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선택하고 담당 교사 개인 휴대폰 번호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(+82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형식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입력한 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다음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43FE228-D8FB-45D9-93F4-48E586CB4A95}"/>
              </a:ext>
            </a:extLst>
          </p:cNvPr>
          <p:cNvSpPr/>
          <p:nvPr/>
        </p:nvSpPr>
        <p:spPr>
          <a:xfrm>
            <a:off x="485906" y="2112336"/>
            <a:ext cx="9720000" cy="4691690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0F0956EE-F853-4EDC-BDA7-BBEEB6E1915B}"/>
              </a:ext>
            </a:extLst>
          </p:cNvPr>
          <p:cNvSpPr txBox="1"/>
          <p:nvPr/>
        </p:nvSpPr>
        <p:spPr>
          <a:xfrm>
            <a:off x="1831351" y="2218023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1-25&gt;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전화번호 입력 및 인증 방법 선택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1FC25EB-54C3-44E9-B2FB-C745299AF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79" y="2524914"/>
            <a:ext cx="4373254" cy="417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22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DCDF654C-A981-414A-A148-5ED1993639F5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⑦ 담당 교사 개인 휴대폰 번호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(+82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형식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입력한 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다음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54DA4FA-5F73-4D41-80C5-5BAF4BABB577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48023C87-051E-4527-81EA-4082D4AF87E1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1-26&gt;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인증 코드 확인 및 저장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989CBC1-8489-4205-B8ED-95DDB7EDE7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8" y="2433477"/>
            <a:ext cx="9467518" cy="410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35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DCDF654C-A981-414A-A148-5ED1993639F5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⑧ 등록된 전화번호가 정상적으로 추가되었는지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54DA4FA-5F73-4D41-80C5-5BAF4BABB577}"/>
              </a:ext>
            </a:extLst>
          </p:cNvPr>
          <p:cNvSpPr/>
          <p:nvPr/>
        </p:nvSpPr>
        <p:spPr>
          <a:xfrm>
            <a:off x="485906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48023C87-051E-4527-81EA-4082D4AF87E1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1-27&gt;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전화번호 등록 완료 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A0873B-D7D2-4E4B-A72B-598CAD85D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932" y="2278417"/>
            <a:ext cx="5447948" cy="443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86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17B54338-27FA-4A11-9CAF-F294E2EE3655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6: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백업 코드 생성 및 보관</a:t>
            </a:r>
          </a:p>
        </p:txBody>
      </p:sp>
      <p:sp>
        <p:nvSpPr>
          <p:cNvPr id="11" name="Google Shape;2922;p34">
            <a:extLst>
              <a:ext uri="{FF2B5EF4-FFF2-40B4-BE49-F238E27FC236}">
                <a16:creationId xmlns:a16="http://schemas.microsoft.com/office/drawing/2014/main" id="{9642C91A-E519-41A7-AAEE-0A9CC1BCFF87}"/>
              </a:ext>
            </a:extLst>
          </p:cNvPr>
          <p:cNvSpPr txBox="1"/>
          <p:nvPr/>
        </p:nvSpPr>
        <p:spPr>
          <a:xfrm>
            <a:off x="485774" y="1825012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보안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→ [2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 인증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화면에서 아래로 스크롤하여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복구 코드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항목을 찾습니다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4F0DEA0-E69F-4EBE-8FC0-39BB7AF56AD7}"/>
              </a:ext>
            </a:extLst>
          </p:cNvPr>
          <p:cNvSpPr/>
          <p:nvPr/>
        </p:nvSpPr>
        <p:spPr>
          <a:xfrm>
            <a:off x="485906" y="2225750"/>
            <a:ext cx="9720000" cy="457827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5F9B2D84-2321-4EFB-A88F-027D11DB3824}"/>
              </a:ext>
            </a:extLst>
          </p:cNvPr>
          <p:cNvSpPr txBox="1"/>
          <p:nvPr/>
        </p:nvSpPr>
        <p:spPr>
          <a:xfrm>
            <a:off x="1831351" y="23456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1-28&gt;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복구 코드 메뉴 선택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7FA73F1-F784-430A-B691-4001A3AC5E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715" y="2631881"/>
            <a:ext cx="7050383" cy="410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628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28DF56F7-E7D7-417D-AF5E-5D8FE341B56E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회용 코드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10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개가 표시되며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코드 인쇄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또는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코드 다운로드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통해 저장 후 안전한 장소에 보관합니다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B1BCB5-F8D1-4AD7-A67C-82D1FEF2C116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04376FAF-B69F-4ADB-B4D0-50EDCFA3C18D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1-28&gt;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백업 코드 인쇄 및 다운로드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C73514-F58F-4CBC-B088-FDBD83B8D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450" y="2200563"/>
            <a:ext cx="4752913" cy="446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96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1;p34">
            <a:extLst>
              <a:ext uri="{FF2B5EF4-FFF2-40B4-BE49-F238E27FC236}">
                <a16:creationId xmlns:a16="http://schemas.microsoft.com/office/drawing/2014/main" id="{7891BF55-92ED-4DD8-ABA3-65A6A773815D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라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점검하기</a:t>
            </a:r>
          </a:p>
        </p:txBody>
      </p:sp>
      <p:sp>
        <p:nvSpPr>
          <p:cNvPr id="10" name="Google Shape;2922;p34">
            <a:extLst>
              <a:ext uri="{FF2B5EF4-FFF2-40B4-BE49-F238E27FC236}">
                <a16:creationId xmlns:a16="http://schemas.microsoft.com/office/drawing/2014/main" id="{DF1DE268-6D14-45D5-9350-8FF8B406657F}"/>
              </a:ext>
            </a:extLst>
          </p:cNvPr>
          <p:cNvSpPr txBox="1"/>
          <p:nvPr/>
        </p:nvSpPr>
        <p:spPr>
          <a:xfrm>
            <a:off x="485774" y="1825012"/>
            <a:ext cx="9720263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 인증이 ‘사용 </a:t>
            </a:r>
            <a:r>
              <a:rPr lang="ko-KR" altLang="en-US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설정됨’으로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표시되나요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등록한 전화번호가 인증 수단에 정상적으로 표시되나요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3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백업 코드가 생성되어 있으며 저장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또는 인쇄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되었나요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882944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C1C460-58FE-498C-86BD-D16FF7CFC5F1}"/>
              </a:ext>
            </a:extLst>
          </p:cNvPr>
          <p:cNvGrpSpPr/>
          <p:nvPr/>
        </p:nvGrpSpPr>
        <p:grpSpPr>
          <a:xfrm>
            <a:off x="485773" y="1439863"/>
            <a:ext cx="9720002" cy="1624248"/>
            <a:chOff x="485773" y="1439863"/>
            <a:chExt cx="9720002" cy="162424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9154D64-7809-4CDA-BDFE-4F994CAC42CB}"/>
                </a:ext>
              </a:extLst>
            </p:cNvPr>
            <p:cNvSpPr/>
            <p:nvPr/>
          </p:nvSpPr>
          <p:spPr>
            <a:xfrm>
              <a:off x="485775" y="1797720"/>
              <a:ext cx="9720000" cy="612000"/>
            </a:xfrm>
            <a:prstGeom prst="rect">
              <a:avLst/>
            </a:prstGeom>
            <a:solidFill>
              <a:srgbClr val="FDEBDB"/>
            </a:solidFill>
            <a:ln>
              <a:solidFill>
                <a:srgbClr val="FEF4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B897069B-C690-4735-9F77-BA453594AB96}"/>
                </a:ext>
              </a:extLst>
            </p:cNvPr>
            <p:cNvSpPr/>
            <p:nvPr/>
          </p:nvSpPr>
          <p:spPr>
            <a:xfrm>
              <a:off x="485773" y="1439863"/>
              <a:ext cx="9720000" cy="360000"/>
            </a:xfrm>
            <a:prstGeom prst="round2SameRect">
              <a:avLst/>
            </a:prstGeom>
            <a:solidFill>
              <a:srgbClr val="F49737"/>
            </a:solidFill>
            <a:ln>
              <a:solidFill>
                <a:srgbClr val="F49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5" name="Rectangle 31">
              <a:extLst>
                <a:ext uri="{FF2B5EF4-FFF2-40B4-BE49-F238E27FC236}">
                  <a16:creationId xmlns:a16="http://schemas.microsoft.com/office/drawing/2014/main" id="{A015E5F5-450C-47DB-B413-3527CFF67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350" y="1489058"/>
              <a:ext cx="1295226" cy="2616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ko-KR" altLang="en-US" sz="17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관리 콘솔 이해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811022B-B8AF-45BF-B8F3-546D0F63EC42}"/>
                </a:ext>
              </a:extLst>
            </p:cNvPr>
            <p:cNvGrpSpPr/>
            <p:nvPr/>
          </p:nvGrpSpPr>
          <p:grpSpPr>
            <a:xfrm>
              <a:off x="642878" y="2565993"/>
              <a:ext cx="432228" cy="498118"/>
              <a:chOff x="895292" y="1878542"/>
              <a:chExt cx="432228" cy="498118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B037135B-194A-4213-984F-D06274EA3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5292" y="1878542"/>
                <a:ext cx="432228" cy="432495"/>
              </a:xfrm>
              <a:custGeom>
                <a:avLst/>
                <a:gdLst>
                  <a:gd name="T0" fmla="*/ 2193 w 4386"/>
                  <a:gd name="T1" fmla="*/ 4386 h 4386"/>
                  <a:gd name="T2" fmla="*/ 1340 w 4386"/>
                  <a:gd name="T3" fmla="*/ 4214 h 4386"/>
                  <a:gd name="T4" fmla="*/ 643 w 4386"/>
                  <a:gd name="T5" fmla="*/ 3743 h 4386"/>
                  <a:gd name="T6" fmla="*/ 172 w 4386"/>
                  <a:gd name="T7" fmla="*/ 3046 h 4386"/>
                  <a:gd name="T8" fmla="*/ 0 w 4386"/>
                  <a:gd name="T9" fmla="*/ 2193 h 4386"/>
                  <a:gd name="T10" fmla="*/ 172 w 4386"/>
                  <a:gd name="T11" fmla="*/ 1340 h 4386"/>
                  <a:gd name="T12" fmla="*/ 643 w 4386"/>
                  <a:gd name="T13" fmla="*/ 643 h 4386"/>
                  <a:gd name="T14" fmla="*/ 1340 w 4386"/>
                  <a:gd name="T15" fmla="*/ 172 h 4386"/>
                  <a:gd name="T16" fmla="*/ 2193 w 4386"/>
                  <a:gd name="T17" fmla="*/ 0 h 4386"/>
                  <a:gd name="T18" fmla="*/ 3046 w 4386"/>
                  <a:gd name="T19" fmla="*/ 172 h 4386"/>
                  <a:gd name="T20" fmla="*/ 3743 w 4386"/>
                  <a:gd name="T21" fmla="*/ 643 h 4386"/>
                  <a:gd name="T22" fmla="*/ 4214 w 4386"/>
                  <a:gd name="T23" fmla="*/ 1340 h 4386"/>
                  <a:gd name="T24" fmla="*/ 4386 w 4386"/>
                  <a:gd name="T25" fmla="*/ 2193 h 4386"/>
                  <a:gd name="T26" fmla="*/ 4214 w 4386"/>
                  <a:gd name="T27" fmla="*/ 3046 h 4386"/>
                  <a:gd name="T28" fmla="*/ 3743 w 4386"/>
                  <a:gd name="T29" fmla="*/ 3743 h 4386"/>
                  <a:gd name="T30" fmla="*/ 3046 w 4386"/>
                  <a:gd name="T31" fmla="*/ 4214 h 4386"/>
                  <a:gd name="T32" fmla="*/ 2193 w 4386"/>
                  <a:gd name="T33" fmla="*/ 4386 h 4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86" h="4386">
                    <a:moveTo>
                      <a:pt x="2193" y="4386"/>
                    </a:moveTo>
                    <a:cubicBezTo>
                      <a:pt x="1897" y="4386"/>
                      <a:pt x="1609" y="4328"/>
                      <a:pt x="1340" y="4214"/>
                    </a:cubicBezTo>
                    <a:cubicBezTo>
                      <a:pt x="1079" y="4103"/>
                      <a:pt x="844" y="3945"/>
                      <a:pt x="643" y="3743"/>
                    </a:cubicBezTo>
                    <a:cubicBezTo>
                      <a:pt x="441" y="3542"/>
                      <a:pt x="283" y="3307"/>
                      <a:pt x="172" y="3046"/>
                    </a:cubicBezTo>
                    <a:cubicBezTo>
                      <a:pt x="58" y="2777"/>
                      <a:pt x="0" y="2490"/>
                      <a:pt x="0" y="2193"/>
                    </a:cubicBezTo>
                    <a:cubicBezTo>
                      <a:pt x="0" y="1897"/>
                      <a:pt x="58" y="1609"/>
                      <a:pt x="172" y="1340"/>
                    </a:cubicBezTo>
                    <a:cubicBezTo>
                      <a:pt x="283" y="1079"/>
                      <a:pt x="441" y="844"/>
                      <a:pt x="643" y="643"/>
                    </a:cubicBezTo>
                    <a:cubicBezTo>
                      <a:pt x="844" y="441"/>
                      <a:pt x="1079" y="283"/>
                      <a:pt x="1340" y="172"/>
                    </a:cubicBezTo>
                    <a:cubicBezTo>
                      <a:pt x="1609" y="58"/>
                      <a:pt x="1897" y="0"/>
                      <a:pt x="2193" y="0"/>
                    </a:cubicBezTo>
                    <a:cubicBezTo>
                      <a:pt x="2489" y="0"/>
                      <a:pt x="2777" y="58"/>
                      <a:pt x="3046" y="172"/>
                    </a:cubicBezTo>
                    <a:cubicBezTo>
                      <a:pt x="3307" y="283"/>
                      <a:pt x="3542" y="441"/>
                      <a:pt x="3743" y="643"/>
                    </a:cubicBezTo>
                    <a:cubicBezTo>
                      <a:pt x="3945" y="844"/>
                      <a:pt x="4103" y="1079"/>
                      <a:pt x="4214" y="1340"/>
                    </a:cubicBezTo>
                    <a:cubicBezTo>
                      <a:pt x="4328" y="1609"/>
                      <a:pt x="4386" y="1897"/>
                      <a:pt x="4386" y="2193"/>
                    </a:cubicBezTo>
                    <a:cubicBezTo>
                      <a:pt x="4386" y="2489"/>
                      <a:pt x="4328" y="2777"/>
                      <a:pt x="4214" y="3046"/>
                    </a:cubicBezTo>
                    <a:cubicBezTo>
                      <a:pt x="4103" y="3307"/>
                      <a:pt x="3945" y="3542"/>
                      <a:pt x="3743" y="3743"/>
                    </a:cubicBezTo>
                    <a:cubicBezTo>
                      <a:pt x="3542" y="3945"/>
                      <a:pt x="3307" y="4103"/>
                      <a:pt x="3046" y="4214"/>
                    </a:cubicBezTo>
                    <a:cubicBezTo>
                      <a:pt x="2777" y="4328"/>
                      <a:pt x="2489" y="4386"/>
                      <a:pt x="2193" y="4386"/>
                    </a:cubicBezTo>
                    <a:close/>
                  </a:path>
                </a:pathLst>
              </a:custGeom>
              <a:solidFill>
                <a:srgbClr val="FDEB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/>
                <a:endParaRPr lang="ko-KR" altLang="en-US" sz="1200" dirty="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2" name="Rectangle 31">
                <a:extLst>
                  <a:ext uri="{FF2B5EF4-FFF2-40B4-BE49-F238E27FC236}">
                    <a16:creationId xmlns:a16="http://schemas.microsoft.com/office/drawing/2014/main" id="{986A6AFF-90E1-428E-815E-E8D1E39D1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846" y="1902684"/>
                <a:ext cx="254878" cy="473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algn="just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sz="28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rgbClr val="F49737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A</a:t>
                </a: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6E7A9DD-EF56-40CC-A738-D73A17C6E26D}"/>
                </a:ext>
              </a:extLst>
            </p:cNvPr>
            <p:cNvGrpSpPr/>
            <p:nvPr/>
          </p:nvGrpSpPr>
          <p:grpSpPr>
            <a:xfrm>
              <a:off x="642878" y="1864183"/>
              <a:ext cx="8858140" cy="498118"/>
              <a:chOff x="642878" y="1864183"/>
              <a:chExt cx="8858140" cy="498118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69012612-0981-427F-BECC-4B4DD2690E04}"/>
                  </a:ext>
                </a:extLst>
              </p:cNvPr>
              <p:cNvGrpSpPr/>
              <p:nvPr/>
            </p:nvGrpSpPr>
            <p:grpSpPr>
              <a:xfrm>
                <a:off x="642878" y="1864183"/>
                <a:ext cx="8858140" cy="432495"/>
                <a:chOff x="895292" y="1765845"/>
                <a:chExt cx="8858140" cy="432495"/>
              </a:xfrm>
            </p:grpSpPr>
            <p:sp>
              <p:nvSpPr>
                <p:cNvPr id="17" name="Rectangle 31">
                  <a:extLst>
                    <a:ext uri="{FF2B5EF4-FFF2-40B4-BE49-F238E27FC236}">
                      <a16:creationId xmlns:a16="http://schemas.microsoft.com/office/drawing/2014/main" id="{6AC49E17-D6E0-4ACD-873B-2CE7D4F17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3" y="1857798"/>
                  <a:ext cx="8299659" cy="3046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lvl="1" latinLnBrk="0">
                    <a:lnSpc>
                      <a:spcPct val="110000"/>
                    </a:lnSpc>
                    <a:spcBef>
                      <a:spcPts val="200"/>
                    </a:spcBef>
                    <a:buClr>
                      <a:srgbClr val="7A8C96"/>
                    </a:buClr>
                    <a:tabLst>
                      <a:tab pos="406241" algn="l"/>
                    </a:tabLst>
                  </a:pPr>
                  <a:r>
                    <a:rPr lang="ko-KR" altLang="en-US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관리 콘솔의 주요 역할을 한 문장으로 설명해 보세요</a:t>
                  </a:r>
                  <a:r>
                    <a:rPr lang="en-US" altLang="ko-KR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.</a:t>
                  </a: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516A2BC-2DF8-462F-BDCA-DCBC962C2E54}"/>
                    </a:ext>
                  </a:extLst>
                </p:cNvPr>
                <p:cNvGrpSpPr/>
                <p:nvPr/>
              </p:nvGrpSpPr>
              <p:grpSpPr>
                <a:xfrm>
                  <a:off x="895292" y="1765845"/>
                  <a:ext cx="432228" cy="432495"/>
                  <a:chOff x="895292" y="1878542"/>
                  <a:chExt cx="432228" cy="432495"/>
                </a:xfrm>
              </p:grpSpPr>
              <p:sp>
                <p:nvSpPr>
                  <p:cNvPr id="19" name="Freeform 21">
                    <a:extLst>
                      <a:ext uri="{FF2B5EF4-FFF2-40B4-BE49-F238E27FC236}">
                        <a16:creationId xmlns:a16="http://schemas.microsoft.com/office/drawing/2014/main" id="{E7C912EA-7C03-4729-9AEF-AEBD154755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95292" y="1878542"/>
                    <a:ext cx="432228" cy="432495"/>
                  </a:xfrm>
                  <a:custGeom>
                    <a:avLst/>
                    <a:gdLst>
                      <a:gd name="T0" fmla="*/ 2193 w 4386"/>
                      <a:gd name="T1" fmla="*/ 4386 h 4386"/>
                      <a:gd name="T2" fmla="*/ 1340 w 4386"/>
                      <a:gd name="T3" fmla="*/ 4214 h 4386"/>
                      <a:gd name="T4" fmla="*/ 643 w 4386"/>
                      <a:gd name="T5" fmla="*/ 3743 h 4386"/>
                      <a:gd name="T6" fmla="*/ 172 w 4386"/>
                      <a:gd name="T7" fmla="*/ 3046 h 4386"/>
                      <a:gd name="T8" fmla="*/ 0 w 4386"/>
                      <a:gd name="T9" fmla="*/ 2193 h 4386"/>
                      <a:gd name="T10" fmla="*/ 172 w 4386"/>
                      <a:gd name="T11" fmla="*/ 1340 h 4386"/>
                      <a:gd name="T12" fmla="*/ 643 w 4386"/>
                      <a:gd name="T13" fmla="*/ 643 h 4386"/>
                      <a:gd name="T14" fmla="*/ 1340 w 4386"/>
                      <a:gd name="T15" fmla="*/ 172 h 4386"/>
                      <a:gd name="T16" fmla="*/ 2193 w 4386"/>
                      <a:gd name="T17" fmla="*/ 0 h 4386"/>
                      <a:gd name="T18" fmla="*/ 3046 w 4386"/>
                      <a:gd name="T19" fmla="*/ 172 h 4386"/>
                      <a:gd name="T20" fmla="*/ 3743 w 4386"/>
                      <a:gd name="T21" fmla="*/ 643 h 4386"/>
                      <a:gd name="T22" fmla="*/ 4214 w 4386"/>
                      <a:gd name="T23" fmla="*/ 1340 h 4386"/>
                      <a:gd name="T24" fmla="*/ 4386 w 4386"/>
                      <a:gd name="T25" fmla="*/ 2193 h 4386"/>
                      <a:gd name="T26" fmla="*/ 4214 w 4386"/>
                      <a:gd name="T27" fmla="*/ 3046 h 4386"/>
                      <a:gd name="T28" fmla="*/ 3743 w 4386"/>
                      <a:gd name="T29" fmla="*/ 3743 h 4386"/>
                      <a:gd name="T30" fmla="*/ 3046 w 4386"/>
                      <a:gd name="T31" fmla="*/ 4214 h 4386"/>
                      <a:gd name="T32" fmla="*/ 2193 w 4386"/>
                      <a:gd name="T33" fmla="*/ 4386 h 43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4386" h="4386">
                        <a:moveTo>
                          <a:pt x="2193" y="4386"/>
                        </a:moveTo>
                        <a:cubicBezTo>
                          <a:pt x="1897" y="4386"/>
                          <a:pt x="1609" y="4328"/>
                          <a:pt x="1340" y="4214"/>
                        </a:cubicBezTo>
                        <a:cubicBezTo>
                          <a:pt x="1079" y="4103"/>
                          <a:pt x="844" y="3945"/>
                          <a:pt x="643" y="3743"/>
                        </a:cubicBezTo>
                        <a:cubicBezTo>
                          <a:pt x="441" y="3542"/>
                          <a:pt x="283" y="3307"/>
                          <a:pt x="172" y="3046"/>
                        </a:cubicBezTo>
                        <a:cubicBezTo>
                          <a:pt x="58" y="2777"/>
                          <a:pt x="0" y="2490"/>
                          <a:pt x="0" y="2193"/>
                        </a:cubicBezTo>
                        <a:cubicBezTo>
                          <a:pt x="0" y="1897"/>
                          <a:pt x="58" y="1609"/>
                          <a:pt x="172" y="1340"/>
                        </a:cubicBezTo>
                        <a:cubicBezTo>
                          <a:pt x="283" y="1079"/>
                          <a:pt x="441" y="844"/>
                          <a:pt x="643" y="643"/>
                        </a:cubicBezTo>
                        <a:cubicBezTo>
                          <a:pt x="844" y="441"/>
                          <a:pt x="1079" y="283"/>
                          <a:pt x="1340" y="172"/>
                        </a:cubicBezTo>
                        <a:cubicBezTo>
                          <a:pt x="1609" y="58"/>
                          <a:pt x="1897" y="0"/>
                          <a:pt x="2193" y="0"/>
                        </a:cubicBezTo>
                        <a:cubicBezTo>
                          <a:pt x="2489" y="0"/>
                          <a:pt x="2777" y="58"/>
                          <a:pt x="3046" y="172"/>
                        </a:cubicBezTo>
                        <a:cubicBezTo>
                          <a:pt x="3307" y="283"/>
                          <a:pt x="3542" y="441"/>
                          <a:pt x="3743" y="643"/>
                        </a:cubicBezTo>
                        <a:cubicBezTo>
                          <a:pt x="3945" y="844"/>
                          <a:pt x="4103" y="1079"/>
                          <a:pt x="4214" y="1340"/>
                        </a:cubicBezTo>
                        <a:cubicBezTo>
                          <a:pt x="4328" y="1609"/>
                          <a:pt x="4386" y="1897"/>
                          <a:pt x="4386" y="2193"/>
                        </a:cubicBezTo>
                        <a:cubicBezTo>
                          <a:pt x="4386" y="2489"/>
                          <a:pt x="4328" y="2777"/>
                          <a:pt x="4214" y="3046"/>
                        </a:cubicBezTo>
                        <a:cubicBezTo>
                          <a:pt x="4103" y="3307"/>
                          <a:pt x="3945" y="3542"/>
                          <a:pt x="3743" y="3743"/>
                        </a:cubicBezTo>
                        <a:cubicBezTo>
                          <a:pt x="3542" y="3945"/>
                          <a:pt x="3307" y="4103"/>
                          <a:pt x="3046" y="4214"/>
                        </a:cubicBezTo>
                        <a:cubicBezTo>
                          <a:pt x="2777" y="4328"/>
                          <a:pt x="2489" y="4386"/>
                          <a:pt x="2193" y="4386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atinLnBrk="0"/>
                    <a:endParaRPr lang="ko-KR" altLang="en-US" sz="1200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20" name="Freeform 22">
                    <a:extLst>
                      <a:ext uri="{FF2B5EF4-FFF2-40B4-BE49-F238E27FC236}">
                        <a16:creationId xmlns:a16="http://schemas.microsoft.com/office/drawing/2014/main" id="{46627185-0638-4863-A7D2-787BDC4ECB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8381" y="1921631"/>
                    <a:ext cx="346050" cy="346317"/>
                  </a:xfrm>
                  <a:custGeom>
                    <a:avLst/>
                    <a:gdLst>
                      <a:gd name="T0" fmla="*/ 1757 w 3514"/>
                      <a:gd name="T1" fmla="*/ 3514 h 3514"/>
                      <a:gd name="T2" fmla="*/ 1074 w 3514"/>
                      <a:gd name="T3" fmla="*/ 3376 h 3514"/>
                      <a:gd name="T4" fmla="*/ 515 w 3514"/>
                      <a:gd name="T5" fmla="*/ 2999 h 3514"/>
                      <a:gd name="T6" fmla="*/ 138 w 3514"/>
                      <a:gd name="T7" fmla="*/ 2440 h 3514"/>
                      <a:gd name="T8" fmla="*/ 0 w 3514"/>
                      <a:gd name="T9" fmla="*/ 1757 h 3514"/>
                      <a:gd name="T10" fmla="*/ 138 w 3514"/>
                      <a:gd name="T11" fmla="*/ 1074 h 3514"/>
                      <a:gd name="T12" fmla="*/ 515 w 3514"/>
                      <a:gd name="T13" fmla="*/ 515 h 3514"/>
                      <a:gd name="T14" fmla="*/ 1074 w 3514"/>
                      <a:gd name="T15" fmla="*/ 138 h 3514"/>
                      <a:gd name="T16" fmla="*/ 1757 w 3514"/>
                      <a:gd name="T17" fmla="*/ 0 h 3514"/>
                      <a:gd name="T18" fmla="*/ 2440 w 3514"/>
                      <a:gd name="T19" fmla="*/ 138 h 3514"/>
                      <a:gd name="T20" fmla="*/ 2999 w 3514"/>
                      <a:gd name="T21" fmla="*/ 515 h 3514"/>
                      <a:gd name="T22" fmla="*/ 3376 w 3514"/>
                      <a:gd name="T23" fmla="*/ 1074 h 3514"/>
                      <a:gd name="T24" fmla="*/ 3514 w 3514"/>
                      <a:gd name="T25" fmla="*/ 1757 h 3514"/>
                      <a:gd name="T26" fmla="*/ 3376 w 3514"/>
                      <a:gd name="T27" fmla="*/ 2440 h 3514"/>
                      <a:gd name="T28" fmla="*/ 2999 w 3514"/>
                      <a:gd name="T29" fmla="*/ 2999 h 3514"/>
                      <a:gd name="T30" fmla="*/ 2440 w 3514"/>
                      <a:gd name="T31" fmla="*/ 3376 h 3514"/>
                      <a:gd name="T32" fmla="*/ 1757 w 3514"/>
                      <a:gd name="T33" fmla="*/ 3514 h 35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514" h="3514">
                        <a:moveTo>
                          <a:pt x="1757" y="3514"/>
                        </a:moveTo>
                        <a:cubicBezTo>
                          <a:pt x="1519" y="3514"/>
                          <a:pt x="1289" y="3467"/>
                          <a:pt x="1074" y="3376"/>
                        </a:cubicBezTo>
                        <a:cubicBezTo>
                          <a:pt x="865" y="3288"/>
                          <a:pt x="677" y="3161"/>
                          <a:pt x="515" y="2999"/>
                        </a:cubicBezTo>
                        <a:cubicBezTo>
                          <a:pt x="353" y="2837"/>
                          <a:pt x="226" y="2649"/>
                          <a:pt x="138" y="2440"/>
                        </a:cubicBezTo>
                        <a:cubicBezTo>
                          <a:pt x="47" y="2225"/>
                          <a:pt x="0" y="1995"/>
                          <a:pt x="0" y="1757"/>
                        </a:cubicBezTo>
                        <a:cubicBezTo>
                          <a:pt x="0" y="1519"/>
                          <a:pt x="47" y="1289"/>
                          <a:pt x="138" y="1074"/>
                        </a:cubicBezTo>
                        <a:cubicBezTo>
                          <a:pt x="226" y="865"/>
                          <a:pt x="353" y="677"/>
                          <a:pt x="515" y="515"/>
                        </a:cubicBezTo>
                        <a:cubicBezTo>
                          <a:pt x="677" y="353"/>
                          <a:pt x="865" y="226"/>
                          <a:pt x="1074" y="138"/>
                        </a:cubicBezTo>
                        <a:cubicBezTo>
                          <a:pt x="1289" y="47"/>
                          <a:pt x="1519" y="0"/>
                          <a:pt x="1757" y="0"/>
                        </a:cubicBezTo>
                        <a:cubicBezTo>
                          <a:pt x="1995" y="0"/>
                          <a:pt x="2225" y="47"/>
                          <a:pt x="2440" y="138"/>
                        </a:cubicBezTo>
                        <a:cubicBezTo>
                          <a:pt x="2649" y="226"/>
                          <a:pt x="2837" y="353"/>
                          <a:pt x="2999" y="515"/>
                        </a:cubicBezTo>
                        <a:cubicBezTo>
                          <a:pt x="3161" y="677"/>
                          <a:pt x="3288" y="865"/>
                          <a:pt x="3376" y="1074"/>
                        </a:cubicBezTo>
                        <a:cubicBezTo>
                          <a:pt x="3467" y="1289"/>
                          <a:pt x="3514" y="1519"/>
                          <a:pt x="3514" y="1757"/>
                        </a:cubicBezTo>
                        <a:cubicBezTo>
                          <a:pt x="3514" y="1995"/>
                          <a:pt x="3467" y="2225"/>
                          <a:pt x="3376" y="2440"/>
                        </a:cubicBezTo>
                        <a:cubicBezTo>
                          <a:pt x="3288" y="2649"/>
                          <a:pt x="3161" y="2837"/>
                          <a:pt x="2999" y="2999"/>
                        </a:cubicBezTo>
                        <a:cubicBezTo>
                          <a:pt x="2837" y="3161"/>
                          <a:pt x="2649" y="3288"/>
                          <a:pt x="2440" y="3376"/>
                        </a:cubicBezTo>
                        <a:cubicBezTo>
                          <a:pt x="2225" y="3467"/>
                          <a:pt x="1995" y="3514"/>
                          <a:pt x="1757" y="3514"/>
                        </a:cubicBezTo>
                        <a:close/>
                      </a:path>
                    </a:pathLst>
                  </a:custGeom>
                  <a:solidFill>
                    <a:srgbClr val="FDEBD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atinLnBrk="0"/>
                    <a:endParaRPr lang="ko-KR" altLang="en-US" sz="1200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</p:grpSp>
          </p:grpSp>
          <p:sp>
            <p:nvSpPr>
              <p:cNvPr id="16" name="Rectangle 31">
                <a:extLst>
                  <a:ext uri="{FF2B5EF4-FFF2-40B4-BE49-F238E27FC236}">
                    <a16:creationId xmlns:a16="http://schemas.microsoft.com/office/drawing/2014/main" id="{72611FB8-3821-47EA-941E-1F3F98D54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028" y="1888325"/>
                <a:ext cx="259686" cy="473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algn="just" latinLnBrk="0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sz="28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rgbClr val="F49737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Q</a:t>
                </a: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EDCE3BE-6916-42A0-9623-AD0CADCDC059}"/>
                </a:ext>
              </a:extLst>
            </p:cNvPr>
            <p:cNvGrpSpPr/>
            <p:nvPr/>
          </p:nvGrpSpPr>
          <p:grpSpPr>
            <a:xfrm>
              <a:off x="9540520" y="1656296"/>
              <a:ext cx="596461" cy="84354"/>
              <a:chOff x="9067796" y="1987097"/>
              <a:chExt cx="596461" cy="84354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166D0593-42E0-46CD-A304-2575980087F3}"/>
                  </a:ext>
                </a:extLst>
              </p:cNvPr>
              <p:cNvSpPr/>
              <p:nvPr/>
            </p:nvSpPr>
            <p:spPr>
              <a:xfrm>
                <a:off x="9067796" y="1987097"/>
                <a:ext cx="84354" cy="84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183521C0-3615-4C2C-B96D-02E5B1C4E3E7}"/>
                  </a:ext>
                </a:extLst>
              </p:cNvPr>
              <p:cNvSpPr/>
              <p:nvPr/>
            </p:nvSpPr>
            <p:spPr>
              <a:xfrm>
                <a:off x="9195822" y="1987097"/>
                <a:ext cx="82800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0A56B75C-63CD-4A8F-8BC5-65E209636D0A}"/>
                  </a:ext>
                </a:extLst>
              </p:cNvPr>
              <p:cNvSpPr/>
              <p:nvPr/>
            </p:nvSpPr>
            <p:spPr>
              <a:xfrm>
                <a:off x="9323850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B7205B08-CD9E-4C74-B2F2-6416EDA028D7}"/>
                  </a:ext>
                </a:extLst>
              </p:cNvPr>
              <p:cNvSpPr/>
              <p:nvPr/>
            </p:nvSpPr>
            <p:spPr>
              <a:xfrm>
                <a:off x="9451877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52D86463-AB5E-4BF5-ABF2-CFE4898DC8AD}"/>
                  </a:ext>
                </a:extLst>
              </p:cNvPr>
              <p:cNvSpPr/>
              <p:nvPr/>
            </p:nvSpPr>
            <p:spPr>
              <a:xfrm>
                <a:off x="9579903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B676E79-CB64-4DAB-879C-849FE1A1D1EC}"/>
              </a:ext>
            </a:extLst>
          </p:cNvPr>
          <p:cNvGrpSpPr/>
          <p:nvPr/>
        </p:nvGrpSpPr>
        <p:grpSpPr>
          <a:xfrm>
            <a:off x="485773" y="3285286"/>
            <a:ext cx="9720002" cy="1624248"/>
            <a:chOff x="485773" y="1439863"/>
            <a:chExt cx="9720002" cy="162424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684B7A0-1E07-455C-8FC8-AB54F60A706C}"/>
                </a:ext>
              </a:extLst>
            </p:cNvPr>
            <p:cNvSpPr/>
            <p:nvPr/>
          </p:nvSpPr>
          <p:spPr>
            <a:xfrm>
              <a:off x="485775" y="1797720"/>
              <a:ext cx="9720000" cy="612000"/>
            </a:xfrm>
            <a:prstGeom prst="rect">
              <a:avLst/>
            </a:prstGeom>
            <a:solidFill>
              <a:srgbClr val="FDEBDB"/>
            </a:solidFill>
            <a:ln>
              <a:solidFill>
                <a:srgbClr val="FEF4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E8F083D7-BAE5-470F-83AC-8661376B2924}"/>
                </a:ext>
              </a:extLst>
            </p:cNvPr>
            <p:cNvSpPr/>
            <p:nvPr/>
          </p:nvSpPr>
          <p:spPr>
            <a:xfrm>
              <a:off x="485773" y="1439863"/>
              <a:ext cx="9720000" cy="360000"/>
            </a:xfrm>
            <a:prstGeom prst="round2SameRect">
              <a:avLst/>
            </a:prstGeom>
            <a:solidFill>
              <a:srgbClr val="F49737"/>
            </a:solidFill>
            <a:ln>
              <a:solidFill>
                <a:srgbClr val="F49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34A33237-E434-478F-BCFC-11F3B19D7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350" y="1489058"/>
              <a:ext cx="1319272" cy="2616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ko-KR" altLang="en-US" sz="17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조직 단위</a:t>
              </a:r>
              <a:r>
                <a:rPr lang="en-US" altLang="ko-KR" sz="17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(OU)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94E241B1-44D7-4780-8795-6F578A6A3BA2}"/>
                </a:ext>
              </a:extLst>
            </p:cNvPr>
            <p:cNvGrpSpPr/>
            <p:nvPr/>
          </p:nvGrpSpPr>
          <p:grpSpPr>
            <a:xfrm>
              <a:off x="642878" y="2565993"/>
              <a:ext cx="432228" cy="498118"/>
              <a:chOff x="895292" y="1878542"/>
              <a:chExt cx="432228" cy="498118"/>
            </a:xfrm>
          </p:grpSpPr>
          <p:sp>
            <p:nvSpPr>
              <p:cNvPr id="41" name="Freeform 21">
                <a:extLst>
                  <a:ext uri="{FF2B5EF4-FFF2-40B4-BE49-F238E27FC236}">
                    <a16:creationId xmlns:a16="http://schemas.microsoft.com/office/drawing/2014/main" id="{67AF3160-E871-480C-A7FC-F09B119ED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5292" y="1878542"/>
                <a:ext cx="432228" cy="432495"/>
              </a:xfrm>
              <a:custGeom>
                <a:avLst/>
                <a:gdLst>
                  <a:gd name="T0" fmla="*/ 2193 w 4386"/>
                  <a:gd name="T1" fmla="*/ 4386 h 4386"/>
                  <a:gd name="T2" fmla="*/ 1340 w 4386"/>
                  <a:gd name="T3" fmla="*/ 4214 h 4386"/>
                  <a:gd name="T4" fmla="*/ 643 w 4386"/>
                  <a:gd name="T5" fmla="*/ 3743 h 4386"/>
                  <a:gd name="T6" fmla="*/ 172 w 4386"/>
                  <a:gd name="T7" fmla="*/ 3046 h 4386"/>
                  <a:gd name="T8" fmla="*/ 0 w 4386"/>
                  <a:gd name="T9" fmla="*/ 2193 h 4386"/>
                  <a:gd name="T10" fmla="*/ 172 w 4386"/>
                  <a:gd name="T11" fmla="*/ 1340 h 4386"/>
                  <a:gd name="T12" fmla="*/ 643 w 4386"/>
                  <a:gd name="T13" fmla="*/ 643 h 4386"/>
                  <a:gd name="T14" fmla="*/ 1340 w 4386"/>
                  <a:gd name="T15" fmla="*/ 172 h 4386"/>
                  <a:gd name="T16" fmla="*/ 2193 w 4386"/>
                  <a:gd name="T17" fmla="*/ 0 h 4386"/>
                  <a:gd name="T18" fmla="*/ 3046 w 4386"/>
                  <a:gd name="T19" fmla="*/ 172 h 4386"/>
                  <a:gd name="T20" fmla="*/ 3743 w 4386"/>
                  <a:gd name="T21" fmla="*/ 643 h 4386"/>
                  <a:gd name="T22" fmla="*/ 4214 w 4386"/>
                  <a:gd name="T23" fmla="*/ 1340 h 4386"/>
                  <a:gd name="T24" fmla="*/ 4386 w 4386"/>
                  <a:gd name="T25" fmla="*/ 2193 h 4386"/>
                  <a:gd name="T26" fmla="*/ 4214 w 4386"/>
                  <a:gd name="T27" fmla="*/ 3046 h 4386"/>
                  <a:gd name="T28" fmla="*/ 3743 w 4386"/>
                  <a:gd name="T29" fmla="*/ 3743 h 4386"/>
                  <a:gd name="T30" fmla="*/ 3046 w 4386"/>
                  <a:gd name="T31" fmla="*/ 4214 h 4386"/>
                  <a:gd name="T32" fmla="*/ 2193 w 4386"/>
                  <a:gd name="T33" fmla="*/ 4386 h 4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86" h="4386">
                    <a:moveTo>
                      <a:pt x="2193" y="4386"/>
                    </a:moveTo>
                    <a:cubicBezTo>
                      <a:pt x="1897" y="4386"/>
                      <a:pt x="1609" y="4328"/>
                      <a:pt x="1340" y="4214"/>
                    </a:cubicBezTo>
                    <a:cubicBezTo>
                      <a:pt x="1079" y="4103"/>
                      <a:pt x="844" y="3945"/>
                      <a:pt x="643" y="3743"/>
                    </a:cubicBezTo>
                    <a:cubicBezTo>
                      <a:pt x="441" y="3542"/>
                      <a:pt x="283" y="3307"/>
                      <a:pt x="172" y="3046"/>
                    </a:cubicBezTo>
                    <a:cubicBezTo>
                      <a:pt x="58" y="2777"/>
                      <a:pt x="0" y="2490"/>
                      <a:pt x="0" y="2193"/>
                    </a:cubicBezTo>
                    <a:cubicBezTo>
                      <a:pt x="0" y="1897"/>
                      <a:pt x="58" y="1609"/>
                      <a:pt x="172" y="1340"/>
                    </a:cubicBezTo>
                    <a:cubicBezTo>
                      <a:pt x="283" y="1079"/>
                      <a:pt x="441" y="844"/>
                      <a:pt x="643" y="643"/>
                    </a:cubicBezTo>
                    <a:cubicBezTo>
                      <a:pt x="844" y="441"/>
                      <a:pt x="1079" y="283"/>
                      <a:pt x="1340" y="172"/>
                    </a:cubicBezTo>
                    <a:cubicBezTo>
                      <a:pt x="1609" y="58"/>
                      <a:pt x="1897" y="0"/>
                      <a:pt x="2193" y="0"/>
                    </a:cubicBezTo>
                    <a:cubicBezTo>
                      <a:pt x="2489" y="0"/>
                      <a:pt x="2777" y="58"/>
                      <a:pt x="3046" y="172"/>
                    </a:cubicBezTo>
                    <a:cubicBezTo>
                      <a:pt x="3307" y="283"/>
                      <a:pt x="3542" y="441"/>
                      <a:pt x="3743" y="643"/>
                    </a:cubicBezTo>
                    <a:cubicBezTo>
                      <a:pt x="3945" y="844"/>
                      <a:pt x="4103" y="1079"/>
                      <a:pt x="4214" y="1340"/>
                    </a:cubicBezTo>
                    <a:cubicBezTo>
                      <a:pt x="4328" y="1609"/>
                      <a:pt x="4386" y="1897"/>
                      <a:pt x="4386" y="2193"/>
                    </a:cubicBezTo>
                    <a:cubicBezTo>
                      <a:pt x="4386" y="2489"/>
                      <a:pt x="4328" y="2777"/>
                      <a:pt x="4214" y="3046"/>
                    </a:cubicBezTo>
                    <a:cubicBezTo>
                      <a:pt x="4103" y="3307"/>
                      <a:pt x="3945" y="3542"/>
                      <a:pt x="3743" y="3743"/>
                    </a:cubicBezTo>
                    <a:cubicBezTo>
                      <a:pt x="3542" y="3945"/>
                      <a:pt x="3307" y="4103"/>
                      <a:pt x="3046" y="4214"/>
                    </a:cubicBezTo>
                    <a:cubicBezTo>
                      <a:pt x="2777" y="4328"/>
                      <a:pt x="2489" y="4386"/>
                      <a:pt x="2193" y="4386"/>
                    </a:cubicBezTo>
                    <a:close/>
                  </a:path>
                </a:pathLst>
              </a:custGeom>
              <a:solidFill>
                <a:srgbClr val="FDEB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/>
                <a:endParaRPr lang="ko-KR" altLang="en-US" sz="1200" dirty="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2" name="Rectangle 31">
                <a:extLst>
                  <a:ext uri="{FF2B5EF4-FFF2-40B4-BE49-F238E27FC236}">
                    <a16:creationId xmlns:a16="http://schemas.microsoft.com/office/drawing/2014/main" id="{CE2DE1A1-1574-4344-BA64-B27B088BC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846" y="1902684"/>
                <a:ext cx="254878" cy="473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algn="just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sz="28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rgbClr val="F49737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A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B52D499-54F7-497F-852B-4B119F915449}"/>
                </a:ext>
              </a:extLst>
            </p:cNvPr>
            <p:cNvGrpSpPr/>
            <p:nvPr/>
          </p:nvGrpSpPr>
          <p:grpSpPr>
            <a:xfrm>
              <a:off x="642878" y="1864183"/>
              <a:ext cx="8858140" cy="498118"/>
              <a:chOff x="642878" y="1864183"/>
              <a:chExt cx="8858140" cy="498118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D48E61B7-CF95-471B-931A-FF7477402990}"/>
                  </a:ext>
                </a:extLst>
              </p:cNvPr>
              <p:cNvGrpSpPr/>
              <p:nvPr/>
            </p:nvGrpSpPr>
            <p:grpSpPr>
              <a:xfrm>
                <a:off x="642878" y="1864183"/>
                <a:ext cx="8858140" cy="432495"/>
                <a:chOff x="895292" y="1765845"/>
                <a:chExt cx="8858140" cy="432495"/>
              </a:xfrm>
            </p:grpSpPr>
            <p:sp>
              <p:nvSpPr>
                <p:cNvPr id="37" name="Rectangle 31">
                  <a:extLst>
                    <a:ext uri="{FF2B5EF4-FFF2-40B4-BE49-F238E27FC236}">
                      <a16:creationId xmlns:a16="http://schemas.microsoft.com/office/drawing/2014/main" id="{1066C9F0-823C-4D1E-A5AA-5BBEEAAA84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3" y="1857798"/>
                  <a:ext cx="8299659" cy="3046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lvl="1" latinLnBrk="0">
                    <a:lnSpc>
                      <a:spcPct val="110000"/>
                    </a:lnSpc>
                    <a:spcBef>
                      <a:spcPts val="200"/>
                    </a:spcBef>
                    <a:buClr>
                      <a:srgbClr val="7A8C96"/>
                    </a:buClr>
                    <a:tabLst>
                      <a:tab pos="406241" algn="l"/>
                    </a:tabLst>
                  </a:pPr>
                  <a:r>
                    <a:rPr lang="ko-KR" altLang="en-US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조직 단위</a:t>
                  </a:r>
                  <a:r>
                    <a:rPr lang="en-US" altLang="ko-KR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(OU)</a:t>
                  </a:r>
                  <a:r>
                    <a:rPr lang="ko-KR" altLang="en-US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의 개념과 역할을 간단히 설명해 보세요</a:t>
                  </a:r>
                  <a:r>
                    <a:rPr lang="en-US" altLang="ko-KR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.</a:t>
                  </a:r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AE1C13BF-175E-4754-860F-C7E3809C1880}"/>
                    </a:ext>
                  </a:extLst>
                </p:cNvPr>
                <p:cNvGrpSpPr/>
                <p:nvPr/>
              </p:nvGrpSpPr>
              <p:grpSpPr>
                <a:xfrm>
                  <a:off x="895292" y="1765845"/>
                  <a:ext cx="432228" cy="432495"/>
                  <a:chOff x="895292" y="1878542"/>
                  <a:chExt cx="432228" cy="432495"/>
                </a:xfrm>
              </p:grpSpPr>
              <p:sp>
                <p:nvSpPr>
                  <p:cNvPr id="39" name="Freeform 21">
                    <a:extLst>
                      <a:ext uri="{FF2B5EF4-FFF2-40B4-BE49-F238E27FC236}">
                        <a16:creationId xmlns:a16="http://schemas.microsoft.com/office/drawing/2014/main" id="{4FACC84A-B456-42A7-96D7-7F1B102343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95292" y="1878542"/>
                    <a:ext cx="432228" cy="432495"/>
                  </a:xfrm>
                  <a:custGeom>
                    <a:avLst/>
                    <a:gdLst>
                      <a:gd name="T0" fmla="*/ 2193 w 4386"/>
                      <a:gd name="T1" fmla="*/ 4386 h 4386"/>
                      <a:gd name="T2" fmla="*/ 1340 w 4386"/>
                      <a:gd name="T3" fmla="*/ 4214 h 4386"/>
                      <a:gd name="T4" fmla="*/ 643 w 4386"/>
                      <a:gd name="T5" fmla="*/ 3743 h 4386"/>
                      <a:gd name="T6" fmla="*/ 172 w 4386"/>
                      <a:gd name="T7" fmla="*/ 3046 h 4386"/>
                      <a:gd name="T8" fmla="*/ 0 w 4386"/>
                      <a:gd name="T9" fmla="*/ 2193 h 4386"/>
                      <a:gd name="T10" fmla="*/ 172 w 4386"/>
                      <a:gd name="T11" fmla="*/ 1340 h 4386"/>
                      <a:gd name="T12" fmla="*/ 643 w 4386"/>
                      <a:gd name="T13" fmla="*/ 643 h 4386"/>
                      <a:gd name="T14" fmla="*/ 1340 w 4386"/>
                      <a:gd name="T15" fmla="*/ 172 h 4386"/>
                      <a:gd name="T16" fmla="*/ 2193 w 4386"/>
                      <a:gd name="T17" fmla="*/ 0 h 4386"/>
                      <a:gd name="T18" fmla="*/ 3046 w 4386"/>
                      <a:gd name="T19" fmla="*/ 172 h 4386"/>
                      <a:gd name="T20" fmla="*/ 3743 w 4386"/>
                      <a:gd name="T21" fmla="*/ 643 h 4386"/>
                      <a:gd name="T22" fmla="*/ 4214 w 4386"/>
                      <a:gd name="T23" fmla="*/ 1340 h 4386"/>
                      <a:gd name="T24" fmla="*/ 4386 w 4386"/>
                      <a:gd name="T25" fmla="*/ 2193 h 4386"/>
                      <a:gd name="T26" fmla="*/ 4214 w 4386"/>
                      <a:gd name="T27" fmla="*/ 3046 h 4386"/>
                      <a:gd name="T28" fmla="*/ 3743 w 4386"/>
                      <a:gd name="T29" fmla="*/ 3743 h 4386"/>
                      <a:gd name="T30" fmla="*/ 3046 w 4386"/>
                      <a:gd name="T31" fmla="*/ 4214 h 4386"/>
                      <a:gd name="T32" fmla="*/ 2193 w 4386"/>
                      <a:gd name="T33" fmla="*/ 4386 h 43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4386" h="4386">
                        <a:moveTo>
                          <a:pt x="2193" y="4386"/>
                        </a:moveTo>
                        <a:cubicBezTo>
                          <a:pt x="1897" y="4386"/>
                          <a:pt x="1609" y="4328"/>
                          <a:pt x="1340" y="4214"/>
                        </a:cubicBezTo>
                        <a:cubicBezTo>
                          <a:pt x="1079" y="4103"/>
                          <a:pt x="844" y="3945"/>
                          <a:pt x="643" y="3743"/>
                        </a:cubicBezTo>
                        <a:cubicBezTo>
                          <a:pt x="441" y="3542"/>
                          <a:pt x="283" y="3307"/>
                          <a:pt x="172" y="3046"/>
                        </a:cubicBezTo>
                        <a:cubicBezTo>
                          <a:pt x="58" y="2777"/>
                          <a:pt x="0" y="2490"/>
                          <a:pt x="0" y="2193"/>
                        </a:cubicBezTo>
                        <a:cubicBezTo>
                          <a:pt x="0" y="1897"/>
                          <a:pt x="58" y="1609"/>
                          <a:pt x="172" y="1340"/>
                        </a:cubicBezTo>
                        <a:cubicBezTo>
                          <a:pt x="283" y="1079"/>
                          <a:pt x="441" y="844"/>
                          <a:pt x="643" y="643"/>
                        </a:cubicBezTo>
                        <a:cubicBezTo>
                          <a:pt x="844" y="441"/>
                          <a:pt x="1079" y="283"/>
                          <a:pt x="1340" y="172"/>
                        </a:cubicBezTo>
                        <a:cubicBezTo>
                          <a:pt x="1609" y="58"/>
                          <a:pt x="1897" y="0"/>
                          <a:pt x="2193" y="0"/>
                        </a:cubicBezTo>
                        <a:cubicBezTo>
                          <a:pt x="2489" y="0"/>
                          <a:pt x="2777" y="58"/>
                          <a:pt x="3046" y="172"/>
                        </a:cubicBezTo>
                        <a:cubicBezTo>
                          <a:pt x="3307" y="283"/>
                          <a:pt x="3542" y="441"/>
                          <a:pt x="3743" y="643"/>
                        </a:cubicBezTo>
                        <a:cubicBezTo>
                          <a:pt x="3945" y="844"/>
                          <a:pt x="4103" y="1079"/>
                          <a:pt x="4214" y="1340"/>
                        </a:cubicBezTo>
                        <a:cubicBezTo>
                          <a:pt x="4328" y="1609"/>
                          <a:pt x="4386" y="1897"/>
                          <a:pt x="4386" y="2193"/>
                        </a:cubicBezTo>
                        <a:cubicBezTo>
                          <a:pt x="4386" y="2489"/>
                          <a:pt x="4328" y="2777"/>
                          <a:pt x="4214" y="3046"/>
                        </a:cubicBezTo>
                        <a:cubicBezTo>
                          <a:pt x="4103" y="3307"/>
                          <a:pt x="3945" y="3542"/>
                          <a:pt x="3743" y="3743"/>
                        </a:cubicBezTo>
                        <a:cubicBezTo>
                          <a:pt x="3542" y="3945"/>
                          <a:pt x="3307" y="4103"/>
                          <a:pt x="3046" y="4214"/>
                        </a:cubicBezTo>
                        <a:cubicBezTo>
                          <a:pt x="2777" y="4328"/>
                          <a:pt x="2489" y="4386"/>
                          <a:pt x="2193" y="4386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atinLnBrk="0"/>
                    <a:endParaRPr lang="ko-KR" altLang="en-US" sz="1200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40" name="Freeform 22">
                    <a:extLst>
                      <a:ext uri="{FF2B5EF4-FFF2-40B4-BE49-F238E27FC236}">
                        <a16:creationId xmlns:a16="http://schemas.microsoft.com/office/drawing/2014/main" id="{6628331A-8C6C-4A63-8731-DC5EA64183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8381" y="1921631"/>
                    <a:ext cx="346050" cy="346317"/>
                  </a:xfrm>
                  <a:custGeom>
                    <a:avLst/>
                    <a:gdLst>
                      <a:gd name="T0" fmla="*/ 1757 w 3514"/>
                      <a:gd name="T1" fmla="*/ 3514 h 3514"/>
                      <a:gd name="T2" fmla="*/ 1074 w 3514"/>
                      <a:gd name="T3" fmla="*/ 3376 h 3514"/>
                      <a:gd name="T4" fmla="*/ 515 w 3514"/>
                      <a:gd name="T5" fmla="*/ 2999 h 3514"/>
                      <a:gd name="T6" fmla="*/ 138 w 3514"/>
                      <a:gd name="T7" fmla="*/ 2440 h 3514"/>
                      <a:gd name="T8" fmla="*/ 0 w 3514"/>
                      <a:gd name="T9" fmla="*/ 1757 h 3514"/>
                      <a:gd name="T10" fmla="*/ 138 w 3514"/>
                      <a:gd name="T11" fmla="*/ 1074 h 3514"/>
                      <a:gd name="T12" fmla="*/ 515 w 3514"/>
                      <a:gd name="T13" fmla="*/ 515 h 3514"/>
                      <a:gd name="T14" fmla="*/ 1074 w 3514"/>
                      <a:gd name="T15" fmla="*/ 138 h 3514"/>
                      <a:gd name="T16" fmla="*/ 1757 w 3514"/>
                      <a:gd name="T17" fmla="*/ 0 h 3514"/>
                      <a:gd name="T18" fmla="*/ 2440 w 3514"/>
                      <a:gd name="T19" fmla="*/ 138 h 3514"/>
                      <a:gd name="T20" fmla="*/ 2999 w 3514"/>
                      <a:gd name="T21" fmla="*/ 515 h 3514"/>
                      <a:gd name="T22" fmla="*/ 3376 w 3514"/>
                      <a:gd name="T23" fmla="*/ 1074 h 3514"/>
                      <a:gd name="T24" fmla="*/ 3514 w 3514"/>
                      <a:gd name="T25" fmla="*/ 1757 h 3514"/>
                      <a:gd name="T26" fmla="*/ 3376 w 3514"/>
                      <a:gd name="T27" fmla="*/ 2440 h 3514"/>
                      <a:gd name="T28" fmla="*/ 2999 w 3514"/>
                      <a:gd name="T29" fmla="*/ 2999 h 3514"/>
                      <a:gd name="T30" fmla="*/ 2440 w 3514"/>
                      <a:gd name="T31" fmla="*/ 3376 h 3514"/>
                      <a:gd name="T32" fmla="*/ 1757 w 3514"/>
                      <a:gd name="T33" fmla="*/ 3514 h 35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514" h="3514">
                        <a:moveTo>
                          <a:pt x="1757" y="3514"/>
                        </a:moveTo>
                        <a:cubicBezTo>
                          <a:pt x="1519" y="3514"/>
                          <a:pt x="1289" y="3467"/>
                          <a:pt x="1074" y="3376"/>
                        </a:cubicBezTo>
                        <a:cubicBezTo>
                          <a:pt x="865" y="3288"/>
                          <a:pt x="677" y="3161"/>
                          <a:pt x="515" y="2999"/>
                        </a:cubicBezTo>
                        <a:cubicBezTo>
                          <a:pt x="353" y="2837"/>
                          <a:pt x="226" y="2649"/>
                          <a:pt x="138" y="2440"/>
                        </a:cubicBezTo>
                        <a:cubicBezTo>
                          <a:pt x="47" y="2225"/>
                          <a:pt x="0" y="1995"/>
                          <a:pt x="0" y="1757"/>
                        </a:cubicBezTo>
                        <a:cubicBezTo>
                          <a:pt x="0" y="1519"/>
                          <a:pt x="47" y="1289"/>
                          <a:pt x="138" y="1074"/>
                        </a:cubicBezTo>
                        <a:cubicBezTo>
                          <a:pt x="226" y="865"/>
                          <a:pt x="353" y="677"/>
                          <a:pt x="515" y="515"/>
                        </a:cubicBezTo>
                        <a:cubicBezTo>
                          <a:pt x="677" y="353"/>
                          <a:pt x="865" y="226"/>
                          <a:pt x="1074" y="138"/>
                        </a:cubicBezTo>
                        <a:cubicBezTo>
                          <a:pt x="1289" y="47"/>
                          <a:pt x="1519" y="0"/>
                          <a:pt x="1757" y="0"/>
                        </a:cubicBezTo>
                        <a:cubicBezTo>
                          <a:pt x="1995" y="0"/>
                          <a:pt x="2225" y="47"/>
                          <a:pt x="2440" y="138"/>
                        </a:cubicBezTo>
                        <a:cubicBezTo>
                          <a:pt x="2649" y="226"/>
                          <a:pt x="2837" y="353"/>
                          <a:pt x="2999" y="515"/>
                        </a:cubicBezTo>
                        <a:cubicBezTo>
                          <a:pt x="3161" y="677"/>
                          <a:pt x="3288" y="865"/>
                          <a:pt x="3376" y="1074"/>
                        </a:cubicBezTo>
                        <a:cubicBezTo>
                          <a:pt x="3467" y="1289"/>
                          <a:pt x="3514" y="1519"/>
                          <a:pt x="3514" y="1757"/>
                        </a:cubicBezTo>
                        <a:cubicBezTo>
                          <a:pt x="3514" y="1995"/>
                          <a:pt x="3467" y="2225"/>
                          <a:pt x="3376" y="2440"/>
                        </a:cubicBezTo>
                        <a:cubicBezTo>
                          <a:pt x="3288" y="2649"/>
                          <a:pt x="3161" y="2837"/>
                          <a:pt x="2999" y="2999"/>
                        </a:cubicBezTo>
                        <a:cubicBezTo>
                          <a:pt x="2837" y="3161"/>
                          <a:pt x="2649" y="3288"/>
                          <a:pt x="2440" y="3376"/>
                        </a:cubicBezTo>
                        <a:cubicBezTo>
                          <a:pt x="2225" y="3467"/>
                          <a:pt x="1995" y="3514"/>
                          <a:pt x="1757" y="3514"/>
                        </a:cubicBezTo>
                        <a:close/>
                      </a:path>
                    </a:pathLst>
                  </a:custGeom>
                  <a:solidFill>
                    <a:srgbClr val="FDEBD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atinLnBrk="0"/>
                    <a:endParaRPr lang="ko-KR" altLang="en-US" sz="1200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</p:grpSp>
          </p:grpSp>
          <p:sp>
            <p:nvSpPr>
              <p:cNvPr id="36" name="Rectangle 31">
                <a:extLst>
                  <a:ext uri="{FF2B5EF4-FFF2-40B4-BE49-F238E27FC236}">
                    <a16:creationId xmlns:a16="http://schemas.microsoft.com/office/drawing/2014/main" id="{AC26F1BA-757C-4917-B303-0278B1CF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028" y="1888325"/>
                <a:ext cx="259686" cy="473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algn="just" latinLnBrk="0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sz="28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rgbClr val="F49737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Q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D38727D9-ACBC-432E-A10A-4DFD7F95FC9C}"/>
                </a:ext>
              </a:extLst>
            </p:cNvPr>
            <p:cNvGrpSpPr/>
            <p:nvPr/>
          </p:nvGrpSpPr>
          <p:grpSpPr>
            <a:xfrm>
              <a:off x="9540520" y="1656296"/>
              <a:ext cx="596461" cy="84354"/>
              <a:chOff x="9067796" y="1987097"/>
              <a:chExt cx="596461" cy="84354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F598D8C5-787E-414B-9F1C-0C2B8F8F423B}"/>
                  </a:ext>
                </a:extLst>
              </p:cNvPr>
              <p:cNvSpPr/>
              <p:nvPr/>
            </p:nvSpPr>
            <p:spPr>
              <a:xfrm>
                <a:off x="9067796" y="1987097"/>
                <a:ext cx="84354" cy="84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5B59DD7A-054D-468B-82EE-C515B4BC8842}"/>
                  </a:ext>
                </a:extLst>
              </p:cNvPr>
              <p:cNvSpPr/>
              <p:nvPr/>
            </p:nvSpPr>
            <p:spPr>
              <a:xfrm>
                <a:off x="9195822" y="1987097"/>
                <a:ext cx="82800" cy="84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26426EDC-EE3D-46C6-8052-C2126D081977}"/>
                  </a:ext>
                </a:extLst>
              </p:cNvPr>
              <p:cNvSpPr/>
              <p:nvPr/>
            </p:nvSpPr>
            <p:spPr>
              <a:xfrm>
                <a:off x="9323850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70D129C-DFE5-486C-A3EE-2753740B94AC}"/>
                  </a:ext>
                </a:extLst>
              </p:cNvPr>
              <p:cNvSpPr/>
              <p:nvPr/>
            </p:nvSpPr>
            <p:spPr>
              <a:xfrm>
                <a:off x="9451877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D8B8AC7F-1935-4519-B327-8AD24C98405A}"/>
                  </a:ext>
                </a:extLst>
              </p:cNvPr>
              <p:cNvSpPr/>
              <p:nvPr/>
            </p:nvSpPr>
            <p:spPr>
              <a:xfrm>
                <a:off x="9579903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C2E15D6-DDCD-4BFB-A5AB-D710B8D80E93}"/>
              </a:ext>
            </a:extLst>
          </p:cNvPr>
          <p:cNvGrpSpPr/>
          <p:nvPr/>
        </p:nvGrpSpPr>
        <p:grpSpPr>
          <a:xfrm>
            <a:off x="485773" y="5130711"/>
            <a:ext cx="9720002" cy="1624248"/>
            <a:chOff x="485773" y="1439863"/>
            <a:chExt cx="9720002" cy="1624248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9569A48-A3CB-4E1B-86E1-39B6FBA42A34}"/>
                </a:ext>
              </a:extLst>
            </p:cNvPr>
            <p:cNvSpPr/>
            <p:nvPr/>
          </p:nvSpPr>
          <p:spPr>
            <a:xfrm>
              <a:off x="485775" y="1797720"/>
              <a:ext cx="9720000" cy="612000"/>
            </a:xfrm>
            <a:prstGeom prst="rect">
              <a:avLst/>
            </a:prstGeom>
            <a:solidFill>
              <a:srgbClr val="FDEBDB"/>
            </a:solidFill>
            <a:ln>
              <a:solidFill>
                <a:srgbClr val="FEF4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5" name="사각형: 둥근 위쪽 모서리 44">
              <a:extLst>
                <a:ext uri="{FF2B5EF4-FFF2-40B4-BE49-F238E27FC236}">
                  <a16:creationId xmlns:a16="http://schemas.microsoft.com/office/drawing/2014/main" id="{144823AA-68B6-445A-89B6-3F15CB94F0EC}"/>
                </a:ext>
              </a:extLst>
            </p:cNvPr>
            <p:cNvSpPr/>
            <p:nvPr/>
          </p:nvSpPr>
          <p:spPr>
            <a:xfrm>
              <a:off x="485773" y="1439863"/>
              <a:ext cx="9720000" cy="360000"/>
            </a:xfrm>
            <a:prstGeom prst="round2SameRect">
              <a:avLst/>
            </a:prstGeom>
            <a:solidFill>
              <a:srgbClr val="F49737"/>
            </a:solidFill>
            <a:ln>
              <a:solidFill>
                <a:srgbClr val="F49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6" name="Rectangle 31">
              <a:extLst>
                <a:ext uri="{FF2B5EF4-FFF2-40B4-BE49-F238E27FC236}">
                  <a16:creationId xmlns:a16="http://schemas.microsoft.com/office/drawing/2014/main" id="{251DAA25-ECFE-4598-A138-8F79ADEB6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350" y="1489058"/>
              <a:ext cx="1492396" cy="2616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ko-KR" altLang="en-US" sz="17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사용자 계정 생성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9F802DB2-5E65-45F4-802A-6EBB406D74C3}"/>
                </a:ext>
              </a:extLst>
            </p:cNvPr>
            <p:cNvGrpSpPr/>
            <p:nvPr/>
          </p:nvGrpSpPr>
          <p:grpSpPr>
            <a:xfrm>
              <a:off x="642878" y="2565993"/>
              <a:ext cx="432228" cy="498118"/>
              <a:chOff x="895292" y="1878542"/>
              <a:chExt cx="432228" cy="498118"/>
            </a:xfrm>
          </p:grpSpPr>
          <p:sp>
            <p:nvSpPr>
              <p:cNvPr id="61" name="Freeform 21">
                <a:extLst>
                  <a:ext uri="{FF2B5EF4-FFF2-40B4-BE49-F238E27FC236}">
                    <a16:creationId xmlns:a16="http://schemas.microsoft.com/office/drawing/2014/main" id="{77FBB162-5D7D-4D0E-976D-203532F31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5292" y="1878542"/>
                <a:ext cx="432228" cy="432495"/>
              </a:xfrm>
              <a:custGeom>
                <a:avLst/>
                <a:gdLst>
                  <a:gd name="T0" fmla="*/ 2193 w 4386"/>
                  <a:gd name="T1" fmla="*/ 4386 h 4386"/>
                  <a:gd name="T2" fmla="*/ 1340 w 4386"/>
                  <a:gd name="T3" fmla="*/ 4214 h 4386"/>
                  <a:gd name="T4" fmla="*/ 643 w 4386"/>
                  <a:gd name="T5" fmla="*/ 3743 h 4386"/>
                  <a:gd name="T6" fmla="*/ 172 w 4386"/>
                  <a:gd name="T7" fmla="*/ 3046 h 4386"/>
                  <a:gd name="T8" fmla="*/ 0 w 4386"/>
                  <a:gd name="T9" fmla="*/ 2193 h 4386"/>
                  <a:gd name="T10" fmla="*/ 172 w 4386"/>
                  <a:gd name="T11" fmla="*/ 1340 h 4386"/>
                  <a:gd name="T12" fmla="*/ 643 w 4386"/>
                  <a:gd name="T13" fmla="*/ 643 h 4386"/>
                  <a:gd name="T14" fmla="*/ 1340 w 4386"/>
                  <a:gd name="T15" fmla="*/ 172 h 4386"/>
                  <a:gd name="T16" fmla="*/ 2193 w 4386"/>
                  <a:gd name="T17" fmla="*/ 0 h 4386"/>
                  <a:gd name="T18" fmla="*/ 3046 w 4386"/>
                  <a:gd name="T19" fmla="*/ 172 h 4386"/>
                  <a:gd name="T20" fmla="*/ 3743 w 4386"/>
                  <a:gd name="T21" fmla="*/ 643 h 4386"/>
                  <a:gd name="T22" fmla="*/ 4214 w 4386"/>
                  <a:gd name="T23" fmla="*/ 1340 h 4386"/>
                  <a:gd name="T24" fmla="*/ 4386 w 4386"/>
                  <a:gd name="T25" fmla="*/ 2193 h 4386"/>
                  <a:gd name="T26" fmla="*/ 4214 w 4386"/>
                  <a:gd name="T27" fmla="*/ 3046 h 4386"/>
                  <a:gd name="T28" fmla="*/ 3743 w 4386"/>
                  <a:gd name="T29" fmla="*/ 3743 h 4386"/>
                  <a:gd name="T30" fmla="*/ 3046 w 4386"/>
                  <a:gd name="T31" fmla="*/ 4214 h 4386"/>
                  <a:gd name="T32" fmla="*/ 2193 w 4386"/>
                  <a:gd name="T33" fmla="*/ 4386 h 4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86" h="4386">
                    <a:moveTo>
                      <a:pt x="2193" y="4386"/>
                    </a:moveTo>
                    <a:cubicBezTo>
                      <a:pt x="1897" y="4386"/>
                      <a:pt x="1609" y="4328"/>
                      <a:pt x="1340" y="4214"/>
                    </a:cubicBezTo>
                    <a:cubicBezTo>
                      <a:pt x="1079" y="4103"/>
                      <a:pt x="844" y="3945"/>
                      <a:pt x="643" y="3743"/>
                    </a:cubicBezTo>
                    <a:cubicBezTo>
                      <a:pt x="441" y="3542"/>
                      <a:pt x="283" y="3307"/>
                      <a:pt x="172" y="3046"/>
                    </a:cubicBezTo>
                    <a:cubicBezTo>
                      <a:pt x="58" y="2777"/>
                      <a:pt x="0" y="2490"/>
                      <a:pt x="0" y="2193"/>
                    </a:cubicBezTo>
                    <a:cubicBezTo>
                      <a:pt x="0" y="1897"/>
                      <a:pt x="58" y="1609"/>
                      <a:pt x="172" y="1340"/>
                    </a:cubicBezTo>
                    <a:cubicBezTo>
                      <a:pt x="283" y="1079"/>
                      <a:pt x="441" y="844"/>
                      <a:pt x="643" y="643"/>
                    </a:cubicBezTo>
                    <a:cubicBezTo>
                      <a:pt x="844" y="441"/>
                      <a:pt x="1079" y="283"/>
                      <a:pt x="1340" y="172"/>
                    </a:cubicBezTo>
                    <a:cubicBezTo>
                      <a:pt x="1609" y="58"/>
                      <a:pt x="1897" y="0"/>
                      <a:pt x="2193" y="0"/>
                    </a:cubicBezTo>
                    <a:cubicBezTo>
                      <a:pt x="2489" y="0"/>
                      <a:pt x="2777" y="58"/>
                      <a:pt x="3046" y="172"/>
                    </a:cubicBezTo>
                    <a:cubicBezTo>
                      <a:pt x="3307" y="283"/>
                      <a:pt x="3542" y="441"/>
                      <a:pt x="3743" y="643"/>
                    </a:cubicBezTo>
                    <a:cubicBezTo>
                      <a:pt x="3945" y="844"/>
                      <a:pt x="4103" y="1079"/>
                      <a:pt x="4214" y="1340"/>
                    </a:cubicBezTo>
                    <a:cubicBezTo>
                      <a:pt x="4328" y="1609"/>
                      <a:pt x="4386" y="1897"/>
                      <a:pt x="4386" y="2193"/>
                    </a:cubicBezTo>
                    <a:cubicBezTo>
                      <a:pt x="4386" y="2489"/>
                      <a:pt x="4328" y="2777"/>
                      <a:pt x="4214" y="3046"/>
                    </a:cubicBezTo>
                    <a:cubicBezTo>
                      <a:pt x="4103" y="3307"/>
                      <a:pt x="3945" y="3542"/>
                      <a:pt x="3743" y="3743"/>
                    </a:cubicBezTo>
                    <a:cubicBezTo>
                      <a:pt x="3542" y="3945"/>
                      <a:pt x="3307" y="4103"/>
                      <a:pt x="3046" y="4214"/>
                    </a:cubicBezTo>
                    <a:cubicBezTo>
                      <a:pt x="2777" y="4328"/>
                      <a:pt x="2489" y="4386"/>
                      <a:pt x="2193" y="4386"/>
                    </a:cubicBezTo>
                    <a:close/>
                  </a:path>
                </a:pathLst>
              </a:custGeom>
              <a:solidFill>
                <a:srgbClr val="FDEB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/>
                <a:endParaRPr lang="ko-KR" altLang="en-US" sz="1200" dirty="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2" name="Rectangle 31">
                <a:extLst>
                  <a:ext uri="{FF2B5EF4-FFF2-40B4-BE49-F238E27FC236}">
                    <a16:creationId xmlns:a16="http://schemas.microsoft.com/office/drawing/2014/main" id="{87C8C8C5-B9FA-45A9-A1C6-C3B0F16C2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846" y="1902684"/>
                <a:ext cx="254878" cy="473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algn="just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sz="28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rgbClr val="F49737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A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EBDEEBB-CDC5-4539-B2D6-856ADA1A6B8F}"/>
                </a:ext>
              </a:extLst>
            </p:cNvPr>
            <p:cNvGrpSpPr/>
            <p:nvPr/>
          </p:nvGrpSpPr>
          <p:grpSpPr>
            <a:xfrm>
              <a:off x="642878" y="1864183"/>
              <a:ext cx="8858140" cy="498118"/>
              <a:chOff x="642878" y="1864183"/>
              <a:chExt cx="8858140" cy="498118"/>
            </a:xfrm>
          </p:grpSpPr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211590BE-BCDC-4DBC-8777-889F460B766B}"/>
                  </a:ext>
                </a:extLst>
              </p:cNvPr>
              <p:cNvGrpSpPr/>
              <p:nvPr/>
            </p:nvGrpSpPr>
            <p:grpSpPr>
              <a:xfrm>
                <a:off x="642878" y="1864183"/>
                <a:ext cx="8858140" cy="432495"/>
                <a:chOff x="895292" y="1765845"/>
                <a:chExt cx="8858140" cy="432495"/>
              </a:xfrm>
            </p:grpSpPr>
            <p:sp>
              <p:nvSpPr>
                <p:cNvPr id="57" name="Rectangle 31">
                  <a:extLst>
                    <a:ext uri="{FF2B5EF4-FFF2-40B4-BE49-F238E27FC236}">
                      <a16:creationId xmlns:a16="http://schemas.microsoft.com/office/drawing/2014/main" id="{54952500-DAD2-4AB5-A0F7-6CCC71081E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3" y="1857798"/>
                  <a:ext cx="8299659" cy="3046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lvl="1" latinLnBrk="0">
                    <a:lnSpc>
                      <a:spcPct val="110000"/>
                    </a:lnSpc>
                    <a:spcBef>
                      <a:spcPts val="200"/>
                    </a:spcBef>
                    <a:buClr>
                      <a:srgbClr val="7A8C96"/>
                    </a:buClr>
                    <a:tabLst>
                      <a:tab pos="406241" algn="l"/>
                    </a:tabLst>
                  </a:pPr>
                  <a:r>
                    <a:rPr lang="ko-KR" altLang="en-US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사용자 계정 생성 시 반드시 설정해야 하는 항목을 쓰세요</a:t>
                  </a:r>
                  <a:r>
                    <a:rPr lang="en-US" altLang="ko-KR" dirty="0">
                      <a:ln>
                        <a:solidFill>
                          <a:srgbClr val="FFFFFF">
                            <a:alpha val="0"/>
                          </a:srgbClr>
                        </a:solidFill>
                      </a:ln>
                      <a:solidFill>
                        <a:srgbClr val="0F1A2C"/>
                      </a:solidFill>
                      <a:latin typeface="세방고딕 Bold" panose="00000800000000000000" pitchFamily="2" charset="-127"/>
                      <a:ea typeface="세방고딕 Bold" panose="00000800000000000000" pitchFamily="2" charset="-127"/>
                    </a:rPr>
                    <a:t>.</a:t>
                  </a:r>
                </a:p>
              </p:txBody>
            </p:sp>
            <p:grpSp>
              <p:nvGrpSpPr>
                <p:cNvPr id="58" name="그룹 57">
                  <a:extLst>
                    <a:ext uri="{FF2B5EF4-FFF2-40B4-BE49-F238E27FC236}">
                      <a16:creationId xmlns:a16="http://schemas.microsoft.com/office/drawing/2014/main" id="{D9CFCC83-809A-4607-B17F-75BC69B44324}"/>
                    </a:ext>
                  </a:extLst>
                </p:cNvPr>
                <p:cNvGrpSpPr/>
                <p:nvPr/>
              </p:nvGrpSpPr>
              <p:grpSpPr>
                <a:xfrm>
                  <a:off x="895292" y="1765845"/>
                  <a:ext cx="432228" cy="432495"/>
                  <a:chOff x="895292" y="1878542"/>
                  <a:chExt cx="432228" cy="432495"/>
                </a:xfrm>
              </p:grpSpPr>
              <p:sp>
                <p:nvSpPr>
                  <p:cNvPr id="59" name="Freeform 21">
                    <a:extLst>
                      <a:ext uri="{FF2B5EF4-FFF2-40B4-BE49-F238E27FC236}">
                        <a16:creationId xmlns:a16="http://schemas.microsoft.com/office/drawing/2014/main" id="{8662E853-813C-485B-AD1F-041A149108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95292" y="1878542"/>
                    <a:ext cx="432228" cy="432495"/>
                  </a:xfrm>
                  <a:custGeom>
                    <a:avLst/>
                    <a:gdLst>
                      <a:gd name="T0" fmla="*/ 2193 w 4386"/>
                      <a:gd name="T1" fmla="*/ 4386 h 4386"/>
                      <a:gd name="T2" fmla="*/ 1340 w 4386"/>
                      <a:gd name="T3" fmla="*/ 4214 h 4386"/>
                      <a:gd name="T4" fmla="*/ 643 w 4386"/>
                      <a:gd name="T5" fmla="*/ 3743 h 4386"/>
                      <a:gd name="T6" fmla="*/ 172 w 4386"/>
                      <a:gd name="T7" fmla="*/ 3046 h 4386"/>
                      <a:gd name="T8" fmla="*/ 0 w 4386"/>
                      <a:gd name="T9" fmla="*/ 2193 h 4386"/>
                      <a:gd name="T10" fmla="*/ 172 w 4386"/>
                      <a:gd name="T11" fmla="*/ 1340 h 4386"/>
                      <a:gd name="T12" fmla="*/ 643 w 4386"/>
                      <a:gd name="T13" fmla="*/ 643 h 4386"/>
                      <a:gd name="T14" fmla="*/ 1340 w 4386"/>
                      <a:gd name="T15" fmla="*/ 172 h 4386"/>
                      <a:gd name="T16" fmla="*/ 2193 w 4386"/>
                      <a:gd name="T17" fmla="*/ 0 h 4386"/>
                      <a:gd name="T18" fmla="*/ 3046 w 4386"/>
                      <a:gd name="T19" fmla="*/ 172 h 4386"/>
                      <a:gd name="T20" fmla="*/ 3743 w 4386"/>
                      <a:gd name="T21" fmla="*/ 643 h 4386"/>
                      <a:gd name="T22" fmla="*/ 4214 w 4386"/>
                      <a:gd name="T23" fmla="*/ 1340 h 4386"/>
                      <a:gd name="T24" fmla="*/ 4386 w 4386"/>
                      <a:gd name="T25" fmla="*/ 2193 h 4386"/>
                      <a:gd name="T26" fmla="*/ 4214 w 4386"/>
                      <a:gd name="T27" fmla="*/ 3046 h 4386"/>
                      <a:gd name="T28" fmla="*/ 3743 w 4386"/>
                      <a:gd name="T29" fmla="*/ 3743 h 4386"/>
                      <a:gd name="T30" fmla="*/ 3046 w 4386"/>
                      <a:gd name="T31" fmla="*/ 4214 h 4386"/>
                      <a:gd name="T32" fmla="*/ 2193 w 4386"/>
                      <a:gd name="T33" fmla="*/ 4386 h 43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4386" h="4386">
                        <a:moveTo>
                          <a:pt x="2193" y="4386"/>
                        </a:moveTo>
                        <a:cubicBezTo>
                          <a:pt x="1897" y="4386"/>
                          <a:pt x="1609" y="4328"/>
                          <a:pt x="1340" y="4214"/>
                        </a:cubicBezTo>
                        <a:cubicBezTo>
                          <a:pt x="1079" y="4103"/>
                          <a:pt x="844" y="3945"/>
                          <a:pt x="643" y="3743"/>
                        </a:cubicBezTo>
                        <a:cubicBezTo>
                          <a:pt x="441" y="3542"/>
                          <a:pt x="283" y="3307"/>
                          <a:pt x="172" y="3046"/>
                        </a:cubicBezTo>
                        <a:cubicBezTo>
                          <a:pt x="58" y="2777"/>
                          <a:pt x="0" y="2490"/>
                          <a:pt x="0" y="2193"/>
                        </a:cubicBezTo>
                        <a:cubicBezTo>
                          <a:pt x="0" y="1897"/>
                          <a:pt x="58" y="1609"/>
                          <a:pt x="172" y="1340"/>
                        </a:cubicBezTo>
                        <a:cubicBezTo>
                          <a:pt x="283" y="1079"/>
                          <a:pt x="441" y="844"/>
                          <a:pt x="643" y="643"/>
                        </a:cubicBezTo>
                        <a:cubicBezTo>
                          <a:pt x="844" y="441"/>
                          <a:pt x="1079" y="283"/>
                          <a:pt x="1340" y="172"/>
                        </a:cubicBezTo>
                        <a:cubicBezTo>
                          <a:pt x="1609" y="58"/>
                          <a:pt x="1897" y="0"/>
                          <a:pt x="2193" y="0"/>
                        </a:cubicBezTo>
                        <a:cubicBezTo>
                          <a:pt x="2489" y="0"/>
                          <a:pt x="2777" y="58"/>
                          <a:pt x="3046" y="172"/>
                        </a:cubicBezTo>
                        <a:cubicBezTo>
                          <a:pt x="3307" y="283"/>
                          <a:pt x="3542" y="441"/>
                          <a:pt x="3743" y="643"/>
                        </a:cubicBezTo>
                        <a:cubicBezTo>
                          <a:pt x="3945" y="844"/>
                          <a:pt x="4103" y="1079"/>
                          <a:pt x="4214" y="1340"/>
                        </a:cubicBezTo>
                        <a:cubicBezTo>
                          <a:pt x="4328" y="1609"/>
                          <a:pt x="4386" y="1897"/>
                          <a:pt x="4386" y="2193"/>
                        </a:cubicBezTo>
                        <a:cubicBezTo>
                          <a:pt x="4386" y="2489"/>
                          <a:pt x="4328" y="2777"/>
                          <a:pt x="4214" y="3046"/>
                        </a:cubicBezTo>
                        <a:cubicBezTo>
                          <a:pt x="4103" y="3307"/>
                          <a:pt x="3945" y="3542"/>
                          <a:pt x="3743" y="3743"/>
                        </a:cubicBezTo>
                        <a:cubicBezTo>
                          <a:pt x="3542" y="3945"/>
                          <a:pt x="3307" y="4103"/>
                          <a:pt x="3046" y="4214"/>
                        </a:cubicBezTo>
                        <a:cubicBezTo>
                          <a:pt x="2777" y="4328"/>
                          <a:pt x="2489" y="4386"/>
                          <a:pt x="2193" y="4386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atinLnBrk="0"/>
                    <a:endParaRPr lang="ko-KR" altLang="en-US" sz="1200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60" name="Freeform 22">
                    <a:extLst>
                      <a:ext uri="{FF2B5EF4-FFF2-40B4-BE49-F238E27FC236}">
                        <a16:creationId xmlns:a16="http://schemas.microsoft.com/office/drawing/2014/main" id="{FD34DF2C-ECCC-4D03-A2CB-27C4A028FC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8381" y="1921631"/>
                    <a:ext cx="346050" cy="346317"/>
                  </a:xfrm>
                  <a:custGeom>
                    <a:avLst/>
                    <a:gdLst>
                      <a:gd name="T0" fmla="*/ 1757 w 3514"/>
                      <a:gd name="T1" fmla="*/ 3514 h 3514"/>
                      <a:gd name="T2" fmla="*/ 1074 w 3514"/>
                      <a:gd name="T3" fmla="*/ 3376 h 3514"/>
                      <a:gd name="T4" fmla="*/ 515 w 3514"/>
                      <a:gd name="T5" fmla="*/ 2999 h 3514"/>
                      <a:gd name="T6" fmla="*/ 138 w 3514"/>
                      <a:gd name="T7" fmla="*/ 2440 h 3514"/>
                      <a:gd name="T8" fmla="*/ 0 w 3514"/>
                      <a:gd name="T9" fmla="*/ 1757 h 3514"/>
                      <a:gd name="T10" fmla="*/ 138 w 3514"/>
                      <a:gd name="T11" fmla="*/ 1074 h 3514"/>
                      <a:gd name="T12" fmla="*/ 515 w 3514"/>
                      <a:gd name="T13" fmla="*/ 515 h 3514"/>
                      <a:gd name="T14" fmla="*/ 1074 w 3514"/>
                      <a:gd name="T15" fmla="*/ 138 h 3514"/>
                      <a:gd name="T16" fmla="*/ 1757 w 3514"/>
                      <a:gd name="T17" fmla="*/ 0 h 3514"/>
                      <a:gd name="T18" fmla="*/ 2440 w 3514"/>
                      <a:gd name="T19" fmla="*/ 138 h 3514"/>
                      <a:gd name="T20" fmla="*/ 2999 w 3514"/>
                      <a:gd name="T21" fmla="*/ 515 h 3514"/>
                      <a:gd name="T22" fmla="*/ 3376 w 3514"/>
                      <a:gd name="T23" fmla="*/ 1074 h 3514"/>
                      <a:gd name="T24" fmla="*/ 3514 w 3514"/>
                      <a:gd name="T25" fmla="*/ 1757 h 3514"/>
                      <a:gd name="T26" fmla="*/ 3376 w 3514"/>
                      <a:gd name="T27" fmla="*/ 2440 h 3514"/>
                      <a:gd name="T28" fmla="*/ 2999 w 3514"/>
                      <a:gd name="T29" fmla="*/ 2999 h 3514"/>
                      <a:gd name="T30" fmla="*/ 2440 w 3514"/>
                      <a:gd name="T31" fmla="*/ 3376 h 3514"/>
                      <a:gd name="T32" fmla="*/ 1757 w 3514"/>
                      <a:gd name="T33" fmla="*/ 3514 h 35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514" h="3514">
                        <a:moveTo>
                          <a:pt x="1757" y="3514"/>
                        </a:moveTo>
                        <a:cubicBezTo>
                          <a:pt x="1519" y="3514"/>
                          <a:pt x="1289" y="3467"/>
                          <a:pt x="1074" y="3376"/>
                        </a:cubicBezTo>
                        <a:cubicBezTo>
                          <a:pt x="865" y="3288"/>
                          <a:pt x="677" y="3161"/>
                          <a:pt x="515" y="2999"/>
                        </a:cubicBezTo>
                        <a:cubicBezTo>
                          <a:pt x="353" y="2837"/>
                          <a:pt x="226" y="2649"/>
                          <a:pt x="138" y="2440"/>
                        </a:cubicBezTo>
                        <a:cubicBezTo>
                          <a:pt x="47" y="2225"/>
                          <a:pt x="0" y="1995"/>
                          <a:pt x="0" y="1757"/>
                        </a:cubicBezTo>
                        <a:cubicBezTo>
                          <a:pt x="0" y="1519"/>
                          <a:pt x="47" y="1289"/>
                          <a:pt x="138" y="1074"/>
                        </a:cubicBezTo>
                        <a:cubicBezTo>
                          <a:pt x="226" y="865"/>
                          <a:pt x="353" y="677"/>
                          <a:pt x="515" y="515"/>
                        </a:cubicBezTo>
                        <a:cubicBezTo>
                          <a:pt x="677" y="353"/>
                          <a:pt x="865" y="226"/>
                          <a:pt x="1074" y="138"/>
                        </a:cubicBezTo>
                        <a:cubicBezTo>
                          <a:pt x="1289" y="47"/>
                          <a:pt x="1519" y="0"/>
                          <a:pt x="1757" y="0"/>
                        </a:cubicBezTo>
                        <a:cubicBezTo>
                          <a:pt x="1995" y="0"/>
                          <a:pt x="2225" y="47"/>
                          <a:pt x="2440" y="138"/>
                        </a:cubicBezTo>
                        <a:cubicBezTo>
                          <a:pt x="2649" y="226"/>
                          <a:pt x="2837" y="353"/>
                          <a:pt x="2999" y="515"/>
                        </a:cubicBezTo>
                        <a:cubicBezTo>
                          <a:pt x="3161" y="677"/>
                          <a:pt x="3288" y="865"/>
                          <a:pt x="3376" y="1074"/>
                        </a:cubicBezTo>
                        <a:cubicBezTo>
                          <a:pt x="3467" y="1289"/>
                          <a:pt x="3514" y="1519"/>
                          <a:pt x="3514" y="1757"/>
                        </a:cubicBezTo>
                        <a:cubicBezTo>
                          <a:pt x="3514" y="1995"/>
                          <a:pt x="3467" y="2225"/>
                          <a:pt x="3376" y="2440"/>
                        </a:cubicBezTo>
                        <a:cubicBezTo>
                          <a:pt x="3288" y="2649"/>
                          <a:pt x="3161" y="2837"/>
                          <a:pt x="2999" y="2999"/>
                        </a:cubicBezTo>
                        <a:cubicBezTo>
                          <a:pt x="2837" y="3161"/>
                          <a:pt x="2649" y="3288"/>
                          <a:pt x="2440" y="3376"/>
                        </a:cubicBezTo>
                        <a:cubicBezTo>
                          <a:pt x="2225" y="3467"/>
                          <a:pt x="1995" y="3514"/>
                          <a:pt x="1757" y="3514"/>
                        </a:cubicBezTo>
                        <a:close/>
                      </a:path>
                    </a:pathLst>
                  </a:custGeom>
                  <a:solidFill>
                    <a:srgbClr val="FDEBD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atinLnBrk="0"/>
                    <a:endParaRPr lang="ko-KR" altLang="en-US" sz="1200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</p:grpSp>
          </p:grpSp>
          <p:sp>
            <p:nvSpPr>
              <p:cNvPr id="56" name="Rectangle 31">
                <a:extLst>
                  <a:ext uri="{FF2B5EF4-FFF2-40B4-BE49-F238E27FC236}">
                    <a16:creationId xmlns:a16="http://schemas.microsoft.com/office/drawing/2014/main" id="{0F5C4A16-BFEF-4D67-A353-EC5573CB2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028" y="1888325"/>
                <a:ext cx="259686" cy="473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algn="just" latinLnBrk="0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sz="28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rgbClr val="F49737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Q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FE47B57D-DF01-4D20-AE8C-E2632F946C3F}"/>
                </a:ext>
              </a:extLst>
            </p:cNvPr>
            <p:cNvGrpSpPr/>
            <p:nvPr/>
          </p:nvGrpSpPr>
          <p:grpSpPr>
            <a:xfrm>
              <a:off x="9540520" y="1656296"/>
              <a:ext cx="596461" cy="84354"/>
              <a:chOff x="9067796" y="1987097"/>
              <a:chExt cx="596461" cy="84354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070524FD-2138-422E-B5EC-195485AC28D8}"/>
                  </a:ext>
                </a:extLst>
              </p:cNvPr>
              <p:cNvSpPr/>
              <p:nvPr/>
            </p:nvSpPr>
            <p:spPr>
              <a:xfrm>
                <a:off x="9067796" y="1987097"/>
                <a:ext cx="84354" cy="84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D2496B57-DE61-4C99-AE9F-EEEF61EFBA4E}"/>
                  </a:ext>
                </a:extLst>
              </p:cNvPr>
              <p:cNvSpPr/>
              <p:nvPr/>
            </p:nvSpPr>
            <p:spPr>
              <a:xfrm>
                <a:off x="9195822" y="1987097"/>
                <a:ext cx="82800" cy="84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AE04F1EC-AF3F-4BE8-A723-E585FACF219C}"/>
                  </a:ext>
                </a:extLst>
              </p:cNvPr>
              <p:cNvSpPr/>
              <p:nvPr/>
            </p:nvSpPr>
            <p:spPr>
              <a:xfrm>
                <a:off x="9323850" y="1987097"/>
                <a:ext cx="84354" cy="84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00944A76-053B-4770-85B4-EF5D26E5ABEE}"/>
                  </a:ext>
                </a:extLst>
              </p:cNvPr>
              <p:cNvSpPr/>
              <p:nvPr/>
            </p:nvSpPr>
            <p:spPr>
              <a:xfrm>
                <a:off x="9451877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06F751E5-2BCF-484D-A482-0F74344B4155}"/>
                  </a:ext>
                </a:extLst>
              </p:cNvPr>
              <p:cNvSpPr/>
              <p:nvPr/>
            </p:nvSpPr>
            <p:spPr>
              <a:xfrm>
                <a:off x="9579903" y="1987097"/>
                <a:ext cx="84354" cy="8435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7EE03ED-1038-4400-99E3-C7AFB6D650A7}"/>
              </a:ext>
            </a:extLst>
          </p:cNvPr>
          <p:cNvSpPr/>
          <p:nvPr/>
        </p:nvSpPr>
        <p:spPr>
          <a:xfrm>
            <a:off x="485775" y="1439863"/>
            <a:ext cx="9720263" cy="5364162"/>
          </a:xfrm>
          <a:prstGeom prst="roundRect">
            <a:avLst>
              <a:gd name="adj" fmla="val 1054"/>
            </a:avLst>
          </a:prstGeom>
          <a:noFill/>
          <a:ln>
            <a:solidFill>
              <a:srgbClr val="F4973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Google Shape;2920;p34">
            <a:extLst>
              <a:ext uri="{FF2B5EF4-FFF2-40B4-BE49-F238E27FC236}">
                <a16:creationId xmlns:a16="http://schemas.microsoft.com/office/drawing/2014/main" id="{AD13371C-9EA0-49C2-ADA4-3B42A14104DA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 평가 문항</a:t>
            </a:r>
          </a:p>
        </p:txBody>
      </p:sp>
    </p:spTree>
    <p:extLst>
      <p:ext uri="{BB962C8B-B14F-4D97-AF65-F5344CB8AC3E}">
        <p14:creationId xmlns:p14="http://schemas.microsoft.com/office/powerpoint/2010/main" val="219336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2920;p34">
            <a:extLst>
              <a:ext uri="{FF2B5EF4-FFF2-40B4-BE49-F238E27FC236}">
                <a16:creationId xmlns:a16="http://schemas.microsoft.com/office/drawing/2014/main" id="{AD13371C-9EA0-49C2-ADA4-3B42A14104DA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 평가 문항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B69E96C-3148-429D-9597-940C9E552CD0}"/>
              </a:ext>
            </a:extLst>
          </p:cNvPr>
          <p:cNvSpPr/>
          <p:nvPr/>
        </p:nvSpPr>
        <p:spPr>
          <a:xfrm>
            <a:off x="485775" y="1797720"/>
            <a:ext cx="9720000" cy="612000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6" name="사각형: 둥근 위쪽 모서리 65">
            <a:extLst>
              <a:ext uri="{FF2B5EF4-FFF2-40B4-BE49-F238E27FC236}">
                <a16:creationId xmlns:a16="http://schemas.microsoft.com/office/drawing/2014/main" id="{B9D6D3E7-615A-4452-9CED-A7AC84D569AC}"/>
              </a:ext>
            </a:extLst>
          </p:cNvPr>
          <p:cNvSpPr/>
          <p:nvPr/>
        </p:nvSpPr>
        <p:spPr>
          <a:xfrm>
            <a:off x="485773" y="1439863"/>
            <a:ext cx="9720000" cy="360000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7" name="Rectangle 31">
            <a:extLst>
              <a:ext uri="{FF2B5EF4-FFF2-40B4-BE49-F238E27FC236}">
                <a16:creationId xmlns:a16="http://schemas.microsoft.com/office/drawing/2014/main" id="{D9FA4559-4B04-4C16-91DD-E2DE1A756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350" y="1489058"/>
            <a:ext cx="844783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241" algn="l"/>
              </a:tabLst>
            </a:pPr>
            <a:r>
              <a:rPr lang="ko-KR" altLang="en-US" sz="17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보안 설정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86AB891E-3C02-4B62-BF22-9FCABD3D779E}"/>
              </a:ext>
            </a:extLst>
          </p:cNvPr>
          <p:cNvGrpSpPr/>
          <p:nvPr/>
        </p:nvGrpSpPr>
        <p:grpSpPr>
          <a:xfrm>
            <a:off x="642878" y="2565993"/>
            <a:ext cx="432228" cy="498118"/>
            <a:chOff x="895292" y="1878542"/>
            <a:chExt cx="432228" cy="498118"/>
          </a:xfrm>
        </p:grpSpPr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E7DC9B12-3662-4210-8ED4-39301FA79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0" name="Rectangle 31">
              <a:extLst>
                <a:ext uri="{FF2B5EF4-FFF2-40B4-BE49-F238E27FC236}">
                  <a16:creationId xmlns:a16="http://schemas.microsoft.com/office/drawing/2014/main" id="{65AF158E-4E8D-4F0A-9F7D-7E5C1DBA4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A07B165-CDC1-4B27-8E62-FE78BF5441BD}"/>
              </a:ext>
            </a:extLst>
          </p:cNvPr>
          <p:cNvSpPr/>
          <p:nvPr/>
        </p:nvSpPr>
        <p:spPr>
          <a:xfrm>
            <a:off x="485775" y="4471446"/>
            <a:ext cx="9720000" cy="612000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2" name="사각형: 둥근 위쪽 모서리 71">
            <a:extLst>
              <a:ext uri="{FF2B5EF4-FFF2-40B4-BE49-F238E27FC236}">
                <a16:creationId xmlns:a16="http://schemas.microsoft.com/office/drawing/2014/main" id="{6E9BE094-7561-4C8D-A270-A3542400CD16}"/>
              </a:ext>
            </a:extLst>
          </p:cNvPr>
          <p:cNvSpPr/>
          <p:nvPr/>
        </p:nvSpPr>
        <p:spPr>
          <a:xfrm>
            <a:off x="485773" y="4113589"/>
            <a:ext cx="9720000" cy="360000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3" name="Rectangle 31">
            <a:extLst>
              <a:ext uri="{FF2B5EF4-FFF2-40B4-BE49-F238E27FC236}">
                <a16:creationId xmlns:a16="http://schemas.microsoft.com/office/drawing/2014/main" id="{EDE941B9-4773-4743-A6A1-2776B3EC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91" y="4162784"/>
            <a:ext cx="844783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241" algn="l"/>
              </a:tabLst>
            </a:pPr>
            <a:r>
              <a:rPr lang="ko-KR" altLang="en-US" sz="17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백업 코드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54743C9-CFD2-4C5C-B010-824A21A120FE}"/>
              </a:ext>
            </a:extLst>
          </p:cNvPr>
          <p:cNvGrpSpPr/>
          <p:nvPr/>
        </p:nvGrpSpPr>
        <p:grpSpPr>
          <a:xfrm>
            <a:off x="9540520" y="4330022"/>
            <a:ext cx="596461" cy="84354"/>
            <a:chOff x="9067796" y="1987097"/>
            <a:chExt cx="596461" cy="84354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DE41EC4-DD24-4341-9BA2-49AA4C24E77A}"/>
                </a:ext>
              </a:extLst>
            </p:cNvPr>
            <p:cNvSpPr/>
            <p:nvPr/>
          </p:nvSpPr>
          <p:spPr>
            <a:xfrm>
              <a:off x="9067796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7C6DFCEB-680C-4BB5-BEE8-EEB42415ADBD}"/>
                </a:ext>
              </a:extLst>
            </p:cNvPr>
            <p:cNvSpPr/>
            <p:nvPr/>
          </p:nvSpPr>
          <p:spPr>
            <a:xfrm>
              <a:off x="9195823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33949B44-C7D6-46CA-8DD4-9B57AB9C6A24}"/>
                </a:ext>
              </a:extLst>
            </p:cNvPr>
            <p:cNvSpPr/>
            <p:nvPr/>
          </p:nvSpPr>
          <p:spPr>
            <a:xfrm>
              <a:off x="9323850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E253764-FDFC-4588-9023-32BC2EEE7184}"/>
                </a:ext>
              </a:extLst>
            </p:cNvPr>
            <p:cNvSpPr/>
            <p:nvPr/>
          </p:nvSpPr>
          <p:spPr>
            <a:xfrm>
              <a:off x="9451877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F441D4F1-AB78-41E4-AF4E-40AF3282979C}"/>
                </a:ext>
              </a:extLst>
            </p:cNvPr>
            <p:cNvSpPr/>
            <p:nvPr/>
          </p:nvSpPr>
          <p:spPr>
            <a:xfrm>
              <a:off x="9579903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DB98390-E1CC-4090-BBEA-44E9DA4F3148}"/>
              </a:ext>
            </a:extLst>
          </p:cNvPr>
          <p:cNvGrpSpPr/>
          <p:nvPr/>
        </p:nvGrpSpPr>
        <p:grpSpPr>
          <a:xfrm>
            <a:off x="642878" y="5239719"/>
            <a:ext cx="432228" cy="498118"/>
            <a:chOff x="895292" y="1878542"/>
            <a:chExt cx="432228" cy="498118"/>
          </a:xfrm>
        </p:grpSpPr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F7E63419-F76C-4E25-96AC-A03028A35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84" name="Rectangle 31">
              <a:extLst>
                <a:ext uri="{FF2B5EF4-FFF2-40B4-BE49-F238E27FC236}">
                  <a16:creationId xmlns:a16="http://schemas.microsoft.com/office/drawing/2014/main" id="{3D5EF6FD-3597-4799-BD6A-975C4D43A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F5E7A571-41C6-4EA4-9DCD-8DBBD81E196F}"/>
              </a:ext>
            </a:extLst>
          </p:cNvPr>
          <p:cNvSpPr/>
          <p:nvPr/>
        </p:nvSpPr>
        <p:spPr>
          <a:xfrm>
            <a:off x="485775" y="1439863"/>
            <a:ext cx="9720263" cy="5364162"/>
          </a:xfrm>
          <a:prstGeom prst="roundRect">
            <a:avLst>
              <a:gd name="adj" fmla="val 1054"/>
            </a:avLst>
          </a:prstGeom>
          <a:noFill/>
          <a:ln>
            <a:solidFill>
              <a:srgbClr val="F4973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8AFA056-ED65-4023-B45F-96D4C6FE0CB1}"/>
              </a:ext>
            </a:extLst>
          </p:cNvPr>
          <p:cNvGrpSpPr/>
          <p:nvPr/>
        </p:nvGrpSpPr>
        <p:grpSpPr>
          <a:xfrm>
            <a:off x="642878" y="1864183"/>
            <a:ext cx="8858140" cy="498118"/>
            <a:chOff x="642878" y="1864183"/>
            <a:chExt cx="8858140" cy="498118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D2E1501-E58D-491E-99A5-A1D8CA93FEB3}"/>
                </a:ext>
              </a:extLst>
            </p:cNvPr>
            <p:cNvGrpSpPr/>
            <p:nvPr/>
          </p:nvGrpSpPr>
          <p:grpSpPr>
            <a:xfrm>
              <a:off x="642878" y="1864183"/>
              <a:ext cx="8858140" cy="432495"/>
              <a:chOff x="895292" y="1765845"/>
              <a:chExt cx="8858140" cy="432495"/>
            </a:xfrm>
          </p:grpSpPr>
          <p:sp>
            <p:nvSpPr>
              <p:cNvPr id="89" name="Rectangle 31">
                <a:extLst>
                  <a:ext uri="{FF2B5EF4-FFF2-40B4-BE49-F238E27FC236}">
                    <a16:creationId xmlns:a16="http://schemas.microsoft.com/office/drawing/2014/main" id="{60864535-2F71-46BF-83C3-9097F0BBC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3" y="1857798"/>
                <a:ext cx="829965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latinLnBrk="0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2</a:t>
                </a:r>
                <a:r>
                  <a:rPr lang="ko-KR" altLang="en-US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단계 인증을 사용하는 이유를 설명해 보세요</a:t>
                </a: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.</a:t>
                </a:r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24AFE7F5-B43D-4DE5-8EC5-6CA7FC800354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91" name="Freeform 21">
                  <a:extLst>
                    <a:ext uri="{FF2B5EF4-FFF2-40B4-BE49-F238E27FC236}">
                      <a16:creationId xmlns:a16="http://schemas.microsoft.com/office/drawing/2014/main" id="{5EF484F7-E9D2-454B-976B-E862800ABC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92" name="Freeform 22">
                  <a:extLst>
                    <a:ext uri="{FF2B5EF4-FFF2-40B4-BE49-F238E27FC236}">
                      <a16:creationId xmlns:a16="http://schemas.microsoft.com/office/drawing/2014/main" id="{A61CE88D-1D37-443E-AEE3-BCECE07CE4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88" name="Rectangle 31">
              <a:extLst>
                <a:ext uri="{FF2B5EF4-FFF2-40B4-BE49-F238E27FC236}">
                  <a16:creationId xmlns:a16="http://schemas.microsoft.com/office/drawing/2014/main" id="{C73A350C-4DDE-4F03-91DD-894CB6944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1888325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 latinLnBrk="0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294D5AA-5956-461D-9939-B2EB10B0C9D8}"/>
              </a:ext>
            </a:extLst>
          </p:cNvPr>
          <p:cNvGrpSpPr/>
          <p:nvPr/>
        </p:nvGrpSpPr>
        <p:grpSpPr>
          <a:xfrm>
            <a:off x="642878" y="4537909"/>
            <a:ext cx="8858140" cy="498118"/>
            <a:chOff x="642878" y="4537909"/>
            <a:chExt cx="8858140" cy="498118"/>
          </a:xfrm>
        </p:grpSpPr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D9FB68D-920E-4A7C-B9BE-28D15D5312AD}"/>
                </a:ext>
              </a:extLst>
            </p:cNvPr>
            <p:cNvGrpSpPr/>
            <p:nvPr/>
          </p:nvGrpSpPr>
          <p:grpSpPr>
            <a:xfrm>
              <a:off x="642878" y="4537909"/>
              <a:ext cx="8858140" cy="432495"/>
              <a:chOff x="895292" y="1765845"/>
              <a:chExt cx="8858140" cy="432495"/>
            </a:xfrm>
          </p:grpSpPr>
          <p:sp>
            <p:nvSpPr>
              <p:cNvPr id="96" name="Rectangle 31">
                <a:extLst>
                  <a:ext uri="{FF2B5EF4-FFF2-40B4-BE49-F238E27FC236}">
                    <a16:creationId xmlns:a16="http://schemas.microsoft.com/office/drawing/2014/main" id="{C23516B5-62B6-4D76-B752-C90699567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3" y="1857798"/>
                <a:ext cx="829965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ko-KR" altLang="en-US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백업 코드의 사용 목적을 설명해 보세요</a:t>
                </a: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.</a:t>
                </a:r>
              </a:p>
            </p:txBody>
          </p:sp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33F839C5-F439-40D1-AB7A-EAA3B5FE0D1B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98" name="Freeform 21">
                  <a:extLst>
                    <a:ext uri="{FF2B5EF4-FFF2-40B4-BE49-F238E27FC236}">
                      <a16:creationId xmlns:a16="http://schemas.microsoft.com/office/drawing/2014/main" id="{D12FA040-6999-4B97-9769-4F3F54F2C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99" name="Freeform 22">
                  <a:extLst>
                    <a:ext uri="{FF2B5EF4-FFF2-40B4-BE49-F238E27FC236}">
                      <a16:creationId xmlns:a16="http://schemas.microsoft.com/office/drawing/2014/main" id="{1CDDFBDD-52AC-49CA-ABB3-933D498C10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95" name="Rectangle 31">
              <a:extLst>
                <a:ext uri="{FF2B5EF4-FFF2-40B4-BE49-F238E27FC236}">
                  <a16:creationId xmlns:a16="http://schemas.microsoft.com/office/drawing/2014/main" id="{622BC876-1B11-4DED-A1B6-4F2A32326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4562051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9080A52-CDA5-4D2C-BD8B-4C31B3AA0E01}"/>
              </a:ext>
            </a:extLst>
          </p:cNvPr>
          <p:cNvGrpSpPr/>
          <p:nvPr/>
        </p:nvGrpSpPr>
        <p:grpSpPr>
          <a:xfrm>
            <a:off x="9540520" y="1656296"/>
            <a:ext cx="596461" cy="84354"/>
            <a:chOff x="9067796" y="1987097"/>
            <a:chExt cx="596461" cy="84354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E6397557-9328-4E24-994F-0373EBC17CEC}"/>
                </a:ext>
              </a:extLst>
            </p:cNvPr>
            <p:cNvSpPr/>
            <p:nvPr/>
          </p:nvSpPr>
          <p:spPr>
            <a:xfrm>
              <a:off x="9067796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356AE08B-8BB8-4135-87E3-4DA59625C6BD}"/>
                </a:ext>
              </a:extLst>
            </p:cNvPr>
            <p:cNvSpPr/>
            <p:nvPr/>
          </p:nvSpPr>
          <p:spPr>
            <a:xfrm>
              <a:off x="9195822" y="1987097"/>
              <a:ext cx="82800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7E1C8CD1-0F79-42AB-8071-E1D73C45EEAD}"/>
                </a:ext>
              </a:extLst>
            </p:cNvPr>
            <p:cNvSpPr/>
            <p:nvPr/>
          </p:nvSpPr>
          <p:spPr>
            <a:xfrm>
              <a:off x="9323850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9E9329BE-F0B9-43F5-82F6-CB25DDCBE975}"/>
                </a:ext>
              </a:extLst>
            </p:cNvPr>
            <p:cNvSpPr/>
            <p:nvPr/>
          </p:nvSpPr>
          <p:spPr>
            <a:xfrm>
              <a:off x="9451877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5A785D26-3B72-4E21-9394-E991AF56916C}"/>
                </a:ext>
              </a:extLst>
            </p:cNvPr>
            <p:cNvSpPr/>
            <p:nvPr/>
          </p:nvSpPr>
          <p:spPr>
            <a:xfrm>
              <a:off x="9579903" y="1987097"/>
              <a:ext cx="84354" cy="8435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67395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903;p33">
            <a:extLst>
              <a:ext uri="{FF2B5EF4-FFF2-40B4-BE49-F238E27FC236}">
                <a16:creationId xmlns:a16="http://schemas.microsoft.com/office/drawing/2014/main" id="{A7108C01-215B-4412-A428-3E900A10EC87}"/>
              </a:ext>
            </a:extLst>
          </p:cNvPr>
          <p:cNvGrpSpPr/>
          <p:nvPr/>
        </p:nvGrpSpPr>
        <p:grpSpPr>
          <a:xfrm>
            <a:off x="679968" y="1279726"/>
            <a:ext cx="2101543" cy="674005"/>
            <a:chOff x="679968" y="753191"/>
            <a:chExt cx="2101543" cy="674005"/>
          </a:xfrm>
        </p:grpSpPr>
        <p:sp>
          <p:nvSpPr>
            <p:cNvPr id="3" name="Google Shape;2904;p33">
              <a:extLst>
                <a:ext uri="{FF2B5EF4-FFF2-40B4-BE49-F238E27FC236}">
                  <a16:creationId xmlns:a16="http://schemas.microsoft.com/office/drawing/2014/main" id="{00467D5D-066B-44AE-9B14-D3CBE127C5EF}"/>
                </a:ext>
              </a:extLst>
            </p:cNvPr>
            <p:cNvSpPr/>
            <p:nvPr/>
          </p:nvSpPr>
          <p:spPr>
            <a:xfrm>
              <a:off x="743911" y="889146"/>
              <a:ext cx="2037600" cy="538050"/>
            </a:xfrm>
            <a:prstGeom prst="roundRect">
              <a:avLst>
                <a:gd name="adj" fmla="val 50000"/>
              </a:avLst>
            </a:prstGeom>
            <a:solidFill>
              <a:srgbClr val="F49737"/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altLang="ko-KR" sz="240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sym typeface="Arial"/>
                </a:rPr>
                <a:t>2</a:t>
              </a:r>
              <a:r>
                <a:rPr lang="ko-KR" altLang="en-US" sz="2400" dirty="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sym typeface="Arial"/>
                </a:rPr>
                <a:t>차시</a:t>
              </a:r>
            </a:p>
          </p:txBody>
        </p:sp>
        <p:pic>
          <p:nvPicPr>
            <p:cNvPr id="4" name="Google Shape;2905;p33">
              <a:extLst>
                <a:ext uri="{FF2B5EF4-FFF2-40B4-BE49-F238E27FC236}">
                  <a16:creationId xmlns:a16="http://schemas.microsoft.com/office/drawing/2014/main" id="{2C06A444-1CF4-49CC-8C09-1830E56E333F}"/>
                </a:ext>
              </a:extLst>
            </p:cNvPr>
            <p:cNvPicPr/>
            <p:nvPr/>
          </p:nvPicPr>
          <p:blipFill rotWithShape="1">
            <a:blip r:embed="rId2">
              <a:alphaModFix/>
            </a:blip>
            <a:srcRect/>
            <a:stretch>
              <a:fillRect/>
            </a:stretch>
          </p:blipFill>
          <p:spPr>
            <a:xfrm>
              <a:off x="679968" y="753191"/>
              <a:ext cx="384549" cy="3753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2906;p33">
            <a:extLst>
              <a:ext uri="{FF2B5EF4-FFF2-40B4-BE49-F238E27FC236}">
                <a16:creationId xmlns:a16="http://schemas.microsoft.com/office/drawing/2014/main" id="{8628A198-009A-4577-BDB7-1FA83D13078F}"/>
              </a:ext>
            </a:extLst>
          </p:cNvPr>
          <p:cNvGrpSpPr/>
          <p:nvPr/>
        </p:nvGrpSpPr>
        <p:grpSpPr>
          <a:xfrm>
            <a:off x="679968" y="4077145"/>
            <a:ext cx="9298440" cy="1426392"/>
            <a:chOff x="679968" y="753191"/>
            <a:chExt cx="9298440" cy="1426392"/>
          </a:xfrm>
        </p:grpSpPr>
        <p:sp>
          <p:nvSpPr>
            <p:cNvPr id="6" name="Google Shape;2907;p33">
              <a:extLst>
                <a:ext uri="{FF2B5EF4-FFF2-40B4-BE49-F238E27FC236}">
                  <a16:creationId xmlns:a16="http://schemas.microsoft.com/office/drawing/2014/main" id="{514B73DA-5918-462E-BEB0-B42FB1953170}"/>
                </a:ext>
              </a:extLst>
            </p:cNvPr>
            <p:cNvSpPr txBox="1"/>
            <p:nvPr/>
          </p:nvSpPr>
          <p:spPr>
            <a:xfrm rot="10800000" flipV="1">
              <a:off x="3000056" y="968995"/>
              <a:ext cx="6978352" cy="12105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en-US"/>
              </a:defPPr>
              <a:lvl1pPr>
                <a:spcAft>
                  <a:spcPts val="400"/>
                </a:spcAft>
                <a:defRPr sz="240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latin typeface="세방고딕 Regular" panose="00000500000000000000" pitchFamily="2" charset="-127"/>
                  <a:ea typeface="세방고딕 Regular" panose="00000500000000000000" pitchFamily="2" charset="-127"/>
                </a:defRPr>
              </a:lvl1pPr>
            </a:lstStyle>
            <a:p>
              <a:pPr marL="360000" indent="-360000">
                <a:spcAft>
                  <a:spcPts val="800"/>
                </a:spcAft>
                <a:buFont typeface="+mj-lt"/>
                <a:buAutoNum type="arabicPeriod"/>
              </a:pPr>
              <a:r>
                <a:rPr lang="ko-KR" altLang="en-US" dirty="0"/>
                <a:t>사용자 계정을 일괄 생성하는 방법을 이해하고         적용할 수 있다</a:t>
              </a:r>
              <a:r>
                <a:rPr lang="en-US" altLang="ko-KR" dirty="0"/>
                <a:t>. </a:t>
              </a:r>
            </a:p>
            <a:p>
              <a:pPr marL="360000" indent="-360000">
                <a:spcAft>
                  <a:spcPts val="800"/>
                </a:spcAft>
                <a:buFont typeface="+mj-lt"/>
                <a:buAutoNum type="arabicPeriod"/>
              </a:pPr>
              <a:r>
                <a:rPr lang="ko-KR" altLang="en-US" dirty="0"/>
                <a:t>계정 관리 실무를 이해하고 수행할 수 있다</a:t>
              </a:r>
              <a:r>
                <a:rPr lang="en-US" altLang="ko-KR" dirty="0"/>
                <a:t>. </a:t>
              </a:r>
            </a:p>
          </p:txBody>
        </p:sp>
        <p:grpSp>
          <p:nvGrpSpPr>
            <p:cNvPr id="7" name="Google Shape;2908;p33">
              <a:extLst>
                <a:ext uri="{FF2B5EF4-FFF2-40B4-BE49-F238E27FC236}">
                  <a16:creationId xmlns:a16="http://schemas.microsoft.com/office/drawing/2014/main" id="{1ACD309D-E75A-478B-970F-17F6CBEBD177}"/>
                </a:ext>
              </a:extLst>
            </p:cNvPr>
            <p:cNvGrpSpPr/>
            <p:nvPr/>
          </p:nvGrpSpPr>
          <p:grpSpPr>
            <a:xfrm>
              <a:off x="679968" y="753191"/>
              <a:ext cx="2101332" cy="649923"/>
              <a:chOff x="679968" y="753191"/>
              <a:chExt cx="2101332" cy="649923"/>
            </a:xfrm>
          </p:grpSpPr>
          <p:sp>
            <p:nvSpPr>
              <p:cNvPr id="8" name="Google Shape;2909;p33">
                <a:extLst>
                  <a:ext uri="{FF2B5EF4-FFF2-40B4-BE49-F238E27FC236}">
                    <a16:creationId xmlns:a16="http://schemas.microsoft.com/office/drawing/2014/main" id="{BDA61D91-AFE4-47F1-9079-04C22BEDD1D8}"/>
                  </a:ext>
                </a:extLst>
              </p:cNvPr>
              <p:cNvSpPr/>
              <p:nvPr/>
            </p:nvSpPr>
            <p:spPr>
              <a:xfrm>
                <a:off x="743912" y="889146"/>
                <a:ext cx="2037388" cy="513968"/>
              </a:xfrm>
              <a:prstGeom prst="roundRect">
                <a:avLst>
                  <a:gd name="adj" fmla="val 50000"/>
                </a:avLst>
              </a:prstGeom>
              <a:solidFill>
                <a:srgbClr val="F49737"/>
              </a:solidFill>
              <a:ln>
                <a:noFill/>
              </a:ln>
            </p:spPr>
            <p:txBody>
              <a:bodyPr wrap="square" lIns="288000" tIns="0" rIns="0" bIns="0" anchor="ctr" anchorCtr="0">
                <a:noAutofit/>
              </a:bodyPr>
              <a:lstStyle/>
              <a:p>
                <a:pPr>
                  <a:defRPr/>
                </a:pPr>
                <a:r>
                  <a:rPr lang="ko-KR" altLang="en-US" sz="2400" dirty="0">
                    <a:ln w="9525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sym typeface="Arial"/>
                  </a:rPr>
                  <a:t>학습 목표</a:t>
                </a:r>
              </a:p>
            </p:txBody>
          </p:sp>
          <p:pic>
            <p:nvPicPr>
              <p:cNvPr id="9" name="Google Shape;2910;p33">
                <a:extLst>
                  <a:ext uri="{FF2B5EF4-FFF2-40B4-BE49-F238E27FC236}">
                    <a16:creationId xmlns:a16="http://schemas.microsoft.com/office/drawing/2014/main" id="{E029B03F-187D-42C2-8030-814263EE3F57}"/>
                  </a:ext>
                </a:extLst>
              </p:cNvPr>
              <p:cNvPicPr/>
              <p:nvPr/>
            </p:nvPicPr>
            <p:blipFill rotWithShape="1">
              <a:blip r:embed="rId2">
                <a:alphaModFix/>
              </a:blip>
              <a:srcRect/>
              <a:stretch>
                <a:fillRect/>
              </a:stretch>
            </p:blipFill>
            <p:spPr>
              <a:xfrm>
                <a:off x="679968" y="753191"/>
                <a:ext cx="384549" cy="3753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" name="Google Shape;2902;p33">
            <a:extLst>
              <a:ext uri="{FF2B5EF4-FFF2-40B4-BE49-F238E27FC236}">
                <a16:creationId xmlns:a16="http://schemas.microsoft.com/office/drawing/2014/main" id="{0559BC76-0C35-45C3-9A5B-1752655F2F59}"/>
              </a:ext>
            </a:extLst>
          </p:cNvPr>
          <p:cNvSpPr txBox="1"/>
          <p:nvPr/>
        </p:nvSpPr>
        <p:spPr>
          <a:xfrm>
            <a:off x="812767" y="2175081"/>
            <a:ext cx="9055133" cy="1354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lvl="0">
              <a:buSzPct val="90000"/>
              <a:defRPr/>
            </a:pPr>
            <a:r>
              <a:rPr lang="ko-KR" altLang="en-US" sz="44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계정 일괄 생성 및</a:t>
            </a:r>
          </a:p>
          <a:p>
            <a:pPr lvl="0">
              <a:buSzPct val="90000"/>
              <a:defRPr/>
            </a:pPr>
            <a:r>
              <a:rPr lang="ko-KR" altLang="en-US" sz="44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실무 시나리오 실습</a:t>
            </a:r>
          </a:p>
        </p:txBody>
      </p:sp>
    </p:spTree>
    <p:extLst>
      <p:ext uri="{BB962C8B-B14F-4D97-AF65-F5344CB8AC3E}">
        <p14:creationId xmlns:p14="http://schemas.microsoft.com/office/powerpoint/2010/main" val="2948621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920;p34">
            <a:extLst>
              <a:ext uri="{FF2B5EF4-FFF2-40B4-BE49-F238E27FC236}">
                <a16:creationId xmlns:a16="http://schemas.microsoft.com/office/drawing/2014/main" id="{1C53978A-8D5C-4F64-80B4-6CB2379D31F2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en-US" altLang="ko-KR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1) </a:t>
            </a: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일괄 계정 생성하기</a:t>
            </a:r>
          </a:p>
        </p:txBody>
      </p:sp>
      <p:sp>
        <p:nvSpPr>
          <p:cNvPr id="12" name="Google Shape;2921;p34">
            <a:extLst>
              <a:ext uri="{FF2B5EF4-FFF2-40B4-BE49-F238E27FC236}">
                <a16:creationId xmlns:a16="http://schemas.microsoft.com/office/drawing/2014/main" id="{322A7FE8-D59B-4DF8-8AD8-0C8CE6E8F4FF}"/>
              </a:ext>
            </a:extLst>
          </p:cNvPr>
          <p:cNvSpPr txBox="1"/>
          <p:nvPr/>
        </p:nvSpPr>
        <p:spPr>
          <a:xfrm>
            <a:off x="485774" y="1414583"/>
            <a:ext cx="4012483" cy="30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가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계정 일괄 생성하기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69B6DC-8850-4D13-98B3-FB281E3B611C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C2E4183-D58A-49CC-9DAF-0162951D8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6" y="1861518"/>
            <a:ext cx="8673620" cy="48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213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921;p34">
            <a:extLst>
              <a:ext uri="{FF2B5EF4-FFF2-40B4-BE49-F238E27FC236}">
                <a16:creationId xmlns:a16="http://schemas.microsoft.com/office/drawing/2014/main" id="{322A7FE8-D59B-4DF8-8AD8-0C8CE6E8F4FF}"/>
              </a:ext>
            </a:extLst>
          </p:cNvPr>
          <p:cNvSpPr txBox="1"/>
          <p:nvPr/>
        </p:nvSpPr>
        <p:spPr>
          <a:xfrm>
            <a:off x="485774" y="1414583"/>
            <a:ext cx="40124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나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CSV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파일 주요 열 구성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0CFFC9B-C44E-4DFB-BF50-CC61A5F5D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133831"/>
              </p:ext>
            </p:extLst>
          </p:nvPr>
        </p:nvGraphicFramePr>
        <p:xfrm>
          <a:off x="485905" y="1825013"/>
          <a:ext cx="9720136" cy="49790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52345">
                  <a:extLst>
                    <a:ext uri="{9D8B030D-6E8A-4147-A177-3AD203B41FA5}">
                      <a16:colId xmlns:a16="http://schemas.microsoft.com/office/drawing/2014/main" val="1907659668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536621367"/>
                    </a:ext>
                  </a:extLst>
                </a:gridCol>
                <a:gridCol w="2115283">
                  <a:extLst>
                    <a:ext uri="{9D8B030D-6E8A-4147-A177-3AD203B41FA5}">
                      <a16:colId xmlns:a16="http://schemas.microsoft.com/office/drawing/2014/main" val="83531561"/>
                    </a:ext>
                  </a:extLst>
                </a:gridCol>
                <a:gridCol w="4842733">
                  <a:extLst>
                    <a:ext uri="{9D8B030D-6E8A-4147-A177-3AD203B41FA5}">
                      <a16:colId xmlns:a16="http://schemas.microsoft.com/office/drawing/2014/main" val="2612090769"/>
                    </a:ext>
                  </a:extLst>
                </a:gridCol>
              </a:tblGrid>
              <a:tr h="431132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 err="1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필드명</a:t>
                      </a:r>
                      <a:endParaRPr lang="ko-KR" altLang="en-US" sz="1800" b="1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입력 예시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51342"/>
                  </a:ext>
                </a:extLst>
              </a:tr>
              <a:tr h="757980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A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First Name [Required]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길동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학생의 이름을 입력합니다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712571"/>
                  </a:ext>
                </a:extLst>
              </a:tr>
              <a:tr h="757980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B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Last Name [Required]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홍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학생의 성을 입력합니다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89361"/>
                  </a:ext>
                </a:extLst>
              </a:tr>
              <a:tr h="757980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C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Email Address [Required]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hongildong@school.kr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학교 도메인이 포함된 전체 이메일 주소입니다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91662"/>
                  </a:ext>
                </a:extLst>
              </a:tr>
              <a:tr h="757980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D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Password [Required]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20250101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계정의 초기 비밀번호입니다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최소 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8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자 이상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필수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61411"/>
                  </a:ext>
                </a:extLst>
              </a:tr>
              <a:tr h="757980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F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Org Unit Path [Required]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학생</a:t>
                      </a:r>
                      <a:r>
                        <a:rPr lang="en-US" altLang="ko-KR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/1</a:t>
                      </a:r>
                      <a:r>
                        <a:rPr lang="ko-KR" alt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학년</a:t>
                      </a:r>
                      <a:r>
                        <a:rPr lang="en-US" altLang="ko-KR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/1</a:t>
                      </a:r>
                      <a:r>
                        <a:rPr lang="ko-KR" alt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계정이 생성될 그룹 경로입니다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 콘솔의 조직 이름과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완벽히 일치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해야 함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568"/>
                  </a:ext>
                </a:extLst>
              </a:tr>
              <a:tr h="757980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Z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열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Change Password at Next Sign-In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FALSE </a:t>
                      </a:r>
                      <a:r>
                        <a:rPr lang="ko-KR" altLang="en-US" sz="16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또는 공란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첫 로그인 시 비번 변경 요청 여부</a:t>
                      </a:r>
                      <a:endParaRPr lang="en-US" altLang="ko-KR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초등학생은 관리 편의를 위해 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FALSE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권장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682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941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921;p34">
            <a:extLst>
              <a:ext uri="{FF2B5EF4-FFF2-40B4-BE49-F238E27FC236}">
                <a16:creationId xmlns:a16="http://schemas.microsoft.com/office/drawing/2014/main" id="{322A7FE8-D59B-4DF8-8AD8-0C8CE6E8F4FF}"/>
              </a:ext>
            </a:extLst>
          </p:cNvPr>
          <p:cNvSpPr txBox="1"/>
          <p:nvPr/>
        </p:nvSpPr>
        <p:spPr>
          <a:xfrm>
            <a:off x="485774" y="1414583"/>
            <a:ext cx="63970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1: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구글 스프레드시트로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CSV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만들기</a:t>
            </a:r>
          </a:p>
        </p:txBody>
      </p:sp>
      <p:sp>
        <p:nvSpPr>
          <p:cNvPr id="4" name="Google Shape;2922;p34">
            <a:extLst>
              <a:ext uri="{FF2B5EF4-FFF2-40B4-BE49-F238E27FC236}">
                <a16:creationId xmlns:a16="http://schemas.microsoft.com/office/drawing/2014/main" id="{02C65D4D-F6F0-4B4F-A2E5-097801C92CA8}"/>
              </a:ext>
            </a:extLst>
          </p:cNvPr>
          <p:cNvSpPr txBox="1"/>
          <p:nvPr/>
        </p:nvSpPr>
        <p:spPr>
          <a:xfrm>
            <a:off x="485774" y="1825012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관리 콘솔 →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디렉터리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사용자 일괄 업데이트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B3D9550-2A9D-4A26-9259-B5068843CE9A}"/>
              </a:ext>
            </a:extLst>
          </p:cNvPr>
          <p:cNvSpPr/>
          <p:nvPr/>
        </p:nvSpPr>
        <p:spPr>
          <a:xfrm>
            <a:off x="485906" y="2225750"/>
            <a:ext cx="9720000" cy="457827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Google Shape;2921;p34">
            <a:extLst>
              <a:ext uri="{FF2B5EF4-FFF2-40B4-BE49-F238E27FC236}">
                <a16:creationId xmlns:a16="http://schemas.microsoft.com/office/drawing/2014/main" id="{000B253F-E40D-4FFD-B30B-17E86AD96864}"/>
              </a:ext>
            </a:extLst>
          </p:cNvPr>
          <p:cNvSpPr txBox="1"/>
          <p:nvPr/>
        </p:nvSpPr>
        <p:spPr>
          <a:xfrm>
            <a:off x="1831351" y="23456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관리자 콘솔에서 사용자 일괄 업데이트 메뉴 선택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7F34614-E1AB-4AC3-836E-5ADDBE940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82" y="2585657"/>
            <a:ext cx="9510048" cy="415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297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빈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템플릿 다운로드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클릭하여 쉼표로 구분된 값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(.csv)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파일을 다운로드합니다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빈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템플릿 다운로드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DCEDE91-BE3C-4919-9B80-98030ABB9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774" y="2201611"/>
            <a:ext cx="5396265" cy="449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543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Google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앱 메뉴에서 스프레드시트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(Sheets)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실행합니다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2-3&gt; Google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앱 메뉴에서 스프레드시트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(Sheets)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선택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0AEB16-A12D-45C6-976D-448673989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354" y="2209265"/>
            <a:ext cx="2705105" cy="453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949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빈 스프레드시트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클릭하여 새 문서를 생성합니다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2-4&gt;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새 스프레드시트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BA25DE-D168-4C3A-8D45-127817CE3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26" y="3060177"/>
            <a:ext cx="9409748" cy="247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520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⑤ 상단 메뉴에서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가져오기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2-5&gt;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파일에서 가져오기 클릭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0D9658-3BD0-4856-B270-07AC599F5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26" y="2381803"/>
            <a:ext cx="9485948" cy="400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874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⑥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업로드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탭을 선택한 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찾아보기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클릭하여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파일을 선택합니다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2-6&gt;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가져오기 창에서 ‘업로드’ 선택 및 파일 찾기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EF5515-556F-4FE8-B9AF-EDE155945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2237656"/>
            <a:ext cx="7061200" cy="444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615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⑦ 업로드할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파일을 선택합니다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2-7&gt;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업로드할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선택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22CD86-C5DD-432F-991D-18C70C652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752" y="2236067"/>
            <a:ext cx="7794308" cy="445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41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⑧ 스프레드시트에서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파일의 항목 구성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열 구조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확인합니다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2-8&gt; 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템플릿 구조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5CD9FF-C032-4C81-B2B5-805929606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52" y="3252479"/>
            <a:ext cx="9470708" cy="209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299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D6C0D2DD-3188-438E-A3E7-2CDCF370F2AF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⑨ 각 항목에 맞게 사용자 정보를 입력합니다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A745B-4A86-4DE1-87A7-1B0CD2DAB0E5}"/>
              </a:ext>
            </a:extLst>
          </p:cNvPr>
          <p:cNvSpPr/>
          <p:nvPr/>
        </p:nvSpPr>
        <p:spPr>
          <a:xfrm>
            <a:off x="486237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AD8622BC-2C5F-49A1-940D-E2464B462393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2-9&gt;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정보 입력 및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OU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경로 입력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74E813-9053-4ED9-B0CA-98499613C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44" y="3247248"/>
            <a:ext cx="9487787" cy="210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329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890AD19F-B501-4AE4-BEEE-0EBFED58622C}"/>
              </a:ext>
            </a:extLst>
          </p:cNvPr>
          <p:cNvGrpSpPr/>
          <p:nvPr/>
        </p:nvGrpSpPr>
        <p:grpSpPr>
          <a:xfrm>
            <a:off x="485774" y="1414583"/>
            <a:ext cx="9720263" cy="707890"/>
            <a:chOff x="485774" y="1825012"/>
            <a:chExt cx="9720263" cy="707890"/>
          </a:xfrm>
        </p:grpSpPr>
        <p:sp>
          <p:nvSpPr>
            <p:cNvPr id="12" name="Google Shape;2922;p34">
              <a:extLst>
                <a:ext uri="{FF2B5EF4-FFF2-40B4-BE49-F238E27FC236}">
                  <a16:creationId xmlns:a16="http://schemas.microsoft.com/office/drawing/2014/main" id="{1399D250-BAD6-4A6E-92E9-5857AD1F68BD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2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필수 입력 항목</a:t>
              </a:r>
            </a:p>
          </p:txBody>
        </p:sp>
        <p:sp>
          <p:nvSpPr>
            <p:cNvPr id="14" name="Google Shape;2922;p34">
              <a:extLst>
                <a:ext uri="{FF2B5EF4-FFF2-40B4-BE49-F238E27FC236}">
                  <a16:creationId xmlns:a16="http://schemas.microsoft.com/office/drawing/2014/main" id="{24D42F8F-4CBC-4298-8913-12A753648249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3"/>
                </a:buBlip>
              </a:pP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First Name / Last Name / Email Address / Password / Org Unit Path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는 반드시 입력해야 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86C280F-0696-4144-8940-E041CE12A547}"/>
              </a:ext>
            </a:extLst>
          </p:cNvPr>
          <p:cNvGrpSpPr/>
          <p:nvPr/>
        </p:nvGrpSpPr>
        <p:grpSpPr>
          <a:xfrm>
            <a:off x="485774" y="2313743"/>
            <a:ext cx="9720263" cy="4072914"/>
            <a:chOff x="485774" y="1825012"/>
            <a:chExt cx="9720263" cy="4072914"/>
          </a:xfrm>
        </p:grpSpPr>
        <p:sp>
          <p:nvSpPr>
            <p:cNvPr id="16" name="Google Shape;2922;p34">
              <a:extLst>
                <a:ext uri="{FF2B5EF4-FFF2-40B4-BE49-F238E27FC236}">
                  <a16:creationId xmlns:a16="http://schemas.microsoft.com/office/drawing/2014/main" id="{79C6185F-FA2C-4713-AF04-70403E213697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lvl="0" indent="-216000">
                <a:spcAft>
                  <a:spcPts val="600"/>
                </a:spcAft>
                <a:buClr>
                  <a:srgbClr val="3F3F3F"/>
                </a:buClr>
                <a:buSzPct val="105000"/>
                <a:buBlip>
                  <a:blip r:embed="rId2"/>
                </a:buBlip>
              </a:pPr>
              <a:r>
                <a:rPr lang="ko-KR" altLang="en-US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항목별 작성 팁</a:t>
              </a:r>
            </a:p>
          </p:txBody>
        </p:sp>
        <p:sp>
          <p:nvSpPr>
            <p:cNvPr id="17" name="Google Shape;2922;p34">
              <a:extLst>
                <a:ext uri="{FF2B5EF4-FFF2-40B4-BE49-F238E27FC236}">
                  <a16:creationId xmlns:a16="http://schemas.microsoft.com/office/drawing/2014/main" id="{AA153552-6B97-4CBA-8DCB-CEEE60CA6AE6}"/>
                </a:ext>
              </a:extLst>
            </p:cNvPr>
            <p:cNvSpPr txBox="1"/>
            <p:nvPr/>
          </p:nvSpPr>
          <p:spPr>
            <a:xfrm>
              <a:off x="485774" y="2178959"/>
              <a:ext cx="9720263" cy="3718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200"/>
                </a:spcAft>
                <a:buClr>
                  <a:srgbClr val="3F3F3F"/>
                </a:buClr>
                <a:buSzPct val="90000"/>
                <a:buBlip>
                  <a:blip r:embed="rId3"/>
                </a:buBlip>
              </a:pP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First Name / Last Name (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이름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/ 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성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)</a:t>
              </a:r>
            </a:p>
            <a:p>
              <a:pPr marL="396000" indent="-216000">
                <a:spcAft>
                  <a:spcPts val="800"/>
                </a:spcAft>
                <a:buClr>
                  <a:srgbClr val="3F3F3F"/>
                </a:buClr>
                <a:buSzPct val="90000"/>
                <a:buFont typeface="나눔스퀘어_ac" panose="020B0600000101010101" pitchFamily="50" charset="-127"/>
                <a:buChar char="→"/>
              </a:pP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실제 사용자 이름을 정확하게 입력합니다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.(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: 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홍 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 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길동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</a:p>
            <a:p>
              <a:pPr marL="216000" indent="-216000">
                <a:spcAft>
                  <a:spcPts val="200"/>
                </a:spcAft>
                <a:buClr>
                  <a:srgbClr val="3F3F3F"/>
                </a:buClr>
                <a:buSzPct val="90000"/>
                <a:buBlip>
                  <a:blip r:embed="rId3"/>
                </a:buBlip>
              </a:pP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Email Address (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이메일 주소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)</a:t>
              </a:r>
            </a:p>
            <a:p>
              <a:pPr marL="396000" indent="-216000">
                <a:spcAft>
                  <a:spcPts val="800"/>
                </a:spcAft>
                <a:buClr>
                  <a:srgbClr val="3F3F3F"/>
                </a:buClr>
                <a:buSzPct val="90000"/>
                <a:buFont typeface="나눔스퀘어_ac" panose="020B0600000101010101" pitchFamily="50" charset="-127"/>
                <a:buChar char="→"/>
              </a:pP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중복되지 않도록 학교에서 정한 계정 규칙을 반드시 따릅니다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b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</a:b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: honggildong@g.jbedu.kr)</a:t>
              </a:r>
            </a:p>
            <a:p>
              <a:pPr marL="216000" indent="-216000">
                <a:spcAft>
                  <a:spcPts val="200"/>
                </a:spcAft>
                <a:buClr>
                  <a:srgbClr val="3F3F3F"/>
                </a:buClr>
                <a:buSzPct val="90000"/>
                <a:buBlip>
                  <a:blip r:embed="rId3"/>
                </a:buBlip>
              </a:pP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Password (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비밀번호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)</a:t>
              </a:r>
            </a:p>
            <a:p>
              <a:pPr marL="396000" indent="-216000">
                <a:spcAft>
                  <a:spcPts val="600"/>
                </a:spcAft>
                <a:buClr>
                  <a:srgbClr val="3F3F3F"/>
                </a:buClr>
                <a:buSzPct val="90000"/>
                <a:buFont typeface="나눔스퀘어_ac" panose="020B0600000101010101" pitchFamily="50" charset="-127"/>
                <a:buChar char="→"/>
              </a:pP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초기 비밀번호를 설정합니다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396000" indent="-216000">
                <a:spcAft>
                  <a:spcPts val="800"/>
                </a:spcAft>
                <a:buClr>
                  <a:srgbClr val="3F3F3F"/>
                </a:buClr>
                <a:buSzPct val="90000"/>
                <a:buFont typeface="나눔스퀘어_ac" panose="020B0600000101010101" pitchFamily="50" charset="-127"/>
                <a:buChar char="→"/>
              </a:pP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이후 ‘최초 로그인 시 변경’ 설정을 함께 사용하는 것이 좋습니다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216000" indent="-216000">
                <a:spcAft>
                  <a:spcPts val="200"/>
                </a:spcAft>
                <a:buClr>
                  <a:srgbClr val="3F3F3F"/>
                </a:buClr>
                <a:buSzPct val="90000"/>
                <a:buBlip>
                  <a:blip r:embed="rId3"/>
                </a:buBlip>
              </a:pP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Org Unit Path (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조직 단위 경로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) </a:t>
              </a:r>
            </a:p>
            <a:p>
              <a:pPr marL="396000" indent="-216000">
                <a:spcAft>
                  <a:spcPts val="600"/>
                </a:spcAft>
                <a:buClr>
                  <a:srgbClr val="3F3F3F"/>
                </a:buClr>
                <a:buSzPct val="90000"/>
                <a:buFont typeface="나눔스퀘어_ac" panose="020B0600000101010101" pitchFamily="50" charset="-127"/>
                <a:buChar char="→"/>
              </a:pP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반드시 정확한 경로를 입력해야 합니다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  <a:p>
              <a:pPr marL="396000" indent="-216000">
                <a:spcAft>
                  <a:spcPts val="600"/>
                </a:spcAft>
                <a:buClr>
                  <a:srgbClr val="3F3F3F"/>
                </a:buClr>
                <a:buSzPct val="90000"/>
                <a:buFont typeface="나눔스퀘어_ac" panose="020B0600000101010101" pitchFamily="50" charset="-127"/>
                <a:buChar char="→"/>
              </a:pP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조직 구조와 다르면 계정 생성이 되지 않거나 잘못된 위치에 생성됩니다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b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</a:b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: /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전주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초등학교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/00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초등학교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/2026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학년도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/1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학년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0</a:t>
              </a:r>
              <a:r>
                <a:rPr lang="ko-KR" altLang="en-US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반</a:t>
              </a:r>
              <a:r>
                <a:rPr lang="en-US" altLang="ko-KR" sz="16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0517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22;p34">
            <a:extLst>
              <a:ext uri="{FF2B5EF4-FFF2-40B4-BE49-F238E27FC236}">
                <a16:creationId xmlns:a16="http://schemas.microsoft.com/office/drawing/2014/main" id="{EDC462F3-EBDC-428B-A5DE-DE093A4C3D97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⑩ 상단 메뉴에서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다운로드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쉼표로 구분된 값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(.csv)]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선택하여 파일을 저장합니다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DA00BC1-ED7B-4056-8C50-4C7CA615AFBE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8F4707F1-CF9A-4D0B-9049-CB183A6D0BF5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2-10&gt;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스프레드시트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다운로드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C6976B0-2237-4D9F-9170-0AD2D11F5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" y="2454012"/>
            <a:ext cx="9455468" cy="408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29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921;p34">
            <a:extLst>
              <a:ext uri="{FF2B5EF4-FFF2-40B4-BE49-F238E27FC236}">
                <a16:creationId xmlns:a16="http://schemas.microsoft.com/office/drawing/2014/main" id="{D7CF85D0-D10A-44C6-BC65-D281C7AAA053}"/>
              </a:ext>
            </a:extLst>
          </p:cNvPr>
          <p:cNvSpPr txBox="1"/>
          <p:nvPr/>
        </p:nvSpPr>
        <p:spPr>
          <a:xfrm>
            <a:off x="485774" y="1414583"/>
            <a:ext cx="63970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라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2: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엑셀로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CSV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만들기</a:t>
            </a:r>
          </a:p>
        </p:txBody>
      </p:sp>
      <p:sp>
        <p:nvSpPr>
          <p:cNvPr id="22" name="Google Shape;2922;p34">
            <a:extLst>
              <a:ext uri="{FF2B5EF4-FFF2-40B4-BE49-F238E27FC236}">
                <a16:creationId xmlns:a16="http://schemas.microsoft.com/office/drawing/2014/main" id="{F59C9249-5DE8-4882-BA01-934BE2910CB2}"/>
              </a:ext>
            </a:extLst>
          </p:cNvPr>
          <p:cNvSpPr txBox="1"/>
          <p:nvPr/>
        </p:nvSpPr>
        <p:spPr>
          <a:xfrm>
            <a:off x="485774" y="1825012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빈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템플릿 다운로드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클릭하여 쉼표로 구분된 값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(.csv)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파일을 다운로드합니다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1FEEDD1-9661-4FAD-B5DB-35922A6DA4D8}"/>
              </a:ext>
            </a:extLst>
          </p:cNvPr>
          <p:cNvSpPr/>
          <p:nvPr/>
        </p:nvSpPr>
        <p:spPr>
          <a:xfrm>
            <a:off x="485906" y="2225750"/>
            <a:ext cx="9720000" cy="457827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Google Shape;2921;p34">
            <a:extLst>
              <a:ext uri="{FF2B5EF4-FFF2-40B4-BE49-F238E27FC236}">
                <a16:creationId xmlns:a16="http://schemas.microsoft.com/office/drawing/2014/main" id="{A1AFEE0F-301F-4D42-84D6-5F3094C41D97}"/>
              </a:ext>
            </a:extLst>
          </p:cNvPr>
          <p:cNvSpPr txBox="1"/>
          <p:nvPr/>
        </p:nvSpPr>
        <p:spPr>
          <a:xfrm>
            <a:off x="1831351" y="23456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2-11&gt;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빈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템플릿 다운로드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9C2F180-61F7-4DD9-BACC-BADF0C51F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913" y="2648114"/>
            <a:ext cx="4471988" cy="403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791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38F7DCEA-ECA3-4378-8207-2F0DFFB09576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다운로드한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파일을 엽니다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C6915A-495B-421F-AC86-DCFB42373845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77067401-B3E4-4E81-A55A-6BD5A30C98AF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2-12&gt;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다운로드한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확인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01DC2E-635C-42BC-B867-5122C34B5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86" y="2578520"/>
            <a:ext cx="9516428" cy="359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74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38F7DCEA-ECA3-4378-8207-2F0DFFB09576}"/>
              </a:ext>
            </a:extLst>
          </p:cNvPr>
          <p:cNvSpPr txBox="1"/>
          <p:nvPr/>
        </p:nvSpPr>
        <p:spPr>
          <a:xfrm>
            <a:off x="485774" y="1414583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엑셀에서 파일 ‘다른 이름으로 저장’ →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Excel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 문서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(.xlsx)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저장합니다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b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상태에서 작업하면 글자 깨짐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저장 오류가 발생할 수 있음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D0CF1E0-E2EC-42D3-B112-248F08C823A3}"/>
              </a:ext>
            </a:extLst>
          </p:cNvPr>
          <p:cNvSpPr/>
          <p:nvPr/>
        </p:nvSpPr>
        <p:spPr>
          <a:xfrm>
            <a:off x="485906" y="2110740"/>
            <a:ext cx="9720000" cy="469328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39C5A1DC-E676-4892-8B50-C85892F3559B}"/>
              </a:ext>
            </a:extLst>
          </p:cNvPr>
          <p:cNvSpPr txBox="1"/>
          <p:nvPr/>
        </p:nvSpPr>
        <p:spPr>
          <a:xfrm>
            <a:off x="1831351" y="22313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2-13&gt;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다른 이름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엑셀통합문서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으로 저장 선택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F6C561-46F7-4FEA-B28A-579C4F0D6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77" y="2547888"/>
            <a:ext cx="7330058" cy="409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282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38F7DCEA-ECA3-4378-8207-2F0DFFB09576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엑셀 파일에서 사용자 정보를 입력합니다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열 구성은 기존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템플릿과 동일하게 유지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34AD5E8-6CA1-491F-A7E7-1D134A4EE887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AA9AD732-7662-461A-AE31-63C65A535FF0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2-14&gt;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엑셀에서 사용자 정보 입력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92834C6-7A77-4F59-9D7D-87B9A7DE0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2326056"/>
            <a:ext cx="9501188" cy="431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66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38F7DCEA-ECA3-4378-8207-2F0DFFB09576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⑤ 작업이 완료되면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다른 이름으로 저장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→ [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</a:rPr>
              <a:t>CSV UTF-8 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</a:rPr>
              <a:t>쉼표로 분리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</a:rPr>
              <a:t>)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형식으로 저장합니다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34AD5E8-6CA1-491F-A7E7-1D134A4EE887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Google Shape;2921;p34">
            <a:extLst>
              <a:ext uri="{FF2B5EF4-FFF2-40B4-BE49-F238E27FC236}">
                <a16:creationId xmlns:a16="http://schemas.microsoft.com/office/drawing/2014/main" id="{AA9AD732-7662-461A-AE31-63C65A535FF0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2-15&gt;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다른 이름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(CSV UTF-8)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으로 저장 선택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00CB9C-F30D-4002-AB23-C827EC3E6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310" y="2238842"/>
            <a:ext cx="7753193" cy="438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006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21;p34">
            <a:extLst>
              <a:ext uri="{FF2B5EF4-FFF2-40B4-BE49-F238E27FC236}">
                <a16:creationId xmlns:a16="http://schemas.microsoft.com/office/drawing/2014/main" id="{B4562791-8277-49DE-BDBD-773371195236}"/>
              </a:ext>
            </a:extLst>
          </p:cNvPr>
          <p:cNvSpPr txBox="1"/>
          <p:nvPr/>
        </p:nvSpPr>
        <p:spPr>
          <a:xfrm>
            <a:off x="485774" y="1414583"/>
            <a:ext cx="63970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마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3: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관리 콘솔에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CSV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업로드하기</a:t>
            </a:r>
          </a:p>
        </p:txBody>
      </p:sp>
      <p:sp>
        <p:nvSpPr>
          <p:cNvPr id="3" name="Google Shape;2922;p34">
            <a:extLst>
              <a:ext uri="{FF2B5EF4-FFF2-40B4-BE49-F238E27FC236}">
                <a16:creationId xmlns:a16="http://schemas.microsoft.com/office/drawing/2014/main" id="{71D85113-E849-4B4E-9588-C4BCB36348F7}"/>
              </a:ext>
            </a:extLst>
          </p:cNvPr>
          <p:cNvSpPr txBox="1"/>
          <p:nvPr/>
        </p:nvSpPr>
        <p:spPr>
          <a:xfrm>
            <a:off x="485774" y="1825012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 첨부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버튼을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D9B632D-D466-40E1-84CF-0E00EAD34D4D}"/>
              </a:ext>
            </a:extLst>
          </p:cNvPr>
          <p:cNvSpPr/>
          <p:nvPr/>
        </p:nvSpPr>
        <p:spPr>
          <a:xfrm>
            <a:off x="485906" y="2225750"/>
            <a:ext cx="9720000" cy="457827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Google Shape;2921;p34">
            <a:extLst>
              <a:ext uri="{FF2B5EF4-FFF2-40B4-BE49-F238E27FC236}">
                <a16:creationId xmlns:a16="http://schemas.microsoft.com/office/drawing/2014/main" id="{5D04C085-21FD-4622-BD7C-FBFFC5DFF123}"/>
              </a:ext>
            </a:extLst>
          </p:cNvPr>
          <p:cNvSpPr txBox="1"/>
          <p:nvPr/>
        </p:nvSpPr>
        <p:spPr>
          <a:xfrm>
            <a:off x="1831351" y="23456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2-19&gt; 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첨부 버튼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121C68-111F-4757-B9D4-F19BF064B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413" y="2673945"/>
            <a:ext cx="4852987" cy="401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4369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63D5B5D5-334A-4DEF-8F26-23FD0538801C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업로드할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CSV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파일을 선택한 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열기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74FA0A1-DE2A-40CE-A2CA-15E37EEBB929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F5C70843-D449-4D93-994A-113D8FF492BB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선택 및 열기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2CD556-56E9-4073-BD51-F1D30E2CB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4" y="2243583"/>
            <a:ext cx="9531666" cy="442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21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63D5B5D5-334A-4DEF-8F26-23FD0538801C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업로드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버튼을 클릭하여 사용자 일괄 생성을 실행합니다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74FA0A1-DE2A-40CE-A2CA-15E37EEBB929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2921;p34">
            <a:extLst>
              <a:ext uri="{FF2B5EF4-FFF2-40B4-BE49-F238E27FC236}">
                <a16:creationId xmlns:a16="http://schemas.microsoft.com/office/drawing/2014/main" id="{F5C70843-D449-4D93-994A-113D8FF492BB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2-21&gt; CSV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업로드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F741F4-600A-4630-8336-7F4C42544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805" y="2246141"/>
            <a:ext cx="4954202" cy="443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190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63D5B5D5-334A-4DEF-8F26-23FD0538801C}"/>
              </a:ext>
            </a:extLst>
          </p:cNvPr>
          <p:cNvSpPr txBox="1"/>
          <p:nvPr/>
        </p:nvSpPr>
        <p:spPr>
          <a:xfrm>
            <a:off x="485774" y="1414583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우측 상단 작업 아이콘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dirty="0"/>
              <a:t>⏳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클릭하여 처리 상태를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b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‘</a:t>
            </a:r>
            <a:r>
              <a:rPr lang="ko-KR" altLang="en-US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완료됨’으로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표시되면 정상적으로 처리된 것입니다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F72806-F4D2-4062-A7D5-887CDE41AC56}"/>
              </a:ext>
            </a:extLst>
          </p:cNvPr>
          <p:cNvSpPr/>
          <p:nvPr/>
        </p:nvSpPr>
        <p:spPr>
          <a:xfrm>
            <a:off x="485906" y="2110740"/>
            <a:ext cx="9720000" cy="469328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2921;p34">
            <a:extLst>
              <a:ext uri="{FF2B5EF4-FFF2-40B4-BE49-F238E27FC236}">
                <a16:creationId xmlns:a16="http://schemas.microsoft.com/office/drawing/2014/main" id="{B323116A-B728-4C8B-972D-2BD7C2F96F71}"/>
              </a:ext>
            </a:extLst>
          </p:cNvPr>
          <p:cNvSpPr txBox="1"/>
          <p:nvPr/>
        </p:nvSpPr>
        <p:spPr>
          <a:xfrm>
            <a:off x="962101" y="2231315"/>
            <a:ext cx="39076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2-22&gt;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일괄 업로드 진행 상태 확인</a:t>
            </a:r>
          </a:p>
        </p:txBody>
      </p:sp>
      <p:sp>
        <p:nvSpPr>
          <p:cNvPr id="14" name="Google Shape;2921;p34">
            <a:extLst>
              <a:ext uri="{FF2B5EF4-FFF2-40B4-BE49-F238E27FC236}">
                <a16:creationId xmlns:a16="http://schemas.microsoft.com/office/drawing/2014/main" id="{E95E6FD4-5550-4F26-A6AE-492A99A44744}"/>
              </a:ext>
            </a:extLst>
          </p:cNvPr>
          <p:cNvSpPr txBox="1"/>
          <p:nvPr/>
        </p:nvSpPr>
        <p:spPr>
          <a:xfrm>
            <a:off x="6359861" y="2231315"/>
            <a:ext cx="283208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2-23&gt;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일괄 업로드 완료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704CED-0632-4C6C-996E-DBE7C07D983E}"/>
              </a:ext>
            </a:extLst>
          </p:cNvPr>
          <p:cNvCxnSpPr>
            <a:cxnSpLocks/>
          </p:cNvCxnSpPr>
          <p:nvPr/>
        </p:nvCxnSpPr>
        <p:spPr>
          <a:xfrm>
            <a:off x="5345906" y="2255520"/>
            <a:ext cx="0" cy="436626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20F938F8-6515-4396-B123-201905050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220" y="2663519"/>
            <a:ext cx="4411374" cy="203694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8064703-1D28-4676-8AE4-FA2D94657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72" y="2663519"/>
            <a:ext cx="4409468" cy="236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031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8A1F20F1-EACD-4885-A2A2-C76F5C8AF47B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⑤ 오류가 발생한 경우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오류 메시지 및 로그를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E4EFFF9-4FDA-4A9A-A2B8-847AA406CDA0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Google Shape;2921;p34">
            <a:extLst>
              <a:ext uri="{FF2B5EF4-FFF2-40B4-BE49-F238E27FC236}">
                <a16:creationId xmlns:a16="http://schemas.microsoft.com/office/drawing/2014/main" id="{E177AD45-74B1-441D-AAB1-79904F5A5D5F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2-24&gt;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일괄 업로드 실패 및 오류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478CE8E-0653-465A-B149-6A4636EE5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410" y="2405041"/>
            <a:ext cx="7684993" cy="40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741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8A1F20F1-EACD-4885-A2A2-C76F5C8AF47B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⑥ 사용자 목록에서 계정이 정상 생성되었는지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E4EFFF9-4FDA-4A9A-A2B8-847AA406CDA0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Google Shape;2921;p34">
            <a:extLst>
              <a:ext uri="{FF2B5EF4-FFF2-40B4-BE49-F238E27FC236}">
                <a16:creationId xmlns:a16="http://schemas.microsoft.com/office/drawing/2014/main" id="{E177AD45-74B1-441D-AAB1-79904F5A5D5F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2-25&gt;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계정 생성 결과 확인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D5A4B6-E4F7-46BE-99F9-B7B32397F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66" y="2725695"/>
            <a:ext cx="9531668" cy="314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652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1;p34">
            <a:extLst>
              <a:ext uri="{FF2B5EF4-FFF2-40B4-BE49-F238E27FC236}">
                <a16:creationId xmlns:a16="http://schemas.microsoft.com/office/drawing/2014/main" id="{49BF861B-1A0A-42FF-8025-F37587CE2C9A}"/>
              </a:ext>
            </a:extLst>
          </p:cNvPr>
          <p:cNvSpPr txBox="1"/>
          <p:nvPr/>
        </p:nvSpPr>
        <p:spPr>
          <a:xfrm>
            <a:off x="485774" y="1414586"/>
            <a:ext cx="40124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바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"/>
                <a:sym typeface="Arial"/>
              </a:rPr>
              <a:t>업로드 오류 유형 및 해결방법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65909F6-E23D-4375-BAA8-9C73ACA5B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659932"/>
              </p:ext>
            </p:extLst>
          </p:nvPr>
        </p:nvGraphicFramePr>
        <p:xfrm>
          <a:off x="485907" y="1825013"/>
          <a:ext cx="9719999" cy="49790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022530">
                  <a:extLst>
                    <a:ext uri="{9D8B030D-6E8A-4147-A177-3AD203B41FA5}">
                      <a16:colId xmlns:a16="http://schemas.microsoft.com/office/drawing/2014/main" val="1907659668"/>
                    </a:ext>
                  </a:extLst>
                </a:gridCol>
                <a:gridCol w="2780979">
                  <a:extLst>
                    <a:ext uri="{9D8B030D-6E8A-4147-A177-3AD203B41FA5}">
                      <a16:colId xmlns:a16="http://schemas.microsoft.com/office/drawing/2014/main" val="536621367"/>
                    </a:ext>
                  </a:extLst>
                </a:gridCol>
                <a:gridCol w="4916490">
                  <a:extLst>
                    <a:ext uri="{9D8B030D-6E8A-4147-A177-3AD203B41FA5}">
                      <a16:colId xmlns:a16="http://schemas.microsoft.com/office/drawing/2014/main" val="2612090769"/>
                    </a:ext>
                  </a:extLst>
                </a:gridCol>
              </a:tblGrid>
              <a:tr h="425988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오류 로그 메시지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원인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b="1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해결 방법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51342"/>
                  </a:ext>
                </a:extLst>
              </a:tr>
              <a:tr h="1138256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USER_ALREADY_EXISTS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이미 같은 아이디 계정 존재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이메일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변경 후 </a:t>
                      </a:r>
                      <a:r>
                        <a:rPr lang="ko-KR" altLang="en-US" sz="1800" kern="1200" spc="-30" dirty="0" err="1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재업로드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91662"/>
                  </a:ext>
                </a:extLst>
              </a:tr>
              <a:tr h="1138256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INVALID_OU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조직 단위 경로 오류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admin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사이트 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OU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1:1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비교하여 수정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61411"/>
                  </a:ext>
                </a:extLst>
              </a:tr>
              <a:tr h="1138256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한글 깨짐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(???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표시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CSV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인코딩 불일치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구글 스프레드시트에서 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CSV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재다운로드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568"/>
                  </a:ext>
                </a:extLst>
              </a:tr>
              <a:tr h="1138256"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비밀번호 정책 오류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비밀번호 형식 </a:t>
                      </a:r>
                      <a:r>
                        <a:rPr lang="ko-KR" altLang="en-US" sz="1800" kern="1200" spc="-30" dirty="0" err="1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미충족</a:t>
                      </a:r>
                      <a:endParaRPr lang="ko-KR" altLang="en-US" sz="1800" kern="1200" spc="-30" dirty="0">
                        <a:ln>
                          <a:solidFill>
                            <a:srgbClr val="00B9A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90000"/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숫자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문자 조합</a:t>
                      </a:r>
                      <a:r>
                        <a:rPr lang="en-US" altLang="ko-KR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spc="-30" dirty="0">
                          <a:ln>
                            <a:solidFill>
                              <a:srgbClr val="00B9A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길이 조건 확인 후 수정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9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682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8351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C4F2CDC-F6C6-4619-A360-2AC98C3D0373}"/>
              </a:ext>
            </a:extLst>
          </p:cNvPr>
          <p:cNvGrpSpPr/>
          <p:nvPr/>
        </p:nvGrpSpPr>
        <p:grpSpPr>
          <a:xfrm>
            <a:off x="485774" y="1414582"/>
            <a:ext cx="9720263" cy="1472259"/>
            <a:chOff x="485774" y="1414582"/>
            <a:chExt cx="9720263" cy="1472259"/>
          </a:xfrm>
        </p:grpSpPr>
        <p:sp>
          <p:nvSpPr>
            <p:cNvPr id="4" name="Google Shape;2921;p34">
              <a:extLst>
                <a:ext uri="{FF2B5EF4-FFF2-40B4-BE49-F238E27FC236}">
                  <a16:creationId xmlns:a16="http://schemas.microsoft.com/office/drawing/2014/main" id="{32917439-9912-4446-899F-A225B799D89C}"/>
                </a:ext>
              </a:extLst>
            </p:cNvPr>
            <p:cNvSpPr txBox="1"/>
            <p:nvPr/>
          </p:nvSpPr>
          <p:spPr>
            <a:xfrm>
              <a:off x="485774" y="1414582"/>
              <a:ext cx="55721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buClr>
                  <a:srgbClr val="3F3F3F"/>
                </a:buClr>
                <a:buSzPts val="1890"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사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)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활동 점검하기</a:t>
              </a:r>
            </a:p>
          </p:txBody>
        </p:sp>
        <p:sp>
          <p:nvSpPr>
            <p:cNvPr id="5" name="Google Shape;2922;p34">
              <a:extLst>
                <a:ext uri="{FF2B5EF4-FFF2-40B4-BE49-F238E27FC236}">
                  <a16:creationId xmlns:a16="http://schemas.microsoft.com/office/drawing/2014/main" id="{8722E95D-41F5-4CFA-95C3-98AC8989DDA3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1061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2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사용자 목록에 업로드한 학생 계정이 모두 나타나나요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?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2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각 계정의 조직 단위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(OU)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가 올바르게 배정되어 있나요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?</a:t>
              </a:r>
            </a:p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2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오류가 발생한 계정은 수정 후 </a:t>
              </a:r>
              <a:r>
                <a:rPr lang="ko-KR" altLang="en-US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재업로드했나요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91820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0;p34">
            <a:extLst>
              <a:ext uri="{FF2B5EF4-FFF2-40B4-BE49-F238E27FC236}">
                <a16:creationId xmlns:a16="http://schemas.microsoft.com/office/drawing/2014/main" id="{5219F7CD-4543-4F2B-B8AA-12E678327E5F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en-US" altLang="ko-KR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2) </a:t>
            </a: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실무 시나리오 실습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EC96116-D77A-467E-806E-05A330C9530D}"/>
              </a:ext>
            </a:extLst>
          </p:cNvPr>
          <p:cNvSpPr/>
          <p:nvPr/>
        </p:nvSpPr>
        <p:spPr>
          <a:xfrm>
            <a:off x="486700" y="1439864"/>
            <a:ext cx="9720000" cy="5364162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51503B-E6B2-41EC-9151-FBE3C03AF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2" y="1520604"/>
            <a:ext cx="9531668" cy="517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495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9C20299-4FA3-4132-BCFD-777A938121EB}"/>
              </a:ext>
            </a:extLst>
          </p:cNvPr>
          <p:cNvGrpSpPr/>
          <p:nvPr/>
        </p:nvGrpSpPr>
        <p:grpSpPr>
          <a:xfrm>
            <a:off x="485774" y="1414582"/>
            <a:ext cx="9720263" cy="764373"/>
            <a:chOff x="485774" y="1414582"/>
            <a:chExt cx="9720263" cy="764373"/>
          </a:xfrm>
        </p:grpSpPr>
        <p:sp>
          <p:nvSpPr>
            <p:cNvPr id="5" name="Google Shape;2921;p34">
              <a:extLst>
                <a:ext uri="{FF2B5EF4-FFF2-40B4-BE49-F238E27FC236}">
                  <a16:creationId xmlns:a16="http://schemas.microsoft.com/office/drawing/2014/main" id="{A8D78804-CE36-4037-B424-B4A1AC0F4F04}"/>
                </a:ext>
              </a:extLst>
            </p:cNvPr>
            <p:cNvSpPr txBox="1"/>
            <p:nvPr/>
          </p:nvSpPr>
          <p:spPr>
            <a:xfrm>
              <a:off x="485774" y="1414582"/>
              <a:ext cx="55721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buClr>
                  <a:srgbClr val="3F3F3F"/>
                </a:buClr>
                <a:buSzPts val="1890"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가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)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활동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4: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/>
                  <a:sym typeface="Arial"/>
                </a:rPr>
                <a:t>졸업생 계정 정지 삭제 </a:t>
              </a:r>
            </a:p>
          </p:txBody>
        </p:sp>
        <p:sp>
          <p:nvSpPr>
            <p:cNvPr id="9" name="Google Shape;2922;p34">
              <a:extLst>
                <a:ext uri="{FF2B5EF4-FFF2-40B4-BE49-F238E27FC236}">
                  <a16:creationId xmlns:a16="http://schemas.microsoft.com/office/drawing/2014/main" id="{BA08747C-3D72-4DA8-A8E7-129B58ACAAB9}"/>
                </a:ext>
              </a:extLst>
            </p:cNvPr>
            <p:cNvSpPr txBox="1"/>
            <p:nvPr/>
          </p:nvSpPr>
          <p:spPr>
            <a:xfrm>
              <a:off x="485774" y="1825012"/>
              <a:ext cx="9720263" cy="353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16000" indent="-216000">
                <a:spcAft>
                  <a:spcPts val="600"/>
                </a:spcAft>
                <a:buClr>
                  <a:srgbClr val="3F3F3F"/>
                </a:buClr>
                <a:buSzPct val="90000"/>
                <a:buBlip>
                  <a:blip r:embed="rId2"/>
                </a:buBlip>
              </a:pP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① 관리 콘솔 → 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[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디렉터리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] → [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사용자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]</a:t>
              </a:r>
              <a:r>
                <a:rPr lang="ko-KR" altLang="en-US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에서 졸업생 계정을 검색합니다</a:t>
              </a:r>
              <a:r>
                <a:rPr lang="en-US" altLang="ko-KR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853AA15-87EF-4C5C-88AF-32DE595962E0}"/>
              </a:ext>
            </a:extLst>
          </p:cNvPr>
          <p:cNvGrpSpPr/>
          <p:nvPr/>
        </p:nvGrpSpPr>
        <p:grpSpPr>
          <a:xfrm>
            <a:off x="485906" y="2225750"/>
            <a:ext cx="9720000" cy="4578276"/>
            <a:chOff x="485906" y="2225750"/>
            <a:chExt cx="9720000" cy="4578276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78897D8-ED08-4286-AD0B-E7CB024393A7}"/>
                </a:ext>
              </a:extLst>
            </p:cNvPr>
            <p:cNvSpPr/>
            <p:nvPr/>
          </p:nvSpPr>
          <p:spPr>
            <a:xfrm>
              <a:off x="485906" y="2225750"/>
              <a:ext cx="9720000" cy="4578276"/>
            </a:xfrm>
            <a:prstGeom prst="roundRect">
              <a:avLst>
                <a:gd name="adj" fmla="val 105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dist="38100" dir="5400000" algn="t" rotWithShape="0">
                <a:schemeClr val="tx2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Google Shape;2921;p34">
              <a:extLst>
                <a:ext uri="{FF2B5EF4-FFF2-40B4-BE49-F238E27FC236}">
                  <a16:creationId xmlns:a16="http://schemas.microsoft.com/office/drawing/2014/main" id="{53CA7BA6-DE60-4D4A-A3F9-30EDF0E88291}"/>
                </a:ext>
              </a:extLst>
            </p:cNvPr>
            <p:cNvSpPr txBox="1"/>
            <p:nvPr/>
          </p:nvSpPr>
          <p:spPr>
            <a:xfrm>
              <a:off x="1831351" y="2345615"/>
              <a:ext cx="702911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 defTabSz="1007943" fontAlgn="base">
                <a:buClr>
                  <a:srgbClr val="3F3F3F"/>
                </a:buClr>
                <a:buSzPct val="90000"/>
              </a:pPr>
              <a:r>
                <a:rPr lang="en-US" altLang="ko-KR" sz="1400" spc="-3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&lt;</a:t>
              </a:r>
              <a:r>
                <a:rPr lang="ko-KR" altLang="en-US" sz="1400" spc="-3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그림 </a:t>
              </a:r>
              <a:r>
                <a:rPr lang="en-US" altLang="ko-KR" sz="1400" spc="-3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2-26&gt; </a:t>
              </a:r>
              <a:r>
                <a:rPr lang="ko-KR" altLang="en-US" sz="1400" spc="-30" dirty="0">
                  <a:ln>
                    <a:solidFill>
                      <a:srgbClr val="00B9A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사용자 계정 선택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1433DA58-307F-437D-B4E1-AABAFD945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" y="2707581"/>
            <a:ext cx="9577388" cy="396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603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922;p34">
            <a:extLst>
              <a:ext uri="{FF2B5EF4-FFF2-40B4-BE49-F238E27FC236}">
                <a16:creationId xmlns:a16="http://schemas.microsoft.com/office/drawing/2014/main" id="{9F8B2586-2E83-41CD-8559-9255620BD00E}"/>
              </a:ext>
            </a:extLst>
          </p:cNvPr>
          <p:cNvSpPr txBox="1"/>
          <p:nvPr/>
        </p:nvSpPr>
        <p:spPr>
          <a:xfrm>
            <a:off x="485774" y="1414582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② 해당 사용자 오른쪽의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옵션 </a:t>
            </a:r>
            <a:r>
              <a:rPr lang="ko-KR" altLang="en-US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더보기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일시중지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클릭하여 계정을 비활성화합니다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필요 시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Google Drive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및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Gmail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등의 데이터를 확인하고 백업 또는 이관합니다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.).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8911CDF-6A58-4AE1-8375-005AF3E1B540}"/>
              </a:ext>
            </a:extLst>
          </p:cNvPr>
          <p:cNvSpPr/>
          <p:nvPr/>
        </p:nvSpPr>
        <p:spPr>
          <a:xfrm>
            <a:off x="485906" y="2110740"/>
            <a:ext cx="9720000" cy="469328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Google Shape;2921;p34">
            <a:extLst>
              <a:ext uri="{FF2B5EF4-FFF2-40B4-BE49-F238E27FC236}">
                <a16:creationId xmlns:a16="http://schemas.microsoft.com/office/drawing/2014/main" id="{65B3D18D-E9F7-466D-9203-DC22FA44AD42}"/>
              </a:ext>
            </a:extLst>
          </p:cNvPr>
          <p:cNvSpPr txBox="1"/>
          <p:nvPr/>
        </p:nvSpPr>
        <p:spPr>
          <a:xfrm>
            <a:off x="1831351" y="22313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2-27&gt;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일시중지 선택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6D68277-387F-4D22-9F74-5B672A39E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" y="2641774"/>
            <a:ext cx="9455468" cy="396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541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8911CDF-6A58-4AE1-8375-005AF3E1B540}"/>
              </a:ext>
            </a:extLst>
          </p:cNvPr>
          <p:cNvSpPr/>
          <p:nvPr/>
        </p:nvSpPr>
        <p:spPr>
          <a:xfrm>
            <a:off x="485906" y="1439863"/>
            <a:ext cx="9720000" cy="5364163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Google Shape;2921;p34">
            <a:extLst>
              <a:ext uri="{FF2B5EF4-FFF2-40B4-BE49-F238E27FC236}">
                <a16:creationId xmlns:a16="http://schemas.microsoft.com/office/drawing/2014/main" id="{65B3D18D-E9F7-466D-9203-DC22FA44AD42}"/>
              </a:ext>
            </a:extLst>
          </p:cNvPr>
          <p:cNvSpPr txBox="1"/>
          <p:nvPr/>
        </p:nvSpPr>
        <p:spPr>
          <a:xfrm>
            <a:off x="1831351" y="156837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2-28&gt;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일시중지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008750-4ECE-4431-8589-21DDCF135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018" y="1937025"/>
            <a:ext cx="5999776" cy="472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621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22;p34">
            <a:extLst>
              <a:ext uri="{FF2B5EF4-FFF2-40B4-BE49-F238E27FC236}">
                <a16:creationId xmlns:a16="http://schemas.microsoft.com/office/drawing/2014/main" id="{0F13781F-AD83-4908-8A29-441D12D66973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추후에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옵션 </a:t>
            </a:r>
            <a:r>
              <a:rPr lang="ko-KR" altLang="en-US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더보기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클릭한 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사용자 삭제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선택합니다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6A3BF9-3DDE-4AA5-9689-26CE0B4F9F18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Google Shape;2921;p34">
            <a:extLst>
              <a:ext uri="{FF2B5EF4-FFF2-40B4-BE49-F238E27FC236}">
                <a16:creationId xmlns:a16="http://schemas.microsoft.com/office/drawing/2014/main" id="{DA242FC3-477B-4CCD-8489-58BFE9A7E751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2-29&gt;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삭제 선택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8F33E3C-D4DF-44C0-9F84-863DFE9D8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1" y="2582339"/>
            <a:ext cx="9533572" cy="400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916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22;p34">
            <a:extLst>
              <a:ext uri="{FF2B5EF4-FFF2-40B4-BE49-F238E27FC236}">
                <a16:creationId xmlns:a16="http://schemas.microsoft.com/office/drawing/2014/main" id="{0F13781F-AD83-4908-8A29-441D12D66973}"/>
              </a:ext>
            </a:extLst>
          </p:cNvPr>
          <p:cNvSpPr txBox="1"/>
          <p:nvPr/>
        </p:nvSpPr>
        <p:spPr>
          <a:xfrm>
            <a:off x="485774" y="1414583"/>
            <a:ext cx="972026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삭제 확인 창에서 내용을 확인한 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삭제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클릭하고 사용자 목록에서 계정이 삭제되었는지 확인합니다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6A3BF9-3DDE-4AA5-9689-26CE0B4F9F18}"/>
              </a:ext>
            </a:extLst>
          </p:cNvPr>
          <p:cNvSpPr/>
          <p:nvPr/>
        </p:nvSpPr>
        <p:spPr>
          <a:xfrm>
            <a:off x="486700" y="1793358"/>
            <a:ext cx="9720000" cy="501066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Google Shape;2921;p34">
            <a:extLst>
              <a:ext uri="{FF2B5EF4-FFF2-40B4-BE49-F238E27FC236}">
                <a16:creationId xmlns:a16="http://schemas.microsoft.com/office/drawing/2014/main" id="{DA242FC3-477B-4CCD-8489-58BFE9A7E751}"/>
              </a:ext>
            </a:extLst>
          </p:cNvPr>
          <p:cNvSpPr txBox="1"/>
          <p:nvPr/>
        </p:nvSpPr>
        <p:spPr>
          <a:xfrm>
            <a:off x="1831351" y="189904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2-30&gt;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삭제 확인 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967240-EFEC-44DD-ABBB-0DEB49BED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000" y="2202180"/>
            <a:ext cx="4909812" cy="44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14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9C60F36-6E7F-4ADF-A8AD-C20A9D1BA88E}"/>
              </a:ext>
            </a:extLst>
          </p:cNvPr>
          <p:cNvSpPr/>
          <p:nvPr/>
        </p:nvSpPr>
        <p:spPr>
          <a:xfrm>
            <a:off x="486700" y="1439864"/>
            <a:ext cx="9720000" cy="5364162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9326C9-1453-4D2D-A45F-9C565053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2" y="1520604"/>
            <a:ext cx="9531668" cy="517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946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1;p34">
            <a:extLst>
              <a:ext uri="{FF2B5EF4-FFF2-40B4-BE49-F238E27FC236}">
                <a16:creationId xmlns:a16="http://schemas.microsoft.com/office/drawing/2014/main" id="{8F9FC2E2-F35F-4BC7-A195-8CB50C3084DD}"/>
              </a:ext>
            </a:extLst>
          </p:cNvPr>
          <p:cNvSpPr txBox="1"/>
          <p:nvPr/>
        </p:nvSpPr>
        <p:spPr>
          <a:xfrm>
            <a:off x="485774" y="1414582"/>
            <a:ext cx="55721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나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5: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비밀번호 초기화</a:t>
            </a:r>
          </a:p>
        </p:txBody>
      </p:sp>
      <p:sp>
        <p:nvSpPr>
          <p:cNvPr id="5" name="Google Shape;2922;p34">
            <a:extLst>
              <a:ext uri="{FF2B5EF4-FFF2-40B4-BE49-F238E27FC236}">
                <a16:creationId xmlns:a16="http://schemas.microsoft.com/office/drawing/2014/main" id="{88BF8C3F-8ADA-4F66-B1C2-53DBE7611138}"/>
              </a:ext>
            </a:extLst>
          </p:cNvPr>
          <p:cNvSpPr txBox="1"/>
          <p:nvPr/>
        </p:nvSpPr>
        <p:spPr>
          <a:xfrm>
            <a:off x="485774" y="1825012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① 관리 콘솔 →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디렉터리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→ 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해당 학생 계정을 검색한 후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계정에 마우스를 올려</a:t>
            </a:r>
            <a:b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비밀번호 재설정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을 클릭합니다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AF3A0B-F7E0-422E-8F69-B96F63BD5E11}"/>
              </a:ext>
            </a:extLst>
          </p:cNvPr>
          <p:cNvSpPr/>
          <p:nvPr/>
        </p:nvSpPr>
        <p:spPr>
          <a:xfrm>
            <a:off x="486700" y="2524878"/>
            <a:ext cx="9720000" cy="4279147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Google Shape;2921;p34">
            <a:extLst>
              <a:ext uri="{FF2B5EF4-FFF2-40B4-BE49-F238E27FC236}">
                <a16:creationId xmlns:a16="http://schemas.microsoft.com/office/drawing/2014/main" id="{8D6EAF13-A3C9-4DEA-8FA8-B56732964576}"/>
              </a:ext>
            </a:extLst>
          </p:cNvPr>
          <p:cNvSpPr txBox="1"/>
          <p:nvPr/>
        </p:nvSpPr>
        <p:spPr>
          <a:xfrm>
            <a:off x="1831351" y="2630567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2-31&gt;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목록에서 비밀번호 재설정 선택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79C355-B0F4-4D5C-BF45-A35017E26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2" y="2964179"/>
            <a:ext cx="9531668" cy="377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504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22;p34">
            <a:extLst>
              <a:ext uri="{FF2B5EF4-FFF2-40B4-BE49-F238E27FC236}">
                <a16:creationId xmlns:a16="http://schemas.microsoft.com/office/drawing/2014/main" id="{F9822A9E-1981-45F4-8AED-2FE2D64F4CD8}"/>
              </a:ext>
            </a:extLst>
          </p:cNvPr>
          <p:cNvSpPr txBox="1"/>
          <p:nvPr/>
        </p:nvSpPr>
        <p:spPr>
          <a:xfrm>
            <a:off x="485774" y="1414582"/>
            <a:ext cx="972026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② 임시 비밀번호를 입력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또는 자동 생성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하고 ‘다음 로그인 시 비밀번호 </a:t>
            </a:r>
            <a:r>
              <a:rPr lang="ko-KR" altLang="en-US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변경’을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선택한 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재설정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→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학생에게 안내합니다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A4F59C0-E719-4CEC-B36E-BBB5ADEDA002}"/>
              </a:ext>
            </a:extLst>
          </p:cNvPr>
          <p:cNvSpPr/>
          <p:nvPr/>
        </p:nvSpPr>
        <p:spPr>
          <a:xfrm>
            <a:off x="485906" y="2110740"/>
            <a:ext cx="9720000" cy="4693286"/>
          </a:xfrm>
          <a:prstGeom prst="roundRect">
            <a:avLst>
              <a:gd name="adj" fmla="val 105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8100" dir="5400000" algn="t" rotWithShape="0">
              <a:schemeClr val="tx2">
                <a:lumMod val="20000"/>
                <a:lumOff val="80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Google Shape;2921;p34">
            <a:extLst>
              <a:ext uri="{FF2B5EF4-FFF2-40B4-BE49-F238E27FC236}">
                <a16:creationId xmlns:a16="http://schemas.microsoft.com/office/drawing/2014/main" id="{958AEF51-C31C-41B8-BB63-1AE04EB5B229}"/>
              </a:ext>
            </a:extLst>
          </p:cNvPr>
          <p:cNvSpPr txBox="1"/>
          <p:nvPr/>
        </p:nvSpPr>
        <p:spPr>
          <a:xfrm>
            <a:off x="1831351" y="2231315"/>
            <a:ext cx="7029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007943" fontAlgn="base">
              <a:buClr>
                <a:srgbClr val="3F3F3F"/>
              </a:buClr>
              <a:buSzPct val="90000"/>
            </a:pP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그림 </a:t>
            </a:r>
            <a:r>
              <a:rPr lang="en-US" altLang="ko-KR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2-32&gt; </a:t>
            </a:r>
            <a:r>
              <a:rPr lang="ko-KR" altLang="en-US" sz="1400" spc="-30" dirty="0">
                <a:ln>
                  <a:solidFill>
                    <a:srgbClr val="00B9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비밀번호 재설정 화면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CDECD4F-8755-4C2C-8BBF-BAF89A20D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682" y="2520715"/>
            <a:ext cx="5500449" cy="41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218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21;p34">
            <a:extLst>
              <a:ext uri="{FF2B5EF4-FFF2-40B4-BE49-F238E27FC236}">
                <a16:creationId xmlns:a16="http://schemas.microsoft.com/office/drawing/2014/main" id="{44DC56E7-53E8-4E45-9ECE-1AB4F7E00CAD}"/>
              </a:ext>
            </a:extLst>
          </p:cNvPr>
          <p:cNvSpPr txBox="1"/>
          <p:nvPr/>
        </p:nvSpPr>
        <p:spPr>
          <a:xfrm>
            <a:off x="485774" y="1414582"/>
            <a:ext cx="55721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3F3F3F"/>
              </a:buClr>
              <a:buSzPts val="1890"/>
            </a:pP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다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)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/>
                <a:sym typeface="Arial"/>
              </a:rPr>
              <a:t>활동 점검하기</a:t>
            </a:r>
          </a:p>
        </p:txBody>
      </p:sp>
      <p:sp>
        <p:nvSpPr>
          <p:cNvPr id="7" name="Google Shape;2922;p34">
            <a:extLst>
              <a:ext uri="{FF2B5EF4-FFF2-40B4-BE49-F238E27FC236}">
                <a16:creationId xmlns:a16="http://schemas.microsoft.com/office/drawing/2014/main" id="{CAADEAB4-B4A0-4FC7-9753-4FD12008932B}"/>
              </a:ext>
            </a:extLst>
          </p:cNvPr>
          <p:cNvSpPr txBox="1"/>
          <p:nvPr/>
        </p:nvSpPr>
        <p:spPr>
          <a:xfrm>
            <a:off x="485774" y="1825012"/>
            <a:ext cx="9720263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졸업생 계정을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일시중지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 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사용자 삭제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까지 정상적으로 진행했나요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삭제 후 사용자 목록에서 계정이 제거되었는지 확인했나요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</a:t>
            </a:r>
          </a:p>
          <a:p>
            <a:pPr marL="216000" indent="-216000">
              <a:spcAft>
                <a:spcPts val="600"/>
              </a:spcAft>
              <a:buClr>
                <a:srgbClr val="3F3F3F"/>
              </a:buClr>
              <a:buSzPct val="90000"/>
              <a:buBlip>
                <a:blip r:embed="rId2"/>
              </a:buBlip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비밀번호 재설정을 통해 임시 비밀번호를 생성하고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‘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다음 로그인 시 비밀번호 </a:t>
            </a:r>
            <a:r>
              <a:rPr lang="ko-KR" altLang="en-US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변경’을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설정했나요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374471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0;p34">
            <a:extLst>
              <a:ext uri="{FF2B5EF4-FFF2-40B4-BE49-F238E27FC236}">
                <a16:creationId xmlns:a16="http://schemas.microsoft.com/office/drawing/2014/main" id="{67E8B693-E285-4871-86E2-E25EF5A729F9}"/>
              </a:ext>
            </a:extLst>
          </p:cNvPr>
          <p:cNvSpPr txBox="1"/>
          <p:nvPr/>
        </p:nvSpPr>
        <p:spPr>
          <a:xfrm>
            <a:off x="674886" y="820978"/>
            <a:ext cx="5789611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B1A9"/>
              </a:buClr>
              <a:buSzPts val="2200"/>
            </a:pPr>
            <a:r>
              <a:rPr lang="ko-KR" altLang="en-US" sz="2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평가 문항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49E1C2-F88F-453E-9EE4-BAE0BEE11F9B}"/>
              </a:ext>
            </a:extLst>
          </p:cNvPr>
          <p:cNvSpPr/>
          <p:nvPr/>
        </p:nvSpPr>
        <p:spPr>
          <a:xfrm>
            <a:off x="485775" y="1797720"/>
            <a:ext cx="9720000" cy="612000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9493A4C1-0B10-4EB1-846D-B34C43F88D74}"/>
              </a:ext>
            </a:extLst>
          </p:cNvPr>
          <p:cNvSpPr/>
          <p:nvPr/>
        </p:nvSpPr>
        <p:spPr>
          <a:xfrm>
            <a:off x="485773" y="1439863"/>
            <a:ext cx="9720000" cy="360000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E2E46B83-EE12-4F7E-B6B3-A3B4C6D3D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350" y="1489058"/>
            <a:ext cx="1295226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241" algn="l"/>
              </a:tabLst>
            </a:pPr>
            <a:r>
              <a:rPr lang="ko-KR" altLang="en-US" sz="17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계정 일괄 생성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038A8ED-330E-4D14-8124-98773AB74894}"/>
              </a:ext>
            </a:extLst>
          </p:cNvPr>
          <p:cNvGrpSpPr/>
          <p:nvPr/>
        </p:nvGrpSpPr>
        <p:grpSpPr>
          <a:xfrm>
            <a:off x="642878" y="2565993"/>
            <a:ext cx="432228" cy="498118"/>
            <a:chOff x="895292" y="1878542"/>
            <a:chExt cx="432228" cy="498118"/>
          </a:xfrm>
        </p:grpSpPr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A25451E0-24C6-4A00-B60F-7BF4A44EA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2" name="Rectangle 31">
              <a:extLst>
                <a:ext uri="{FF2B5EF4-FFF2-40B4-BE49-F238E27FC236}">
                  <a16:creationId xmlns:a16="http://schemas.microsoft.com/office/drawing/2014/main" id="{A9D2F959-A091-4180-B5CB-C7CE0A47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F61427-3B84-4E71-818A-FB6938A78F5C}"/>
              </a:ext>
            </a:extLst>
          </p:cNvPr>
          <p:cNvSpPr/>
          <p:nvPr/>
        </p:nvSpPr>
        <p:spPr>
          <a:xfrm>
            <a:off x="485775" y="4471446"/>
            <a:ext cx="9720000" cy="612000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86DF5D44-51D5-4611-9CC5-4E864ACBCF2E}"/>
              </a:ext>
            </a:extLst>
          </p:cNvPr>
          <p:cNvSpPr/>
          <p:nvPr/>
        </p:nvSpPr>
        <p:spPr>
          <a:xfrm>
            <a:off x="485773" y="4113589"/>
            <a:ext cx="9720000" cy="360000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Rectangle 31">
            <a:extLst>
              <a:ext uri="{FF2B5EF4-FFF2-40B4-BE49-F238E27FC236}">
                <a16:creationId xmlns:a16="http://schemas.microsoft.com/office/drawing/2014/main" id="{2F912102-F1A2-4331-B036-41FDACE02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91" y="4162784"/>
            <a:ext cx="876843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241" algn="l"/>
              </a:tabLst>
            </a:pPr>
            <a:r>
              <a:rPr lang="en-US" altLang="ko-KR" sz="17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CSV </a:t>
            </a:r>
            <a:r>
              <a:rPr lang="ko-KR" altLang="en-US" sz="17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구성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FC44FB9-1267-4C03-83C7-CBB9C0402071}"/>
              </a:ext>
            </a:extLst>
          </p:cNvPr>
          <p:cNvGrpSpPr/>
          <p:nvPr/>
        </p:nvGrpSpPr>
        <p:grpSpPr>
          <a:xfrm>
            <a:off x="9540520" y="4330022"/>
            <a:ext cx="596461" cy="84354"/>
            <a:chOff x="9067796" y="1987097"/>
            <a:chExt cx="596461" cy="8435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66ACA17-C903-4186-AD6A-49A02CDF79A8}"/>
                </a:ext>
              </a:extLst>
            </p:cNvPr>
            <p:cNvSpPr/>
            <p:nvPr/>
          </p:nvSpPr>
          <p:spPr>
            <a:xfrm>
              <a:off x="9067796" y="1987097"/>
              <a:ext cx="84354" cy="84354"/>
            </a:xfrm>
            <a:prstGeom prst="ellipse">
              <a:avLst/>
            </a:prstGeom>
            <a:solidFill>
              <a:srgbClr val="F49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9A70D3D-E50E-43BA-BA83-E9D13DEC2E48}"/>
                </a:ext>
              </a:extLst>
            </p:cNvPr>
            <p:cNvSpPr/>
            <p:nvPr/>
          </p:nvSpPr>
          <p:spPr>
            <a:xfrm>
              <a:off x="9195823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963B753-4D2F-4DA6-9615-B068AA2EF5D5}"/>
                </a:ext>
              </a:extLst>
            </p:cNvPr>
            <p:cNvSpPr/>
            <p:nvPr/>
          </p:nvSpPr>
          <p:spPr>
            <a:xfrm>
              <a:off x="9323850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CA266D1-176F-4E84-A380-05416497EC6D}"/>
                </a:ext>
              </a:extLst>
            </p:cNvPr>
            <p:cNvSpPr/>
            <p:nvPr/>
          </p:nvSpPr>
          <p:spPr>
            <a:xfrm>
              <a:off x="9451877" y="1987097"/>
              <a:ext cx="84354" cy="8435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09FE96F-03E0-4A26-9F47-EED6EAD22CD3}"/>
                </a:ext>
              </a:extLst>
            </p:cNvPr>
            <p:cNvSpPr/>
            <p:nvPr/>
          </p:nvSpPr>
          <p:spPr>
            <a:xfrm>
              <a:off x="9579903" y="1987097"/>
              <a:ext cx="84354" cy="8435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5F98A4-B444-4CE7-842C-35B1E40DF9A2}"/>
              </a:ext>
            </a:extLst>
          </p:cNvPr>
          <p:cNvGrpSpPr/>
          <p:nvPr/>
        </p:nvGrpSpPr>
        <p:grpSpPr>
          <a:xfrm>
            <a:off x="642878" y="5239719"/>
            <a:ext cx="432228" cy="498118"/>
            <a:chOff x="895292" y="1878542"/>
            <a:chExt cx="432228" cy="498118"/>
          </a:xfrm>
        </p:grpSpPr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C23E698F-CA75-4845-8BA9-D923A3E1A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8A408A5B-F7F1-4F9B-B950-1855E78CD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67BEAB6-5E20-444D-B548-C0B7614F1C99}"/>
              </a:ext>
            </a:extLst>
          </p:cNvPr>
          <p:cNvSpPr/>
          <p:nvPr/>
        </p:nvSpPr>
        <p:spPr>
          <a:xfrm>
            <a:off x="485775" y="1439863"/>
            <a:ext cx="9720263" cy="5364162"/>
          </a:xfrm>
          <a:prstGeom prst="roundRect">
            <a:avLst>
              <a:gd name="adj" fmla="val 1054"/>
            </a:avLst>
          </a:prstGeom>
          <a:noFill/>
          <a:ln>
            <a:solidFill>
              <a:srgbClr val="F4973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308F3A-CF56-4FA5-9DB4-DF8E5DE30FC4}"/>
              </a:ext>
            </a:extLst>
          </p:cNvPr>
          <p:cNvGrpSpPr/>
          <p:nvPr/>
        </p:nvGrpSpPr>
        <p:grpSpPr>
          <a:xfrm>
            <a:off x="642878" y="1864183"/>
            <a:ext cx="8858140" cy="498118"/>
            <a:chOff x="642878" y="1864183"/>
            <a:chExt cx="8858140" cy="498118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A49BF74-50E4-492F-B208-E7835D377CAF}"/>
                </a:ext>
              </a:extLst>
            </p:cNvPr>
            <p:cNvGrpSpPr/>
            <p:nvPr/>
          </p:nvGrpSpPr>
          <p:grpSpPr>
            <a:xfrm>
              <a:off x="642878" y="1864183"/>
              <a:ext cx="8858140" cy="432495"/>
              <a:chOff x="895292" y="1765845"/>
              <a:chExt cx="8858140" cy="432495"/>
            </a:xfrm>
          </p:grpSpPr>
          <p:sp>
            <p:nvSpPr>
              <p:cNvPr id="29" name="Rectangle 31">
                <a:extLst>
                  <a:ext uri="{FF2B5EF4-FFF2-40B4-BE49-F238E27FC236}">
                    <a16:creationId xmlns:a16="http://schemas.microsoft.com/office/drawing/2014/main" id="{B9178A75-06BF-4C27-9E63-A5212E64D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3" y="1857798"/>
                <a:ext cx="829965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latinLnBrk="0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CSV </a:t>
                </a:r>
                <a:r>
                  <a:rPr lang="ko-KR" altLang="en-US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파일을 이용한 계정 생성의 장점은 무엇인가</a:t>
                </a: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?</a:t>
                </a: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09C6CAD5-0F77-4EED-9955-4046031F3867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31" name="Freeform 21">
                  <a:extLst>
                    <a:ext uri="{FF2B5EF4-FFF2-40B4-BE49-F238E27FC236}">
                      <a16:creationId xmlns:a16="http://schemas.microsoft.com/office/drawing/2014/main" id="{5136A47A-8369-4C14-870D-4CAAF083DA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2" name="Freeform 22">
                  <a:extLst>
                    <a:ext uri="{FF2B5EF4-FFF2-40B4-BE49-F238E27FC236}">
                      <a16:creationId xmlns:a16="http://schemas.microsoft.com/office/drawing/2014/main" id="{54FB907C-746C-4E32-A6C4-25EF654DD5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28" name="Rectangle 31">
              <a:extLst>
                <a:ext uri="{FF2B5EF4-FFF2-40B4-BE49-F238E27FC236}">
                  <a16:creationId xmlns:a16="http://schemas.microsoft.com/office/drawing/2014/main" id="{DE181689-EDD7-4B50-B52E-3C0477051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1888325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 latinLnBrk="0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90BBCA2-177D-4FE5-9093-E3B166411696}"/>
              </a:ext>
            </a:extLst>
          </p:cNvPr>
          <p:cNvGrpSpPr/>
          <p:nvPr/>
        </p:nvGrpSpPr>
        <p:grpSpPr>
          <a:xfrm>
            <a:off x="642878" y="4537909"/>
            <a:ext cx="8858140" cy="498118"/>
            <a:chOff x="642878" y="4537909"/>
            <a:chExt cx="8858140" cy="498118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52C30BD-10F9-4432-A723-026836AFFB46}"/>
                </a:ext>
              </a:extLst>
            </p:cNvPr>
            <p:cNvGrpSpPr/>
            <p:nvPr/>
          </p:nvGrpSpPr>
          <p:grpSpPr>
            <a:xfrm>
              <a:off x="642878" y="4537909"/>
              <a:ext cx="8858140" cy="432495"/>
              <a:chOff x="895292" y="1765845"/>
              <a:chExt cx="8858140" cy="432495"/>
            </a:xfrm>
          </p:grpSpPr>
          <p:sp>
            <p:nvSpPr>
              <p:cNvPr id="36" name="Rectangle 31">
                <a:extLst>
                  <a:ext uri="{FF2B5EF4-FFF2-40B4-BE49-F238E27FC236}">
                    <a16:creationId xmlns:a16="http://schemas.microsoft.com/office/drawing/2014/main" id="{E1589CCF-184C-4274-92BB-710C42A39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3" y="1857798"/>
                <a:ext cx="829965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CSV </a:t>
                </a:r>
                <a:r>
                  <a:rPr lang="ko-KR" altLang="en-US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파일에서 반드시 입력해야 하는 항목은 무엇인가</a:t>
                </a: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?</a:t>
                </a: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1C736E7D-16BC-490F-93A5-7B7B8F9FE136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38" name="Freeform 21">
                  <a:extLst>
                    <a:ext uri="{FF2B5EF4-FFF2-40B4-BE49-F238E27FC236}">
                      <a16:creationId xmlns:a16="http://schemas.microsoft.com/office/drawing/2014/main" id="{2B387400-0C17-4A84-A92F-3B8B5B4075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9" name="Freeform 22">
                  <a:extLst>
                    <a:ext uri="{FF2B5EF4-FFF2-40B4-BE49-F238E27FC236}">
                      <a16:creationId xmlns:a16="http://schemas.microsoft.com/office/drawing/2014/main" id="{E9A1EDC5-D83A-4593-A26F-3CF8286A5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35" name="Rectangle 31">
              <a:extLst>
                <a:ext uri="{FF2B5EF4-FFF2-40B4-BE49-F238E27FC236}">
                  <a16:creationId xmlns:a16="http://schemas.microsoft.com/office/drawing/2014/main" id="{C2A64005-9E8A-4A03-A800-D856B51BD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4562051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DAC36C2-5C89-4F23-86A2-E1EB8B48F322}"/>
              </a:ext>
            </a:extLst>
          </p:cNvPr>
          <p:cNvGrpSpPr/>
          <p:nvPr/>
        </p:nvGrpSpPr>
        <p:grpSpPr>
          <a:xfrm>
            <a:off x="9540520" y="1656296"/>
            <a:ext cx="596461" cy="84354"/>
            <a:chOff x="9067796" y="1987097"/>
            <a:chExt cx="596461" cy="84354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F6D5CDF-C0C8-475A-9F07-698F7A470C8A}"/>
                </a:ext>
              </a:extLst>
            </p:cNvPr>
            <p:cNvSpPr/>
            <p:nvPr/>
          </p:nvSpPr>
          <p:spPr>
            <a:xfrm>
              <a:off x="9067796" y="1987097"/>
              <a:ext cx="84354" cy="84354"/>
            </a:xfrm>
            <a:prstGeom prst="ellipse">
              <a:avLst/>
            </a:prstGeom>
            <a:solidFill>
              <a:srgbClr val="F49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80689D2-9DC6-4731-AB5B-D705C389C0C9}"/>
                </a:ext>
              </a:extLst>
            </p:cNvPr>
            <p:cNvSpPr/>
            <p:nvPr/>
          </p:nvSpPr>
          <p:spPr>
            <a:xfrm>
              <a:off x="9195822" y="1987097"/>
              <a:ext cx="82800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AB4576E-AF87-41E1-8483-9EE494DFB0C9}"/>
                </a:ext>
              </a:extLst>
            </p:cNvPr>
            <p:cNvSpPr/>
            <p:nvPr/>
          </p:nvSpPr>
          <p:spPr>
            <a:xfrm>
              <a:off x="9323850" y="1987097"/>
              <a:ext cx="84354" cy="8435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8D5AC3B-3E1C-491C-9FD5-23C381E10013}"/>
                </a:ext>
              </a:extLst>
            </p:cNvPr>
            <p:cNvSpPr/>
            <p:nvPr/>
          </p:nvSpPr>
          <p:spPr>
            <a:xfrm>
              <a:off x="9451877" y="1987097"/>
              <a:ext cx="84354" cy="8435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350CE78-15B5-4AA6-9D28-4480E14D6AA1}"/>
                </a:ext>
              </a:extLst>
            </p:cNvPr>
            <p:cNvSpPr/>
            <p:nvPr/>
          </p:nvSpPr>
          <p:spPr>
            <a:xfrm>
              <a:off x="9579903" y="1987097"/>
              <a:ext cx="84354" cy="8435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86374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849E1C2-F88F-453E-9EE4-BAE0BEE11F9B}"/>
              </a:ext>
            </a:extLst>
          </p:cNvPr>
          <p:cNvSpPr/>
          <p:nvPr/>
        </p:nvSpPr>
        <p:spPr>
          <a:xfrm>
            <a:off x="485775" y="1797720"/>
            <a:ext cx="9720000" cy="612000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9493A4C1-0B10-4EB1-846D-B34C43F88D74}"/>
              </a:ext>
            </a:extLst>
          </p:cNvPr>
          <p:cNvSpPr/>
          <p:nvPr/>
        </p:nvSpPr>
        <p:spPr>
          <a:xfrm>
            <a:off x="485773" y="1439863"/>
            <a:ext cx="9720000" cy="360000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E2E46B83-EE12-4F7E-B6B3-A3B4C6D3D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350" y="1489058"/>
            <a:ext cx="1492396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241" algn="l"/>
              </a:tabLst>
            </a:pPr>
            <a:r>
              <a:rPr lang="ko-KR" altLang="en-US" sz="17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졸업생 계정 관리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038A8ED-330E-4D14-8124-98773AB74894}"/>
              </a:ext>
            </a:extLst>
          </p:cNvPr>
          <p:cNvGrpSpPr/>
          <p:nvPr/>
        </p:nvGrpSpPr>
        <p:grpSpPr>
          <a:xfrm>
            <a:off x="642878" y="2565993"/>
            <a:ext cx="432228" cy="498118"/>
            <a:chOff x="895292" y="1878542"/>
            <a:chExt cx="432228" cy="498118"/>
          </a:xfrm>
        </p:grpSpPr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A25451E0-24C6-4A00-B60F-7BF4A44EA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2" name="Rectangle 31">
              <a:extLst>
                <a:ext uri="{FF2B5EF4-FFF2-40B4-BE49-F238E27FC236}">
                  <a16:creationId xmlns:a16="http://schemas.microsoft.com/office/drawing/2014/main" id="{A9D2F959-A091-4180-B5CB-C7CE0A47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F61427-3B84-4E71-818A-FB6938A78F5C}"/>
              </a:ext>
            </a:extLst>
          </p:cNvPr>
          <p:cNvSpPr/>
          <p:nvPr/>
        </p:nvSpPr>
        <p:spPr>
          <a:xfrm>
            <a:off x="485775" y="4471446"/>
            <a:ext cx="9720000" cy="612000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86DF5D44-51D5-4611-9CC5-4E864ACBCF2E}"/>
              </a:ext>
            </a:extLst>
          </p:cNvPr>
          <p:cNvSpPr/>
          <p:nvPr/>
        </p:nvSpPr>
        <p:spPr>
          <a:xfrm>
            <a:off x="485773" y="4113589"/>
            <a:ext cx="9720000" cy="360000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Rectangle 31">
            <a:extLst>
              <a:ext uri="{FF2B5EF4-FFF2-40B4-BE49-F238E27FC236}">
                <a16:creationId xmlns:a16="http://schemas.microsoft.com/office/drawing/2014/main" id="{2F912102-F1A2-4331-B036-41FDACE02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91" y="4162784"/>
            <a:ext cx="1041952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241" algn="l"/>
              </a:tabLst>
            </a:pPr>
            <a:r>
              <a:rPr lang="ko-KR" altLang="en-US" sz="17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사용자 삭제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FC44FB9-1267-4C03-83C7-CBB9C0402071}"/>
              </a:ext>
            </a:extLst>
          </p:cNvPr>
          <p:cNvGrpSpPr/>
          <p:nvPr/>
        </p:nvGrpSpPr>
        <p:grpSpPr>
          <a:xfrm>
            <a:off x="9540520" y="4330022"/>
            <a:ext cx="596461" cy="84354"/>
            <a:chOff x="9067796" y="1987097"/>
            <a:chExt cx="596461" cy="8435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66ACA17-C903-4186-AD6A-49A02CDF79A8}"/>
                </a:ext>
              </a:extLst>
            </p:cNvPr>
            <p:cNvSpPr/>
            <p:nvPr/>
          </p:nvSpPr>
          <p:spPr>
            <a:xfrm>
              <a:off x="9067796" y="1987097"/>
              <a:ext cx="84354" cy="84354"/>
            </a:xfrm>
            <a:prstGeom prst="ellipse">
              <a:avLst/>
            </a:prstGeom>
            <a:solidFill>
              <a:srgbClr val="F49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9A70D3D-E50E-43BA-BA83-E9D13DEC2E48}"/>
                </a:ext>
              </a:extLst>
            </p:cNvPr>
            <p:cNvSpPr/>
            <p:nvPr/>
          </p:nvSpPr>
          <p:spPr>
            <a:xfrm>
              <a:off x="9195823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963B753-4D2F-4DA6-9615-B068AA2EF5D5}"/>
                </a:ext>
              </a:extLst>
            </p:cNvPr>
            <p:cNvSpPr/>
            <p:nvPr/>
          </p:nvSpPr>
          <p:spPr>
            <a:xfrm>
              <a:off x="9323850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CA266D1-176F-4E84-A380-05416497EC6D}"/>
                </a:ext>
              </a:extLst>
            </p:cNvPr>
            <p:cNvSpPr/>
            <p:nvPr/>
          </p:nvSpPr>
          <p:spPr>
            <a:xfrm>
              <a:off x="9451877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09FE96F-03E0-4A26-9F47-EED6EAD22CD3}"/>
                </a:ext>
              </a:extLst>
            </p:cNvPr>
            <p:cNvSpPr/>
            <p:nvPr/>
          </p:nvSpPr>
          <p:spPr>
            <a:xfrm>
              <a:off x="9579903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5F98A4-B444-4CE7-842C-35B1E40DF9A2}"/>
              </a:ext>
            </a:extLst>
          </p:cNvPr>
          <p:cNvGrpSpPr/>
          <p:nvPr/>
        </p:nvGrpSpPr>
        <p:grpSpPr>
          <a:xfrm>
            <a:off x="642878" y="5239719"/>
            <a:ext cx="432228" cy="498118"/>
            <a:chOff x="895292" y="1878542"/>
            <a:chExt cx="432228" cy="498118"/>
          </a:xfrm>
        </p:grpSpPr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C23E698F-CA75-4845-8BA9-D923A3E1A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8A408A5B-F7F1-4F9B-B950-1855E78CD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67BEAB6-5E20-444D-B548-C0B7614F1C99}"/>
              </a:ext>
            </a:extLst>
          </p:cNvPr>
          <p:cNvSpPr/>
          <p:nvPr/>
        </p:nvSpPr>
        <p:spPr>
          <a:xfrm>
            <a:off x="485775" y="1439863"/>
            <a:ext cx="9720263" cy="5364162"/>
          </a:xfrm>
          <a:prstGeom prst="roundRect">
            <a:avLst>
              <a:gd name="adj" fmla="val 1054"/>
            </a:avLst>
          </a:prstGeom>
          <a:noFill/>
          <a:ln>
            <a:solidFill>
              <a:srgbClr val="F4973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308F3A-CF56-4FA5-9DB4-DF8E5DE30FC4}"/>
              </a:ext>
            </a:extLst>
          </p:cNvPr>
          <p:cNvGrpSpPr/>
          <p:nvPr/>
        </p:nvGrpSpPr>
        <p:grpSpPr>
          <a:xfrm>
            <a:off x="642878" y="1864183"/>
            <a:ext cx="8858140" cy="498118"/>
            <a:chOff x="642878" y="1864183"/>
            <a:chExt cx="8858140" cy="498118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A49BF74-50E4-492F-B208-E7835D377CAF}"/>
                </a:ext>
              </a:extLst>
            </p:cNvPr>
            <p:cNvGrpSpPr/>
            <p:nvPr/>
          </p:nvGrpSpPr>
          <p:grpSpPr>
            <a:xfrm>
              <a:off x="642878" y="1864183"/>
              <a:ext cx="8858140" cy="432495"/>
              <a:chOff x="895292" y="1765845"/>
              <a:chExt cx="8858140" cy="432495"/>
            </a:xfrm>
          </p:grpSpPr>
          <p:sp>
            <p:nvSpPr>
              <p:cNvPr id="29" name="Rectangle 31">
                <a:extLst>
                  <a:ext uri="{FF2B5EF4-FFF2-40B4-BE49-F238E27FC236}">
                    <a16:creationId xmlns:a16="http://schemas.microsoft.com/office/drawing/2014/main" id="{B9178A75-06BF-4C27-9E63-A5212E64D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3" y="1857798"/>
                <a:ext cx="829965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latinLnBrk="0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ko-KR" altLang="en-US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졸업생 계정을 바로 삭제하지 않고 정지 후 관리하는 이유는 무엇인가</a:t>
                </a: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?</a:t>
                </a: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09C6CAD5-0F77-4EED-9955-4046031F3867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31" name="Freeform 21">
                  <a:extLst>
                    <a:ext uri="{FF2B5EF4-FFF2-40B4-BE49-F238E27FC236}">
                      <a16:creationId xmlns:a16="http://schemas.microsoft.com/office/drawing/2014/main" id="{5136A47A-8369-4C14-870D-4CAAF083DA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2" name="Freeform 22">
                  <a:extLst>
                    <a:ext uri="{FF2B5EF4-FFF2-40B4-BE49-F238E27FC236}">
                      <a16:creationId xmlns:a16="http://schemas.microsoft.com/office/drawing/2014/main" id="{54FB907C-746C-4E32-A6C4-25EF654DD5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28" name="Rectangle 31">
              <a:extLst>
                <a:ext uri="{FF2B5EF4-FFF2-40B4-BE49-F238E27FC236}">
                  <a16:creationId xmlns:a16="http://schemas.microsoft.com/office/drawing/2014/main" id="{DE181689-EDD7-4B50-B52E-3C0477051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1888325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 latinLnBrk="0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90BBCA2-177D-4FE5-9093-E3B166411696}"/>
              </a:ext>
            </a:extLst>
          </p:cNvPr>
          <p:cNvGrpSpPr/>
          <p:nvPr/>
        </p:nvGrpSpPr>
        <p:grpSpPr>
          <a:xfrm>
            <a:off x="642878" y="4537909"/>
            <a:ext cx="8858140" cy="498118"/>
            <a:chOff x="642878" y="4537909"/>
            <a:chExt cx="8858140" cy="498118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52C30BD-10F9-4432-A723-026836AFFB46}"/>
                </a:ext>
              </a:extLst>
            </p:cNvPr>
            <p:cNvGrpSpPr/>
            <p:nvPr/>
          </p:nvGrpSpPr>
          <p:grpSpPr>
            <a:xfrm>
              <a:off x="642878" y="4537909"/>
              <a:ext cx="8858140" cy="432495"/>
              <a:chOff x="895292" y="1765845"/>
              <a:chExt cx="8858140" cy="432495"/>
            </a:xfrm>
          </p:grpSpPr>
          <p:sp>
            <p:nvSpPr>
              <p:cNvPr id="36" name="Rectangle 31">
                <a:extLst>
                  <a:ext uri="{FF2B5EF4-FFF2-40B4-BE49-F238E27FC236}">
                    <a16:creationId xmlns:a16="http://schemas.microsoft.com/office/drawing/2014/main" id="{E1589CCF-184C-4274-92BB-710C42A39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3" y="1857798"/>
                <a:ext cx="829965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241" algn="l"/>
                  </a:tabLst>
                </a:pPr>
                <a:r>
                  <a:rPr lang="ko-KR" altLang="en-US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사용자 삭제 후 계정과 데이터에 어떤 영향이 있는지 설명해 보세요</a:t>
                </a:r>
                <a:r>
                  <a:rPr lang="en-US" altLang="ko-KR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.</a:t>
                </a: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1C736E7D-16BC-490F-93A5-7B7B8F9FE136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38" name="Freeform 21">
                  <a:extLst>
                    <a:ext uri="{FF2B5EF4-FFF2-40B4-BE49-F238E27FC236}">
                      <a16:creationId xmlns:a16="http://schemas.microsoft.com/office/drawing/2014/main" id="{2B387400-0C17-4A84-A92F-3B8B5B4075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9" name="Freeform 22">
                  <a:extLst>
                    <a:ext uri="{FF2B5EF4-FFF2-40B4-BE49-F238E27FC236}">
                      <a16:creationId xmlns:a16="http://schemas.microsoft.com/office/drawing/2014/main" id="{E9A1EDC5-D83A-4593-A26F-3CF8286A5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35" name="Rectangle 31">
              <a:extLst>
                <a:ext uri="{FF2B5EF4-FFF2-40B4-BE49-F238E27FC236}">
                  <a16:creationId xmlns:a16="http://schemas.microsoft.com/office/drawing/2014/main" id="{C2A64005-9E8A-4A03-A800-D856B51BD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4562051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241" algn="l"/>
                </a:tabLst>
              </a:pPr>
              <a:r>
                <a:rPr lang="en-US" altLang="ko-KR" sz="28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DAC36C2-5C89-4F23-86A2-E1EB8B48F322}"/>
              </a:ext>
            </a:extLst>
          </p:cNvPr>
          <p:cNvGrpSpPr/>
          <p:nvPr/>
        </p:nvGrpSpPr>
        <p:grpSpPr>
          <a:xfrm>
            <a:off x="9540520" y="1656296"/>
            <a:ext cx="596461" cy="84354"/>
            <a:chOff x="9067796" y="1987097"/>
            <a:chExt cx="596461" cy="84354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F6D5CDF-C0C8-475A-9F07-698F7A470C8A}"/>
                </a:ext>
              </a:extLst>
            </p:cNvPr>
            <p:cNvSpPr/>
            <p:nvPr/>
          </p:nvSpPr>
          <p:spPr>
            <a:xfrm>
              <a:off x="9067796" y="1987097"/>
              <a:ext cx="84354" cy="84354"/>
            </a:xfrm>
            <a:prstGeom prst="ellipse">
              <a:avLst/>
            </a:prstGeom>
            <a:solidFill>
              <a:srgbClr val="F49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80689D2-9DC6-4731-AB5B-D705C389C0C9}"/>
                </a:ext>
              </a:extLst>
            </p:cNvPr>
            <p:cNvSpPr/>
            <p:nvPr/>
          </p:nvSpPr>
          <p:spPr>
            <a:xfrm>
              <a:off x="9195822" y="1987097"/>
              <a:ext cx="82800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AB4576E-AF87-41E1-8483-9EE494DFB0C9}"/>
                </a:ext>
              </a:extLst>
            </p:cNvPr>
            <p:cNvSpPr/>
            <p:nvPr/>
          </p:nvSpPr>
          <p:spPr>
            <a:xfrm>
              <a:off x="9323850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8D5AC3B-3E1C-491C-9FD5-23C381E10013}"/>
                </a:ext>
              </a:extLst>
            </p:cNvPr>
            <p:cNvSpPr/>
            <p:nvPr/>
          </p:nvSpPr>
          <p:spPr>
            <a:xfrm>
              <a:off x="9451877" y="1987097"/>
              <a:ext cx="84354" cy="843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350CE78-15B5-4AA6-9D28-4480E14D6AA1}"/>
                </a:ext>
              </a:extLst>
            </p:cNvPr>
            <p:cNvSpPr/>
            <p:nvPr/>
          </p:nvSpPr>
          <p:spPr>
            <a:xfrm>
              <a:off x="9579903" y="1987097"/>
              <a:ext cx="84354" cy="8435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43852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</TotalTime>
  <Words>3056</Words>
  <Application>Microsoft Office PowerPoint</Application>
  <PresentationFormat>사용자 지정</PresentationFormat>
  <Paragraphs>387</Paragraphs>
  <Slides>85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85</vt:i4>
      </vt:variant>
    </vt:vector>
  </HeadingPairs>
  <TitlesOfParts>
    <vt:vector size="95" baseType="lpstr">
      <vt:lpstr>KoPub돋움체 Bold</vt:lpstr>
      <vt:lpstr>KoPub돋움체 Medium</vt:lpstr>
      <vt:lpstr>KoPub바탕체 Bold</vt:lpstr>
      <vt:lpstr>나눔스퀘어_ac</vt:lpstr>
      <vt:lpstr>맑은 고딕</vt:lpstr>
      <vt:lpstr>세방고딕 Bold</vt:lpstr>
      <vt:lpstr>세방고딕 Regular</vt:lpstr>
      <vt:lpstr>Arial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insun choi</dc:creator>
  <cp:lastModifiedBy>WIN10</cp:lastModifiedBy>
  <cp:revision>143</cp:revision>
  <dcterms:created xsi:type="dcterms:W3CDTF">2025-06-09T06:12:06Z</dcterms:created>
  <dcterms:modified xsi:type="dcterms:W3CDTF">2026-05-28T05:23:37Z</dcterms:modified>
</cp:coreProperties>
</file>