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d6d356416f4e5f" /><Relationship Type="http://schemas.openxmlformats.org/officeDocument/2006/relationships/extended-properties" Target="/docProps/app.xml" Id="Rd3ac4277c19545d6" /><Relationship Type="http://schemas.openxmlformats.org/officeDocument/2006/relationships/officeDocument" Target="/ppt/presentation.xml" Id="Rd239c160a3d84e91" /></Relationships>
</file>

<file path=ppt/presentation.xml><?xml version="1.0" encoding="utf-8"?>
<p:presentation xmlns:p="http://schemas.openxmlformats.org/presentationml/2006/main">
  <p:sldMasterIdLst>
    <p:sldMasterId xmlns:r="http://schemas.openxmlformats.org/officeDocument/2006/relationships" id="2147483648" r:id="R22ceb98ada5243ba"/>
  </p:sldMasterIdLst>
  <p:notesMasterIdLst>
    <p:notesMasterId xmlns:r="http://schemas.openxmlformats.org/officeDocument/2006/relationships" r:id="R118e3c248e0e4483"/>
  </p:notesMasterIdLst>
  <p:sldIdLst>
    <p:sldId xmlns:r="http://schemas.openxmlformats.org/officeDocument/2006/relationships" id="256" r:id="R45205747d0a24121"/>
    <p:sldId xmlns:r="http://schemas.openxmlformats.org/officeDocument/2006/relationships" id="257" r:id="Rf4cff626cdf64618"/>
    <p:sldId xmlns:r="http://schemas.openxmlformats.org/officeDocument/2006/relationships" id="258" r:id="R11a00d4ac0394a38"/>
    <p:sldId xmlns:r="http://schemas.openxmlformats.org/officeDocument/2006/relationships" id="259" r:id="R68ca4a80790741fe"/>
    <p:sldId xmlns:r="http://schemas.openxmlformats.org/officeDocument/2006/relationships" id="260" r:id="Rdca327fe24a74f6d"/>
    <p:sldId xmlns:r="http://schemas.openxmlformats.org/officeDocument/2006/relationships" id="261" r:id="R4480a5771af0457a"/>
    <p:sldId xmlns:r="http://schemas.openxmlformats.org/officeDocument/2006/relationships" id="262" r:id="Reb804b360158459f"/>
    <p:sldId xmlns:r="http://schemas.openxmlformats.org/officeDocument/2006/relationships" id="263" r:id="R9e465b2f272b4cd6"/>
    <p:sldId xmlns:r="http://schemas.openxmlformats.org/officeDocument/2006/relationships" id="264" r:id="R306ba4ea67814246"/>
    <p:sldId xmlns:r="http://schemas.openxmlformats.org/officeDocument/2006/relationships" id="265" r:id="R3c7797d24b0a4eb7"/>
    <p:sldId xmlns:r="http://schemas.openxmlformats.org/officeDocument/2006/relationships" id="266" r:id="R885d7a902c8f4a56"/>
    <p:sldId xmlns:r="http://schemas.openxmlformats.org/officeDocument/2006/relationships" id="267" r:id="Rf9c133df17a4491c"/>
    <p:sldId xmlns:r="http://schemas.openxmlformats.org/officeDocument/2006/relationships" id="268" r:id="R80f5288894164d64"/>
    <p:sldId xmlns:r="http://schemas.openxmlformats.org/officeDocument/2006/relationships" id="269" r:id="R5a13729f5f6c4670"/>
    <p:sldId xmlns:r="http://schemas.openxmlformats.org/officeDocument/2006/relationships" id="270" r:id="R4aa423185cdf4e71"/>
    <p:sldId xmlns:r="http://schemas.openxmlformats.org/officeDocument/2006/relationships" id="271" r:id="R2ee4987b5e4345c0"/>
    <p:sldId xmlns:r="http://schemas.openxmlformats.org/officeDocument/2006/relationships" id="272" r:id="R9c8a19946dfc4ada"/>
    <p:sldId xmlns:r="http://schemas.openxmlformats.org/officeDocument/2006/relationships" id="273" r:id="Re17b094f0a894c04"/>
    <p:sldId xmlns:r="http://schemas.openxmlformats.org/officeDocument/2006/relationships" id="274" r:id="Rdbbab9dafea8452e"/>
    <p:sldId xmlns:r="http://schemas.openxmlformats.org/officeDocument/2006/relationships" id="275" r:id="R660edf00de2e456f"/>
    <p:sldId xmlns:r="http://schemas.openxmlformats.org/officeDocument/2006/relationships" id="276" r:id="R27c2ce81d6684dcf"/>
    <p:sldId xmlns:r="http://schemas.openxmlformats.org/officeDocument/2006/relationships" id="277" r:id="Rb564c513e8724cfc"/>
    <p:sldId xmlns:r="http://schemas.openxmlformats.org/officeDocument/2006/relationships" id="278" r:id="Rb84eac92af8e481d"/>
    <p:sldId xmlns:r="http://schemas.openxmlformats.org/officeDocument/2006/relationships" id="279" r:id="R4d2c7981162647c6"/>
    <p:sldId xmlns:r="http://schemas.openxmlformats.org/officeDocument/2006/relationships" id="280" r:id="Rc0f196ee3ff34bcd"/>
    <p:sldId xmlns:r="http://schemas.openxmlformats.org/officeDocument/2006/relationships" id="281" r:id="R4492eb5df54249f9"/>
    <p:sldId xmlns:r="http://schemas.openxmlformats.org/officeDocument/2006/relationships" id="282" r:id="Ra12164f3ec5040d7"/>
    <p:sldId xmlns:r="http://schemas.openxmlformats.org/officeDocument/2006/relationships" id="283" r:id="Rfdb14be9a26040e7"/>
    <p:sldId xmlns:r="http://schemas.openxmlformats.org/officeDocument/2006/relationships" id="284" r:id="R476dd2db67e345b9"/>
    <p:sldId xmlns:r="http://schemas.openxmlformats.org/officeDocument/2006/relationships" id="285" r:id="R514f5f833d1e4681"/>
    <p:sldId xmlns:r="http://schemas.openxmlformats.org/officeDocument/2006/relationships" id="286" r:id="R0bccdce0afe34ade"/>
    <p:sldId xmlns:r="http://schemas.openxmlformats.org/officeDocument/2006/relationships" id="287" r:id="R4a7697c22be041a4"/>
    <p:sldId xmlns:r="http://schemas.openxmlformats.org/officeDocument/2006/relationships" id="288" r:id="R30a4a8a1769c492f"/>
    <p:sldId xmlns:r="http://schemas.openxmlformats.org/officeDocument/2006/relationships" id="289" r:id="Rb1bb278efe874530"/>
    <p:sldId xmlns:r="http://schemas.openxmlformats.org/officeDocument/2006/relationships" id="290" r:id="R6448129de3c3456e"/>
    <p:sldId xmlns:r="http://schemas.openxmlformats.org/officeDocument/2006/relationships" id="291" r:id="R4529d41946df41c1"/>
    <p:sldId xmlns:r="http://schemas.openxmlformats.org/officeDocument/2006/relationships" id="292" r:id="R464b54624d294034"/>
    <p:sldId xmlns:r="http://schemas.openxmlformats.org/officeDocument/2006/relationships" id="293" r:id="R9614a8ac50af4af6"/>
    <p:sldId xmlns:r="http://schemas.openxmlformats.org/officeDocument/2006/relationships" id="294" r:id="Rfb1a5dd5fe07406d"/>
    <p:sldId xmlns:r="http://schemas.openxmlformats.org/officeDocument/2006/relationships" id="295" r:id="R12f88385ba274d19"/>
    <p:sldId xmlns:r="http://schemas.openxmlformats.org/officeDocument/2006/relationships" id="296" r:id="Rf5000f31ea154b9d"/>
    <p:sldId xmlns:r="http://schemas.openxmlformats.org/officeDocument/2006/relationships" id="297" r:id="Rd5b1f2f2631047f0"/>
    <p:sldId xmlns:r="http://schemas.openxmlformats.org/officeDocument/2006/relationships" id="298" r:id="R54865775f5f7408a"/>
    <p:sldId xmlns:r="http://schemas.openxmlformats.org/officeDocument/2006/relationships" id="299" r:id="R816939072d2d4d3b"/>
    <p:sldId xmlns:r="http://schemas.openxmlformats.org/officeDocument/2006/relationships" id="300" r:id="Rad3e6611943542a7"/>
    <p:sldId xmlns:r="http://schemas.openxmlformats.org/officeDocument/2006/relationships" id="301" r:id="Rb53c88ec95b34b34"/>
  </p:sldIdLst>
  <p:sldSz cx="10691813" cy="7559675"/>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KoPubDotum"/>
        <a:ea typeface="KoPubDotum"/>
        <a:cs typeface="KoPubDotum"/>
      </a:defRPr>
    </a:lvl1pPr>
    <a:lvl2pPr xmlns:a="http://schemas.openxmlformats.org/drawingml/2006/main" marL="457200" algn="l" defTabSz="457200">
      <a:buNone/>
      <a:defRPr sz="1800" kern="1200">
        <a:solidFill>
          <a:schemeClr val="tx1"/>
        </a:solidFill>
        <a:latin typeface="KoPubDotum"/>
        <a:ea typeface="KoPubDotum"/>
        <a:cs typeface="KoPubDotum"/>
      </a:defRPr>
    </a:lvl2pPr>
    <a:lvl3pPr xmlns:a="http://schemas.openxmlformats.org/drawingml/2006/main" marL="914400" algn="l" defTabSz="457200">
      <a:buNone/>
      <a:defRPr sz="1800" kern="1200">
        <a:solidFill>
          <a:schemeClr val="tx1"/>
        </a:solidFill>
        <a:latin typeface="KoPubDotum"/>
        <a:ea typeface="KoPubDotum"/>
        <a:cs typeface="KoPubDotum"/>
      </a:defRPr>
    </a:lvl3pPr>
    <a:lvl4pPr xmlns:a="http://schemas.openxmlformats.org/drawingml/2006/main" marL="1371600" algn="l" defTabSz="457200">
      <a:buNone/>
      <a:defRPr sz="1800" kern="1200">
        <a:solidFill>
          <a:schemeClr val="tx1"/>
        </a:solidFill>
        <a:latin typeface="KoPubDotum"/>
        <a:ea typeface="KoPubDotum"/>
        <a:cs typeface="KoPubDotum"/>
      </a:defRPr>
    </a:lvl4pPr>
    <a:lvl5pPr xmlns:a="http://schemas.openxmlformats.org/drawingml/2006/main" marL="1828800" algn="l" defTabSz="457200">
      <a:buNone/>
      <a:defRPr sz="1800" kern="1200">
        <a:solidFill>
          <a:schemeClr val="tx1"/>
        </a:solidFill>
        <a:latin typeface="KoPubDotum"/>
        <a:ea typeface="KoPubDotum"/>
        <a:cs typeface="KoPubDotum"/>
      </a:defRPr>
    </a:lvl5pPr>
    <a:lvl6pPr xmlns:a="http://schemas.openxmlformats.org/drawingml/2006/main" marL="2286000" algn="l" defTabSz="457200">
      <a:buNone/>
      <a:defRPr sz="1800" kern="1200">
        <a:solidFill>
          <a:schemeClr val="tx1"/>
        </a:solidFill>
        <a:latin typeface="KoPubDotum"/>
        <a:ea typeface="KoPubDotum"/>
        <a:cs typeface="KoPubDotum"/>
      </a:defRPr>
    </a:lvl6pPr>
    <a:lvl7pPr xmlns:a="http://schemas.openxmlformats.org/drawingml/2006/main" marL="2743200" algn="l" defTabSz="457200">
      <a:buNone/>
      <a:defRPr sz="1800" kern="1200">
        <a:solidFill>
          <a:schemeClr val="tx1"/>
        </a:solidFill>
        <a:latin typeface="KoPubDotum"/>
        <a:ea typeface="KoPubDotum"/>
        <a:cs typeface="KoPubDotum"/>
      </a:defRPr>
    </a:lvl7pPr>
    <a:lvl8pPr xmlns:a="http://schemas.openxmlformats.org/drawingml/2006/main" marL="3200400" algn="l" defTabSz="457200">
      <a:buNone/>
      <a:defRPr sz="1800" kern="1200">
        <a:solidFill>
          <a:schemeClr val="tx1"/>
        </a:solidFill>
        <a:latin typeface="KoPubDotum"/>
        <a:ea typeface="KoPubDotum"/>
        <a:cs typeface="KoPubDotum"/>
      </a:defRPr>
    </a:lvl8pPr>
    <a:lvl9pPr xmlns:a="http://schemas.openxmlformats.org/drawingml/2006/main" marL="3657600" algn="l" defTabSz="457200">
      <a:buNone/>
      <a:defRPr sz="1800" kern="1200">
        <a:solidFill>
          <a:schemeClr val="tx1"/>
        </a:solidFill>
        <a:latin typeface="KoPubDotum"/>
        <a:ea typeface="KoPubDotum"/>
        <a:cs typeface="KoPubDotum"/>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237cb4d9959443e" /><Relationship Type="http://schemas.openxmlformats.org/officeDocument/2006/relationships/slideMaster" Target="/ppt/slideMasters/slideMaster1.xml" Id="R22ceb98ada5243ba" /><Relationship Type="http://schemas.openxmlformats.org/officeDocument/2006/relationships/notesMaster" Target="/ppt/notesMasters/notesMaster1.xml" Id="R118e3c248e0e4483" /><Relationship Type="http://schemas.openxmlformats.org/officeDocument/2006/relationships/presProps" Target="/ppt/presProps.xml" Id="R13b5d115d82e423d" /><Relationship Type="http://schemas.openxmlformats.org/officeDocument/2006/relationships/viewProps" Target="/ppt/viewProps.xml" Id="Rb63e104712eb4c82" /><Relationship Type="http://schemas.openxmlformats.org/officeDocument/2006/relationships/tableStyles" Target="/ppt/tableStyles.xml" Id="R029c331c536b4a7d" /><Relationship Type="http://schemas.openxmlformats.org/officeDocument/2006/relationships/slide" Target="/ppt/slides/slide1.xml" Id="R45205747d0a24121" /><Relationship Type="http://schemas.openxmlformats.org/officeDocument/2006/relationships/slide" Target="/ppt/slides/slide2.xml" Id="Rf4cff626cdf64618" /><Relationship Type="http://schemas.openxmlformats.org/officeDocument/2006/relationships/slide" Target="/ppt/slides/slide3.xml" Id="R11a00d4ac0394a38" /><Relationship Type="http://schemas.openxmlformats.org/officeDocument/2006/relationships/slide" Target="/ppt/slides/slide4.xml" Id="R68ca4a80790741fe" /><Relationship Type="http://schemas.openxmlformats.org/officeDocument/2006/relationships/slide" Target="/ppt/slides/slide5.xml" Id="Rdca327fe24a74f6d" /><Relationship Type="http://schemas.openxmlformats.org/officeDocument/2006/relationships/slide" Target="/ppt/slides/slide6.xml" Id="R4480a5771af0457a" /><Relationship Type="http://schemas.openxmlformats.org/officeDocument/2006/relationships/slide" Target="/ppt/slides/slide7.xml" Id="Reb804b360158459f" /><Relationship Type="http://schemas.openxmlformats.org/officeDocument/2006/relationships/slide" Target="/ppt/slides/slide8.xml" Id="R9e465b2f272b4cd6" /><Relationship Type="http://schemas.openxmlformats.org/officeDocument/2006/relationships/slide" Target="/ppt/slides/slide9.xml" Id="R306ba4ea67814246" /><Relationship Type="http://schemas.openxmlformats.org/officeDocument/2006/relationships/slide" Target="/ppt/slides/slide10.xml" Id="R3c7797d24b0a4eb7" /><Relationship Type="http://schemas.openxmlformats.org/officeDocument/2006/relationships/slide" Target="/ppt/slides/slide11.xml" Id="R885d7a902c8f4a56" /><Relationship Type="http://schemas.openxmlformats.org/officeDocument/2006/relationships/slide" Target="/ppt/slides/slide12.xml" Id="Rf9c133df17a4491c" /><Relationship Type="http://schemas.openxmlformats.org/officeDocument/2006/relationships/slide" Target="/ppt/slides/slide13.xml" Id="R80f5288894164d64" /><Relationship Type="http://schemas.openxmlformats.org/officeDocument/2006/relationships/slide" Target="/ppt/slides/slide14.xml" Id="R5a13729f5f6c4670" /><Relationship Type="http://schemas.openxmlformats.org/officeDocument/2006/relationships/slide" Target="/ppt/slides/slide15.xml" Id="R4aa423185cdf4e71" /><Relationship Type="http://schemas.openxmlformats.org/officeDocument/2006/relationships/slide" Target="/ppt/slides/slide16.xml" Id="R2ee4987b5e4345c0" /><Relationship Type="http://schemas.openxmlformats.org/officeDocument/2006/relationships/slide" Target="/ppt/slides/slide17.xml" Id="R9c8a19946dfc4ada" /><Relationship Type="http://schemas.openxmlformats.org/officeDocument/2006/relationships/slide" Target="/ppt/slides/slide18.xml" Id="Re17b094f0a894c04" /><Relationship Type="http://schemas.openxmlformats.org/officeDocument/2006/relationships/slide" Target="/ppt/slides/slide19.xml" Id="Rdbbab9dafea8452e" /><Relationship Type="http://schemas.openxmlformats.org/officeDocument/2006/relationships/slide" Target="/ppt/slides/slide20.xml" Id="R660edf00de2e456f" /><Relationship Type="http://schemas.openxmlformats.org/officeDocument/2006/relationships/slide" Target="/ppt/slides/slide21.xml" Id="R27c2ce81d6684dcf" /><Relationship Type="http://schemas.openxmlformats.org/officeDocument/2006/relationships/slide" Target="/ppt/slides/slide22.xml" Id="Rb564c513e8724cfc" /><Relationship Type="http://schemas.openxmlformats.org/officeDocument/2006/relationships/slide" Target="/ppt/slides/slide23.xml" Id="Rb84eac92af8e481d" /><Relationship Type="http://schemas.openxmlformats.org/officeDocument/2006/relationships/slide" Target="/ppt/slides/slide24.xml" Id="R4d2c7981162647c6" /><Relationship Type="http://schemas.openxmlformats.org/officeDocument/2006/relationships/slide" Target="/ppt/slides/slide25.xml" Id="Rc0f196ee3ff34bcd" /><Relationship Type="http://schemas.openxmlformats.org/officeDocument/2006/relationships/slide" Target="/ppt/slides/slide26.xml" Id="R4492eb5df54249f9" /><Relationship Type="http://schemas.openxmlformats.org/officeDocument/2006/relationships/slide" Target="/ppt/slides/slide27.xml" Id="Ra12164f3ec5040d7" /><Relationship Type="http://schemas.openxmlformats.org/officeDocument/2006/relationships/slide" Target="/ppt/slides/slide28.xml" Id="Rfdb14be9a26040e7" /><Relationship Type="http://schemas.openxmlformats.org/officeDocument/2006/relationships/slide" Target="/ppt/slides/slide29.xml" Id="R476dd2db67e345b9" /><Relationship Type="http://schemas.openxmlformats.org/officeDocument/2006/relationships/slide" Target="/ppt/slides/slide30.xml" Id="R514f5f833d1e4681" /><Relationship Type="http://schemas.openxmlformats.org/officeDocument/2006/relationships/slide" Target="/ppt/slides/slide31.xml" Id="R0bccdce0afe34ade" /><Relationship Type="http://schemas.openxmlformats.org/officeDocument/2006/relationships/slide" Target="/ppt/slides/slide32.xml" Id="R4a7697c22be041a4" /><Relationship Type="http://schemas.openxmlformats.org/officeDocument/2006/relationships/slide" Target="/ppt/slides/slide33.xml" Id="R30a4a8a1769c492f" /><Relationship Type="http://schemas.openxmlformats.org/officeDocument/2006/relationships/slide" Target="/ppt/slides/slide34.xml" Id="Rb1bb278efe874530" /><Relationship Type="http://schemas.openxmlformats.org/officeDocument/2006/relationships/slide" Target="/ppt/slides/slide35.xml" Id="R6448129de3c3456e" /><Relationship Type="http://schemas.openxmlformats.org/officeDocument/2006/relationships/slide" Target="/ppt/slides/slide36.xml" Id="R4529d41946df41c1" /><Relationship Type="http://schemas.openxmlformats.org/officeDocument/2006/relationships/slide" Target="/ppt/slides/slide37.xml" Id="R464b54624d294034" /><Relationship Type="http://schemas.openxmlformats.org/officeDocument/2006/relationships/slide" Target="/ppt/slides/slide38.xml" Id="R9614a8ac50af4af6" /><Relationship Type="http://schemas.openxmlformats.org/officeDocument/2006/relationships/slide" Target="/ppt/slides/slide39.xml" Id="Rfb1a5dd5fe07406d" /><Relationship Type="http://schemas.openxmlformats.org/officeDocument/2006/relationships/slide" Target="/ppt/slides/slide40.xml" Id="R12f88385ba274d19" /><Relationship Type="http://schemas.openxmlformats.org/officeDocument/2006/relationships/slide" Target="/ppt/slides/slide41.xml" Id="Rf5000f31ea154b9d" /><Relationship Type="http://schemas.openxmlformats.org/officeDocument/2006/relationships/slide" Target="/ppt/slides/slide42.xml" Id="Rd5b1f2f2631047f0" /><Relationship Type="http://schemas.openxmlformats.org/officeDocument/2006/relationships/slide" Target="/ppt/slides/slide43.xml" Id="R54865775f5f7408a" /><Relationship Type="http://schemas.openxmlformats.org/officeDocument/2006/relationships/slide" Target="/ppt/slides/slide44.xml" Id="R816939072d2d4d3b" /><Relationship Type="http://schemas.openxmlformats.org/officeDocument/2006/relationships/slide" Target="/ppt/slides/slide45.xml" Id="Rad3e6611943542a7" /><Relationship Type="http://schemas.openxmlformats.org/officeDocument/2006/relationships/slide" Target="/ppt/slides/slide46.xml" Id="Rb53c88ec95b34b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8a798215b142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KoPubDotum"/>
        <a:ea typeface="KoPubDotum"/>
        <a:cs typeface=""/>
      </a:majorFont>
      <a:minorFont>
        <a:latin typeface="KoPubDotum"/>
        <a:ea typeface="KoPubDotum"/>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23c0e7761f4f97" /><Relationship Type="http://schemas.openxmlformats.org/officeDocument/2006/relationships/notesMaster" Target="/ppt/notesMasters/notesMaster1.xml" Id="R5ddb70321224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6c6c756f2a4a5d" /><Relationship Type="http://schemas.openxmlformats.org/officeDocument/2006/relationships/notesMaster" Target="/ppt/notesMasters/notesMaster1.xml" Id="R988eff96bb9944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cc5db65df74cef" /><Relationship Type="http://schemas.openxmlformats.org/officeDocument/2006/relationships/notesMaster" Target="/ppt/notesMasters/notesMaster1.xml" Id="R65656b7ce5ca47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b59fdee1114b3e" /><Relationship Type="http://schemas.openxmlformats.org/officeDocument/2006/relationships/notesMaster" Target="/ppt/notesMasters/notesMaster1.xml" Id="R70e2ba900dc745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634bd37130424c" /><Relationship Type="http://schemas.openxmlformats.org/officeDocument/2006/relationships/notesMaster" Target="/ppt/notesMasters/notesMaster1.xml" Id="R4150a1597df843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57722d1024435b" /><Relationship Type="http://schemas.openxmlformats.org/officeDocument/2006/relationships/notesMaster" Target="/ppt/notesMasters/notesMaster1.xml" Id="R465c1946a5c948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271751fc07425d" /><Relationship Type="http://schemas.openxmlformats.org/officeDocument/2006/relationships/notesMaster" Target="/ppt/notesMasters/notesMaster1.xml" Id="R3e49ba1918374a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173ab9cdb349e4" /><Relationship Type="http://schemas.openxmlformats.org/officeDocument/2006/relationships/notesMaster" Target="/ppt/notesMasters/notesMaster1.xml" Id="Rc661df4985d14b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288bcafb6549bf" /><Relationship Type="http://schemas.openxmlformats.org/officeDocument/2006/relationships/notesMaster" Target="/ppt/notesMasters/notesMaster1.xml" Id="Rf8b88c2a487f44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983eaf78e7403f" /><Relationship Type="http://schemas.openxmlformats.org/officeDocument/2006/relationships/notesMaster" Target="/ppt/notesMasters/notesMaster1.xml" Id="Rb50368daed7942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defd0fe7244ca7" /><Relationship Type="http://schemas.openxmlformats.org/officeDocument/2006/relationships/notesMaster" Target="/ppt/notesMasters/notesMaster1.xml" Id="R6ca167f95ff447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030a954ca64626" /><Relationship Type="http://schemas.openxmlformats.org/officeDocument/2006/relationships/notesMaster" Target="/ppt/notesMasters/notesMaster1.xml" Id="R5574fc31c8254c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c6a2e66cf24d7a" /><Relationship Type="http://schemas.openxmlformats.org/officeDocument/2006/relationships/notesMaster" Target="/ppt/notesMasters/notesMaster1.xml" Id="R0c764f3cd9104a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50ffdb0df94205" /><Relationship Type="http://schemas.openxmlformats.org/officeDocument/2006/relationships/notesMaster" Target="/ppt/notesMasters/notesMaster1.xml" Id="R5820fe5144e448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dcdf0ab5e24aa7" /><Relationship Type="http://schemas.openxmlformats.org/officeDocument/2006/relationships/notesMaster" Target="/ppt/notesMasters/notesMaster1.xml" Id="R5e6d65e5b73646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e805b8e9af44e1" /><Relationship Type="http://schemas.openxmlformats.org/officeDocument/2006/relationships/notesMaster" Target="/ppt/notesMasters/notesMaster1.xml" Id="R04432275384349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c2a2d1d9e2941b2" /><Relationship Type="http://schemas.openxmlformats.org/officeDocument/2006/relationships/notesMaster" Target="/ppt/notesMasters/notesMaster1.xml" Id="Ra045587df90943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bc456ece554b85" /><Relationship Type="http://schemas.openxmlformats.org/officeDocument/2006/relationships/notesMaster" Target="/ppt/notesMasters/notesMaster1.xml" Id="R01f02e45fbcf4ba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92c966be564500" /><Relationship Type="http://schemas.openxmlformats.org/officeDocument/2006/relationships/notesMaster" Target="/ppt/notesMasters/notesMaster1.xml" Id="R0692229ca68544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dde56097f947ca" /><Relationship Type="http://schemas.openxmlformats.org/officeDocument/2006/relationships/notesMaster" Target="/ppt/notesMasters/notesMaster1.xml" Id="Ra4dae10d43b347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ba46fad2124a62" /><Relationship Type="http://schemas.openxmlformats.org/officeDocument/2006/relationships/notesMaster" Target="/ppt/notesMasters/notesMaster1.xml" Id="R06326381656144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a7881d9b7874260" /><Relationship Type="http://schemas.openxmlformats.org/officeDocument/2006/relationships/notesMaster" Target="/ppt/notesMasters/notesMaster1.xml" Id="R311a7fe820f544e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a07288d5d04923" /><Relationship Type="http://schemas.openxmlformats.org/officeDocument/2006/relationships/notesMaster" Target="/ppt/notesMasters/notesMaster1.xml" Id="R4ae2685fffce44b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78b83e419b7444c" /><Relationship Type="http://schemas.openxmlformats.org/officeDocument/2006/relationships/notesMaster" Target="/ppt/notesMasters/notesMaster1.xml" Id="Rcf39c438f96d4e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1b814a99c94e34" /><Relationship Type="http://schemas.openxmlformats.org/officeDocument/2006/relationships/notesMaster" Target="/ppt/notesMasters/notesMaster1.xml" Id="R61e2cd14beef4c9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45f91ca3ea444b" /><Relationship Type="http://schemas.openxmlformats.org/officeDocument/2006/relationships/notesMaster" Target="/ppt/notesMasters/notesMaster1.xml" Id="Rd673b382ef7b491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f8a9470236a4281" /><Relationship Type="http://schemas.openxmlformats.org/officeDocument/2006/relationships/notesMaster" Target="/ppt/notesMasters/notesMaster1.xml" Id="R765705684a5e47a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3b46d57391b43ff" /><Relationship Type="http://schemas.openxmlformats.org/officeDocument/2006/relationships/notesMaster" Target="/ppt/notesMasters/notesMaster1.xml" Id="Rac7b5e4077cf4c9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631c3e30c04d39" /><Relationship Type="http://schemas.openxmlformats.org/officeDocument/2006/relationships/notesMaster" Target="/ppt/notesMasters/notesMaster1.xml" Id="R583cafee460148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96d10b513404033" /><Relationship Type="http://schemas.openxmlformats.org/officeDocument/2006/relationships/notesMaster" Target="/ppt/notesMasters/notesMaster1.xml" Id="R9ee0733696a14ba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9d40e25b1bd4e69" /><Relationship Type="http://schemas.openxmlformats.org/officeDocument/2006/relationships/notesMaster" Target="/ppt/notesMasters/notesMaster1.xml" Id="R3bf6db91a6484af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a1eff694d8b4e58" /><Relationship Type="http://schemas.openxmlformats.org/officeDocument/2006/relationships/notesMaster" Target="/ppt/notesMasters/notesMaster1.xml" Id="R1df84d164b04405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b91e3b92ce24f9d" /><Relationship Type="http://schemas.openxmlformats.org/officeDocument/2006/relationships/notesMaster" Target="/ppt/notesMasters/notesMaster1.xml" Id="R699254409d5b492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1a22b4c930b4726" /><Relationship Type="http://schemas.openxmlformats.org/officeDocument/2006/relationships/notesMaster" Target="/ppt/notesMasters/notesMaster1.xml" Id="R16ce532e791e494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c1c0f0368ef47f2" /><Relationship Type="http://schemas.openxmlformats.org/officeDocument/2006/relationships/notesMaster" Target="/ppt/notesMasters/notesMaster1.xml" Id="R5360eeb1e73948a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0e5dc5814a04918" /><Relationship Type="http://schemas.openxmlformats.org/officeDocument/2006/relationships/notesMaster" Target="/ppt/notesMasters/notesMaster1.xml" Id="R041511b592334e6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b584d4e1a914716" /><Relationship Type="http://schemas.openxmlformats.org/officeDocument/2006/relationships/notesMaster" Target="/ppt/notesMasters/notesMaster1.xml" Id="R895d59f0dddc49d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c94e8d060ec412f" /><Relationship Type="http://schemas.openxmlformats.org/officeDocument/2006/relationships/notesMaster" Target="/ppt/notesMasters/notesMaster1.xml" Id="R5c1b6c7e9fb5486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131dcb35e154c9c" /><Relationship Type="http://schemas.openxmlformats.org/officeDocument/2006/relationships/notesMaster" Target="/ppt/notesMasters/notesMaster1.xml" Id="Rcf5d8336805e46e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f64343593064b74" /><Relationship Type="http://schemas.openxmlformats.org/officeDocument/2006/relationships/notesMaster" Target="/ppt/notesMasters/notesMaster1.xml" Id="Rf7821a0e499e40a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99996d1953c4876" /><Relationship Type="http://schemas.openxmlformats.org/officeDocument/2006/relationships/notesMaster" Target="/ppt/notesMasters/notesMaster1.xml" Id="R68a283f796cf4f5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c09bd0ac7554266" /><Relationship Type="http://schemas.openxmlformats.org/officeDocument/2006/relationships/notesMaster" Target="/ppt/notesMasters/notesMaster1.xml" Id="R5e3942857ae44c9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9aa946eb3204f63" /><Relationship Type="http://schemas.openxmlformats.org/officeDocument/2006/relationships/notesMaster" Target="/ppt/notesMasters/notesMaster1.xml" Id="R7c48f33258db41e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de0a850af684fb0" /><Relationship Type="http://schemas.openxmlformats.org/officeDocument/2006/relationships/notesMaster" Target="/ppt/notesMasters/notesMaster1.xml" Id="Rf5f965ec63d44e3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b068fc679774989" /><Relationship Type="http://schemas.openxmlformats.org/officeDocument/2006/relationships/notesMaster" Target="/ppt/notesMasters/notesMaster1.xml" Id="R710f6f1f9fd64f1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3a069f50bf84001" /><Relationship Type="http://schemas.openxmlformats.org/officeDocument/2006/relationships/notesMaster" Target="/ppt/notesMasters/notesMaster1.xml" Id="R8e3b379b4f9941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LEGO SPIKE Prime</a:t>
            </a:r>
          </a:p>
          <a:p xmlns:a="http://schemas.openxmlformats.org/drawingml/2006/main">
            <a:r>
              <a:t>수업 적용과 문제해결 지원</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이번 연수에서 다룰 문제</a:t>
            </a:r>
          </a:p>
          <a:p xmlns:a="http://schemas.openxmlformats.org/drawingml/2006/main">
            <a:r>
              <a:t/>
            </a:r>
          </a:p>
          <a:p xmlns:a="http://schemas.openxmlformats.org/drawingml/2006/main">
            <a:r>
              <a:t>진행 메모</a:t>
            </a:r>
          </a:p>
          <a:p xmlns:a="http://schemas.openxmlformats.org/drawingml/2006/main">
            <a:r>
              <a:t>첫 5분에 짧은 주행과 센서값을 확인한다. 바로 센서 조건 비교로 넘어가고, 기본 조작이 필요한 모둠에는 공통 매뉴얼의 해당 쪽을 안내한다.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차시별 실습 일정</a:t>
            </a:r>
          </a:p>
          <a:p xmlns:a="http://schemas.openxmlformats.org/drawingml/2006/main">
            <a:r>
              <a:t/>
            </a:r>
          </a:p>
          <a:p xmlns:a="http://schemas.openxmlformats.org/drawingml/2006/main">
            <a:r>
              <a:t>진행 메모</a:t>
            </a:r>
          </a:p>
          <a:p xmlns:a="http://schemas.openxmlformats.org/drawingml/2006/main">
            <a:r>
              <a:t>차시당 50분, 총 150분으로 가정한 시간표다. 준비물과 포트는 신규 과정과 같다. Python을 쓸 수 있는 설치형 앱이나 웹앱, 충전한 Hub, A/E 모터, B 거리센서, C 힘센서, D 컬러센서를 준비한다. Hub를 쓸 수 없는 모둠은 도움말에서 함수와 단위를 확인하고 조건표 계산까지 한 뒤, 활동지의 Hub 실행 칸에 ‘미실행’으로 표시한다.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센서 조건과</a:t>
            </a:r>
          </a:p>
          <a:p xmlns:a="http://schemas.openxmlformats.org/drawingml/2006/main">
            <a:r>
              <a:t>학년별 실습 과제</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시작 전 5분 점검</a:t>
            </a:r>
          </a:p>
          <a:p xmlns:a="http://schemas.openxmlformats.org/drawingml/2006/main">
            <a:r>
              <a:t/>
            </a:r>
          </a:p>
          <a:p xmlns:a="http://schemas.openxmlformats.org/drawingml/2006/main">
            <a:r>
              <a:t>진행 메모</a:t>
            </a:r>
          </a:p>
          <a:p xmlns:a="http://schemas.openxmlformats.org/drawingml/2006/main">
            <a:r>
              <a:t>5분. 모둠별로 직진·정지와 센서값 변화를 확인한다. 연결이 안 된 모둠은 매뉴얼의 연결 절차를 따라 먼저 해결한다.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센서별로 읽을 값</a:t>
            </a:r>
          </a:p>
          <a:p xmlns:a="http://schemas.openxmlformats.org/drawingml/2006/main">
            <a:r>
              <a:t/>
            </a:r>
          </a:p>
          <a:p xmlns:a="http://schemas.openxmlformats.org/drawingml/2006/main">
            <a:r>
              <a:t>진행 메모</a:t>
            </a:r>
          </a:p>
          <a:p xmlns:a="http://schemas.openxmlformats.org/drawingml/2006/main">
            <a:r>
              <a:t>센서 15분 중 앞 4분. 센서 하나를 설명하면 바로 값을 읽고, 조건을 만들고, 모터를 움직여 보는 데까지 이어 간다. 거리센서가 측정하지 못하면 Python에서는 -1이 나온다. 20보다 작다는 이유만으로 장애물이 가깝다고 판단하지 않게 한다. 컬러센서는 색상과 반사광을 번갈아 읽어 본다.</a:t>
            </a:r>
          </a:p>
          <a:p xmlns:a="http://schemas.openxmlformats.org/drawingml/2006/main">
            <a:r>
              <a:t/>
            </a:r>
          </a:p>
          <a:p xmlns:a="http://schemas.openxmlformats.org/drawingml/2006/main">
            <a:r>
              <a:t>출처</a:t>
            </a:r>
          </a:p>
          <a:p xmlns:a="http://schemas.openxmlformats.org/drawingml/2006/main">
            <a:r>
              <a:t>spec: https://education.lego.com/en-us/product-resources/spike-prime/downloads/technical-specifications/</a:t>
            </a:r>
          </a:p>
          <a:p xmlns:a="http://schemas.openxmlformats.org/drawingml/2006/main">
            <a:r>
              <a:t>cart: https://education.lego.com/en-us/lessons/spike-python-u3-sensor-control/spike-python-u3l3/</a:t>
            </a:r>
          </a:p>
          <a:p xmlns:a="http://schemas.openxmlformats.org/drawingml/2006/main">
            <a:r>
              <a:t>line: https://education.lego.com/en-us/lessons/prime-competition-ready/training-camp-3-react-to-lines/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센서값과 조건 블록</a:t>
            </a:r>
          </a:p>
          <a:p xmlns:a="http://schemas.openxmlformats.org/drawingml/2006/main">
            <a:r>
              <a:t/>
            </a:r>
          </a:p>
          <a:p xmlns:a="http://schemas.openxmlformats.org/drawingml/2006/main">
            <a:r>
              <a:t>진행 메모</a:t>
            </a:r>
          </a:p>
          <a:p xmlns:a="http://schemas.openxmlformats.org/drawingml/2006/main">
            <a:r>
              <a:t>화면의 둥근 센서값 블록과 눌림 여부를 판단하는 육각형 조건 블록을 비교한다. 힘센서는 팔레트의 힘 값 블록으로 압력도 읽을 수 있다.</a:t>
            </a:r>
          </a:p>
          <a:p xmlns:a="http://schemas.openxmlformats.org/drawingml/2006/main">
            <a:r>
              <a:t/>
            </a:r>
          </a:p>
          <a:p xmlns:a="http://schemas.openxmlformats.org/drawingml/2006/main">
            <a:r>
              <a:t>출처</a:t>
            </a:r>
          </a:p>
          <a:p xmlns:a="http://schemas.openxmlformats.org/drawingml/2006/main">
            <a:r>
              <a:t>https://spike.legoeducation.com/ · 00_원천자료/G_force/G02_sensor_readable.png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누를 때마다 출발·정지</a:t>
            </a:r>
          </a:p>
          <a:p xmlns:a="http://schemas.openxmlformats.org/drawingml/2006/main">
            <a:r>
              <a:t/>
            </a:r>
          </a:p>
          <a:p xmlns:a="http://schemas.openxmlformats.org/drawingml/2006/main">
            <a:r>
              <a:t>진행 메모</a:t>
            </a:r>
          </a:p>
          <a:p xmlns:a="http://schemas.openxmlformats.org/drawingml/2006/main">
            <a:r>
              <a:t>힘센서 실습 4분. 입력 이벤트와 상태변수를 구분한다. 매 반복마다 상태를 뒤집으면 누르고 있는 동안 상태가 빠르게 바뀌므로 손을 뗄 때까지 기다리는 처리를 넣는다. 장애물 조건이 추가되면 정지에 우선권을 둔다.</a:t>
            </a:r>
          </a:p>
          <a:p xmlns:a="http://schemas.openxmlformats.org/drawingml/2006/main">
            <a:r>
              <a:t/>
            </a:r>
          </a:p>
          <a:p xmlns:a="http://schemas.openxmlformats.org/drawingml/2006/main">
            <a:r>
              <a:t>출처</a:t>
            </a:r>
          </a:p>
          <a:p xmlns:a="http://schemas.openxmlformats.org/drawingml/2006/main">
            <a:r>
              <a:t>https://spike.legoeducation.com/ · 00_원천자료/G_force/G05_toggle_state.png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거리와 실행상태 변수 만들기</a:t>
            </a:r>
          </a:p>
          <a:p xmlns:a="http://schemas.openxmlformats.org/drawingml/2006/main">
            <a:r>
              <a:t/>
            </a:r>
          </a:p>
          <a:p xmlns:a="http://schemas.openxmlformats.org/drawingml/2006/main">
            <a:r>
              <a:t>진행 메모</a:t>
            </a:r>
          </a:p>
          <a:p xmlns:a="http://schemas.openxmlformats.org/drawingml/2006/main">
            <a:r>
              <a:t>거리에는 읽은 수치를, 실행상태에는 0과 1을 저장한다. 변수 이름과 저장할 값을 말한 뒤 만든다.</a:t>
            </a:r>
          </a:p>
          <a:p xmlns:a="http://schemas.openxmlformats.org/drawingml/2006/main">
            <a:r>
              <a:t/>
            </a:r>
          </a:p>
          <a:p xmlns:a="http://schemas.openxmlformats.org/drawingml/2006/main">
            <a:r>
              <a:t>출처</a:t>
            </a:r>
          </a:p>
          <a:p xmlns:a="http://schemas.openxmlformats.org/drawingml/2006/main">
            <a:r>
              <a:t>https://spike.legoeducation.com/ · 00_원천자료/K_control/K06_create_variable.png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19cm, 20cm, 21cm에서의 동작</a:t>
            </a:r>
          </a:p>
          <a:p xmlns:a="http://schemas.openxmlformats.org/drawingml/2006/main">
            <a:r>
              <a:t/>
            </a:r>
          </a:p>
          <a:p xmlns:a="http://schemas.openxmlformats.org/drawingml/2006/main">
            <a:r>
              <a:t>진행 메모</a:t>
            </a:r>
          </a:p>
          <a:p xmlns:a="http://schemas.openxmlformats.org/drawingml/2006/main">
            <a:r>
              <a:t>19cm는 정지, 20cm와 21cm는 이동이다. 정지하면 프로그램이 끝나므로 장애물을 치워도 다시 출발하지 않는다. 다음 반복 예제와 비교한다.</a:t>
            </a:r>
          </a:p>
          <a:p xmlns:a="http://schemas.openxmlformats.org/drawingml/2006/main">
            <a:r>
              <a:t/>
            </a:r>
          </a:p>
          <a:p xmlns:a="http://schemas.openxmlformats.org/drawingml/2006/main">
            <a:r>
              <a:t>출처</a:t>
            </a:r>
          </a:p>
          <a:p xmlns:a="http://schemas.openxmlformats.org/drawingml/2006/main">
            <a:r>
              <a:t>https://spike.legoeducation.com/ · 00_원천자료/H_distance/H04_stop20cm.png</a:t>
            </a:r>
          </a:p>
          <a:p xmlns:a="http://schemas.openxmlformats.org/drawingml/2006/main">
            <a:r>
              <a:t>cart: https://education.lego.com/en-us/lessons/spike-python-u3-sensor-control/spike-python-u3l3/</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반사광과 회전각 측정</a:t>
            </a:r>
          </a:p>
          <a:p xmlns:a="http://schemas.openxmlformats.org/drawingml/2006/main">
            <a:r>
              <a:t/>
            </a:r>
          </a:p>
          <a:p xmlns:a="http://schemas.openxmlformats.org/drawingml/2006/main">
            <a:r>
              <a:t>진행 메모</a:t>
            </a:r>
          </a:p>
          <a:p xmlns:a="http://schemas.openxmlformats.org/drawingml/2006/main">
            <a:r>
              <a:t>남은 3분. 평균값은 미리 알려 주지 않고 모둠이 직접 읽은 값을 쓴다. 표면이나 센서 장착 방향이 다르면 같은 숫자를 넣어도 주행 결과가 달라진다는 점을 연수생이 말하게 한다.</a:t>
            </a:r>
          </a:p>
          <a:p xmlns:a="http://schemas.openxmlformats.org/drawingml/2006/main">
            <a:r>
              <a:t/>
            </a:r>
          </a:p>
          <a:p xmlns:a="http://schemas.openxmlformats.org/drawingml/2006/main">
            <a:r>
              <a:t>출처</a:t>
            </a:r>
          </a:p>
          <a:p xmlns:a="http://schemas.openxmlformats.org/drawingml/2006/main">
            <a:r>
              <a:t>line: https://education.lego.com/en-us/lessons/prime-competition-ready/training-camp-3-react-to-lines/</a:t>
            </a:r>
          </a:p>
          <a:p xmlns:a="http://schemas.openxmlformats.org/drawingml/2006/main">
            <a:r>
              <a:t>tilt: https://education.lego.com/en-us/lessons/spike-python-u5-playing-games-with-simple-conditions/spike-python-u5l1-controlling-motion-with-tilt/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여러 센서가 동시에 반응할 때</a:t>
            </a:r>
          </a:p>
          <a:p xmlns:a="http://schemas.openxmlformats.org/drawingml/2006/main">
            <a:r>
              <a:t/>
            </a:r>
          </a:p>
          <a:p xmlns:a="http://schemas.openxmlformats.org/drawingml/2006/main">
            <a:r>
              <a:t>진행 메모</a:t>
            </a:r>
          </a:p>
          <a:p xmlns:a="http://schemas.openxmlformats.org/drawingml/2006/main">
            <a:r>
              <a:t>복합 조건 15분 중 6분. 센서마다 따로 실행 묶음을 만들면, 한 묶음이 멈춘 직후 다른 묶음이 다시 이동 명령을 보낼 수 있다. 모터 명령은 반복문 하나에서만 내리게 한다. 장애물을 치웠을 때 다시 출발할지는 수업 목표에 따라 정한다. 멈춘 상태를 유지하려면 정지할 때 실행상태 변수를 0으로 바꾼다.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조건별 예상 동작</a:t>
            </a:r>
          </a:p>
          <a:p xmlns:a="http://schemas.openxmlformats.org/drawingml/2006/main">
            <a:r>
              <a:t/>
            </a:r>
          </a:p>
          <a:p xmlns:a="http://schemas.openxmlformats.org/drawingml/2006/main">
            <a:r>
              <a:t>진행 메모</a:t>
            </a:r>
          </a:p>
          <a:p xmlns:a="http://schemas.openxmlformats.org/drawingml/2006/main">
            <a:r>
              <a:t>복합조건 남은 9분. 심화 활동지 1쪽 시험표를 사용한다. 조건을 하나씩 바꾸는 시험과 동시에 바꾸는 시험을 구분한다. 정답은 표의 예상 출력과 같으나 연수생 활동지에는 출력 칸을 비워 둔다. 실제 결과가 다르면 어느 분기가 실행됐는지 찾아 설명한다.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학년에 따라 바꿀 과제</a:t>
            </a:r>
          </a:p>
          <a:p xmlns:a="http://schemas.openxmlformats.org/drawingml/2006/main">
            <a:r>
              <a:t/>
            </a:r>
          </a:p>
          <a:p xmlns:a="http://schemas.openxmlformats.org/drawingml/2006/main">
            <a:r>
              <a:t>진행 메모</a:t>
            </a:r>
          </a:p>
          <a:p xmlns:a="http://schemas.openxmlformats.org/drawingml/2006/main">
            <a:r>
              <a:t>10분. 같은 장애물 정지 과제를 학년별로 바꾸어 적는다. 초등은 정지 조건을 말하게 하고, 중학교는 거리값으로 속도를 계산하게 한다. 학생이 바꿀 값과 마친 뒤 물을 질문을 함께 정한다.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초등 3~4학년: 가까우면 정지</a:t>
            </a:r>
          </a:p>
          <a:p xmlns:a="http://schemas.openxmlformats.org/drawingml/2006/main">
            <a:r>
              <a:t/>
            </a:r>
          </a:p>
          <a:p xmlns:a="http://schemas.openxmlformats.org/drawingml/2006/main">
            <a:r>
              <a:t>진행 메모</a:t>
            </a:r>
          </a:p>
          <a:p xmlns:a="http://schemas.openxmlformats.org/drawingml/2006/main">
            <a:r>
              <a:t>학생에게 책을 가까이 또는 멀리 놓게 한다. 어느 거리에서 멈추는지 말하게 하고, 센서가 읽는 값과 조건을 연결한다.</a:t>
            </a:r>
          </a:p>
          <a:p xmlns:a="http://schemas.openxmlformats.org/drawingml/2006/main">
            <a:r>
              <a:t/>
            </a:r>
          </a:p>
          <a:p xmlns:a="http://schemas.openxmlformats.org/drawingml/2006/main">
            <a:r>
              <a:t>출처</a:t>
            </a:r>
          </a:p>
          <a:p xmlns:a="http://schemas.openxmlformats.org/drawingml/2006/main">
            <a:r>
              <a:t>https://spike.legoeducation.com/ · 00_원천자료/H_distance/H04_stop20cm.png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초등 5~6학년: 반복해서 판단</a:t>
            </a:r>
          </a:p>
          <a:p xmlns:a="http://schemas.openxmlformats.org/drawingml/2006/main">
            <a:r>
              <a:t/>
            </a:r>
          </a:p>
          <a:p xmlns:a="http://schemas.openxmlformats.org/drawingml/2006/main">
            <a:r>
              <a:t>진행 메모</a:t>
            </a:r>
          </a:p>
          <a:p xmlns:a="http://schemas.openxmlformats.org/drawingml/2006/main">
            <a:r>
              <a:t>장애물을 제거하면 다시 출발하는지 관찰한다. 경계값 20cm 자체는 미만 조건에 포함되지 않는다.</a:t>
            </a:r>
          </a:p>
          <a:p xmlns:a="http://schemas.openxmlformats.org/drawingml/2006/main">
            <a:r>
              <a:t/>
            </a:r>
          </a:p>
          <a:p xmlns:a="http://schemas.openxmlformats.org/drawingml/2006/main">
            <a:r>
              <a:t>출처</a:t>
            </a:r>
          </a:p>
          <a:p xmlns:a="http://schemas.openxmlformats.org/drawingml/2006/main">
            <a:r>
              <a:t>https://spike.legoeducation.com/ · 00_원천자료/K_control/K09_repeat_distance.png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반복 안에 조건 넣기</a:t>
            </a:r>
          </a:p>
          <a:p xmlns:a="http://schemas.openxmlformats.org/drawingml/2006/main">
            <a:r>
              <a:t/>
            </a:r>
          </a:p>
          <a:p xmlns:a="http://schemas.openxmlformats.org/drawingml/2006/main">
            <a:r>
              <a:t>진행 메모</a:t>
            </a:r>
          </a:p>
          <a:p xmlns:a="http://schemas.openxmlformats.org/drawingml/2006/main">
            <a:r>
              <a:t>한 번 정지하면 유지하는 동작과 장애물을 치우면 재출발하는 동작을 구별한다. 실행상태 변수를 어디에서 바꿀지 묻는다.</a:t>
            </a:r>
          </a:p>
          <a:p xmlns:a="http://schemas.openxmlformats.org/drawingml/2006/main">
            <a:r>
              <a:t/>
            </a:r>
          </a:p>
          <a:p xmlns:a="http://schemas.openxmlformats.org/drawingml/2006/main">
            <a:r>
              <a:t>출처</a:t>
            </a:r>
          </a:p>
          <a:p xmlns:a="http://schemas.openxmlformats.org/drawingml/2006/main">
            <a:r>
              <a:t>https://spike.legoeducation.com/ · 00_원천자료/K_control/K01_control_top.png</a:t>
            </a:r>
          </a:p>
          <a:p xmlns:a="http://schemas.openxmlformats.org/drawingml/2006/main">
            <a:r>
              <a:t>https://spike.legoeducation.com/ · 00_원천자료/K_control/K01_control_bottom.png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중학교: 거리로 속도 계산</a:t>
            </a:r>
          </a:p>
          <a:p xmlns:a="http://schemas.openxmlformats.org/drawingml/2006/main">
            <a:r>
              <a:t/>
            </a:r>
          </a:p>
          <a:p xmlns:a="http://schemas.openxmlformats.org/drawingml/2006/main">
            <a:r>
              <a:t>진행 메모</a:t>
            </a:r>
          </a:p>
          <a:p xmlns:a="http://schemas.openxmlformats.org/drawingml/2006/main">
            <a:r>
              <a:t>거리 단위는 mm이고 velocity는 모터 각속도다. 199mm에서는 0, 200mm에서는 최소속도 100이므로 경계에서 갑자기 출발한다. 이 차이를 고치는 과제를 낸다.</a:t>
            </a:r>
          </a:p>
          <a:p xmlns:a="http://schemas.openxmlformats.org/drawingml/2006/main">
            <a:r>
              <a:t/>
            </a:r>
          </a:p>
          <a:p xmlns:a="http://schemas.openxmlformats.org/drawingml/2006/main">
            <a:r>
              <a:t>출처</a:t>
            </a:r>
          </a:p>
          <a:p xmlns:a="http://schemas.openxmlformats.org/drawingml/2006/main">
            <a:r>
              <a:t>https://spike.legoeducation.com/ · 00_원천자료/L_python/L07_speed_readable.png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1차시 실습 확인</a:t>
            </a:r>
          </a:p>
          <a:p xmlns:a="http://schemas.openxmlformats.org/drawingml/2006/main">
            <a:r>
              <a:t/>
            </a:r>
          </a:p>
          <a:p xmlns:a="http://schemas.openxmlformats.org/drawingml/2006/main">
            <a:r>
              <a:t>진행 메모</a:t>
            </a:r>
          </a:p>
          <a:p xmlns:a="http://schemas.openxmlformats.org/drawingml/2006/main">
            <a:r>
              <a:t>5분. 두 모둠이 1분씩 발표하고, 개인 정리 2분, 다음 차시 예고 1분. 완성 코드보다 조건표, 실제 시험 결과, 학생에게 건넬 질문을 내게 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블록에서 Python으로</a:t>
            </a:r>
          </a:p>
          <a:p xmlns:a="http://schemas.openxmlformats.org/drawingml/2006/main">
            <a:r>
              <a:t>거리 조건 코딩</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블록과 Python 비교</a:t>
            </a:r>
          </a:p>
          <a:p xmlns:a="http://schemas.openxmlformats.org/drawingml/2006/main">
            <a:r>
              <a:t/>
            </a:r>
          </a:p>
          <a:p xmlns:a="http://schemas.openxmlformats.org/drawingml/2006/main">
            <a:r>
              <a:t>진행 메모</a:t>
            </a:r>
          </a:p>
          <a:p xmlns:a="http://schemas.openxmlformats.org/drawingml/2006/main">
            <a:r>
              <a:t>대응 8분. 문법을 그대로 외우기보다 같은 조건이 어디에 있는지 표시하게 한다. 들여쓰기는 블록의 안쪽 구조와 대응한다. await는 실행을 양보하거나 완료를 기다리는 비동기 호출에 사용한다. 모든 함수에 await를 붙이는 것이 아니다.</a:t>
            </a:r>
          </a:p>
          <a:p xmlns:a="http://schemas.openxmlformats.org/drawingml/2006/main">
            <a:r>
              <a:t/>
            </a:r>
          </a:p>
          <a:p xmlns:a="http://schemas.openxmlformats.org/drawingml/2006/main">
            <a:r>
              <a:t>출처</a:t>
            </a:r>
          </a:p>
          <a:p xmlns:a="http://schemas.openxmlformats.org/drawingml/2006/main">
            <a:r>
              <a:t>intro: https://assets.education.lego.com/v3/assets/blt293eea581807678a/blt834b554cdaa246f7/6584064fd082f7672425e7ea/File_1_Units12345_Intro_to_Python_Course_TG_Course.pdf?locale=en-us</a:t>
            </a:r>
          </a:p>
          <a:p xmlns:a="http://schemas.openxmlformats.org/drawingml/2006/main">
            <a:r>
              <a:t>cart: https://education.lego.com/en-us/lessons/spike-python-u3-sensor-control/spike-python-u3l3/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거리 조건의 블록과 Python</a:t>
            </a:r>
          </a:p>
          <a:p xmlns:a="http://schemas.openxmlformats.org/drawingml/2006/main">
            <a:r>
              <a:t/>
            </a:r>
          </a:p>
          <a:p xmlns:a="http://schemas.openxmlformats.org/drawingml/2006/main">
            <a:r>
              <a:t>진행 메모</a:t>
            </a:r>
          </a:p>
          <a:p xmlns:a="http://schemas.openxmlformats.org/drawingml/2006/main">
            <a:r>
              <a:t>블록과 Python 모두 반복하면서 거리 조건을 본다. Python에는 측정 실패값 -1일 때 멈추는 조건을 하나 더 넣었다. 블록의 속도 %와 Python의 velocity=200은 서로 환산한 값이 아니므로 숫자를 그대로 옮기지 않는다.</a:t>
            </a:r>
          </a:p>
          <a:p xmlns:a="http://schemas.openxmlformats.org/drawingml/2006/main">
            <a:r>
              <a:t/>
            </a:r>
          </a:p>
          <a:p xmlns:a="http://schemas.openxmlformats.org/drawingml/2006/main">
            <a:r>
              <a:t>출처</a:t>
            </a:r>
          </a:p>
          <a:p xmlns:a="http://schemas.openxmlformats.org/drawingml/2006/main">
            <a:r>
              <a:t>https://spike.legoeducation.com/ · 00_원천자료/K_control/K09_repeat_distance.png</a:t>
            </a:r>
          </a:p>
          <a:p xmlns:a="http://schemas.openxmlformats.org/drawingml/2006/main">
            <a:r>
              <a:t>https://spike.legoeducation.com/ · 00_원천자료/L_python/L08_distance_readable.png</a:t>
            </a:r>
          </a:p>
          <a:p xmlns:a="http://schemas.openxmlformats.org/drawingml/2006/main">
            <a:r>
              <a:t>app: https://spike.legoeducation.com/</a:t>
            </a:r>
          </a:p>
          <a:p xmlns:a="http://schemas.openxmlformats.org/drawingml/2006/main">
            <a:r>
              <a:t>python: https://spike.legoeducation.com/prime/help/lls-help-python</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Python 프로젝트와 도움말</a:t>
            </a:r>
          </a:p>
          <a:p xmlns:a="http://schemas.openxmlformats.org/drawingml/2006/main">
            <a:r>
              <a:t/>
            </a:r>
          </a:p>
          <a:p xmlns:a="http://schemas.openxmlformats.org/drawingml/2006/main">
            <a:r>
              <a:t>진행 메모</a:t>
            </a:r>
          </a:p>
          <a:p xmlns:a="http://schemas.openxmlformats.org/drawingml/2006/main">
            <a:r>
              <a:t>API·단위 확인 7분. 앱의 Python 도움말에서 distance_sensor와 motor_pair를 찾는다. 함수에 넣는 값과 단위를 함께 읽는다. SPIKE 3 코드와 from spike import PrimeHub를 사용하는 이전 예제를 구별한다.</a:t>
            </a:r>
          </a:p>
          <a:p xmlns:a="http://schemas.openxmlformats.org/drawingml/2006/main">
            <a:r>
              <a:t/>
            </a:r>
          </a:p>
          <a:p xmlns:a="http://schemas.openxmlformats.org/drawingml/2006/main">
            <a:r>
              <a:t>출처</a:t>
            </a:r>
          </a:p>
          <a:p xmlns:a="http://schemas.openxmlformats.org/drawingml/2006/main">
            <a:r>
              <a:t>intro: https://assets.education.lego.com/v3/assets/blt293eea581807678a/blt834b554cdaa246f7/6584064fd082f7672425e7ea/File_1_Units12345_Intro_to_Python_Course_TG_Course.pdf?locale=en-us</a:t>
            </a:r>
          </a:p>
          <a:p xmlns:a="http://schemas.openxmlformats.org/drawingml/2006/main">
            <a:r>
              <a:t>cart: https://education.lego.com/en-us/lessons/spike-python-u3-sensor-control/spike-python-u3l3/</a:t>
            </a:r>
          </a:p>
          <a:p xmlns:a="http://schemas.openxmlformats.org/drawingml/2006/main">
            <a:r>
              <a:t>python: https://spike.legoeducation.com/prime/help/lls-help-python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파이썬 프로젝트 만들기</a:t>
            </a:r>
          </a:p>
          <a:p xmlns:a="http://schemas.openxmlformats.org/drawingml/2006/main">
            <a:r>
              <a:t/>
            </a:r>
          </a:p>
          <a:p xmlns:a="http://schemas.openxmlformats.org/drawingml/2006/main">
            <a:r>
              <a:t>진행 메모</a:t>
            </a:r>
          </a:p>
          <a:p xmlns:a="http://schemas.openxmlformats.org/drawingml/2006/main">
            <a:r>
              <a:t>파이썬 선택 뒤 기본 코드를 지우기 전에 import와 main, runloop.run 위치를 같이 찾는다.</a:t>
            </a:r>
          </a:p>
          <a:p xmlns:a="http://schemas.openxmlformats.org/drawingml/2006/main">
            <a:r>
              <a:t/>
            </a:r>
          </a:p>
          <a:p xmlns:a="http://schemas.openxmlformats.org/drawingml/2006/main">
            <a:r>
              <a:t>출처</a:t>
            </a:r>
          </a:p>
          <a:p xmlns:a="http://schemas.openxmlformats.org/drawingml/2006/main">
            <a:r>
              <a:t>https://spike.legoeducation.com/ · 00_원천자료/L_python/L01_python_detail.png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cm와 mm, 측정 실패값</a:t>
            </a:r>
          </a:p>
          <a:p xmlns:a="http://schemas.openxmlformats.org/drawingml/2006/main">
            <a:r>
              <a:t/>
            </a:r>
          </a:p>
          <a:p xmlns:a="http://schemas.openxmlformats.org/drawingml/2006/main">
            <a:r>
              <a:t>진행 메모</a:t>
            </a:r>
          </a:p>
          <a:p xmlns:a="http://schemas.openxmlformats.org/drawingml/2006/main">
            <a:r>
              <a:t>cm와 mm를 연수생이 직접 바꿔 보게 한다. -1은 측정하지 못했다는 뜻이므로 가까운 장애물로 읽지 않는다. 이 교안의 예제는 -1일 때도 멈추게 했다. 블록의 속도 25%를 Python에서 velocity=25로 옮기지 않는다. velocity는 모터가 1초에 도는 각도이므로 도움말에서 단위를 확인한다.</a:t>
            </a:r>
          </a:p>
          <a:p xmlns:a="http://schemas.openxmlformats.org/drawingml/2006/main">
            <a:r>
              <a:t/>
            </a:r>
          </a:p>
          <a:p xmlns:a="http://schemas.openxmlformats.org/drawingml/2006/main">
            <a:r>
              <a:t>출처</a:t>
            </a:r>
          </a:p>
          <a:p xmlns:a="http://schemas.openxmlformats.org/drawingml/2006/main">
            <a:r>
              <a:t>cart: https://education.lego.com/en-us/lessons/spike-python-u3-sensor-control/spike-python-u3l3/</a:t>
            </a:r>
          </a:p>
          <a:p xmlns:a="http://schemas.openxmlformats.org/drawingml/2006/main">
            <a:r>
              <a:t>programs: https://assets.education.lego.com/v3/assets/blt293eea581807678a/blt02bcbffa2bf460b5/65df44a50f1d35dffdca4995/EN-US-SPIKE-Prime-Python-Programs_Feb-2024.pdf?locale=en-us</a:t>
            </a:r>
          </a:p>
          <a:p xmlns:a="http://schemas.openxmlformats.org/drawingml/2006/main">
            <a:r>
              <a:t>python: https://spike.legoeducation.com/prime/help/lls-help-python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거리 조건으로 멈추는 Python</a:t>
            </a:r>
          </a:p>
          <a:p xmlns:a="http://schemas.openxmlformats.org/drawingml/2006/main">
            <a:r>
              <a:t/>
            </a:r>
          </a:p>
          <a:p xmlns:a="http://schemas.openxmlformats.org/drawingml/2006/main">
            <a:r>
              <a:t>진행 메모</a:t>
            </a:r>
          </a:p>
          <a:p xmlns:a="http://schemas.openxmlformats.org/drawingml/2006/main">
            <a:r>
              <a:t>코딩 20분 중 8분. 공식 Cart Control을 참고해 모터 A/E, 거리센서 B로 작성한 코드다. 반복문 안에서 거리값을 새로 읽는 줄을 찾는다. -1과 200mm 미만은 정지, 나머지는 이동이다. 20ms마다 반복하며 장애물을 치우면 재출발한다. 먼저 바퀴를 들어 방향을 시험한다.</a:t>
            </a:r>
          </a:p>
          <a:p xmlns:a="http://schemas.openxmlformats.org/drawingml/2006/main">
            <a:r>
              <a:t/>
            </a:r>
          </a:p>
          <a:p xmlns:a="http://schemas.openxmlformats.org/drawingml/2006/main">
            <a:r>
              <a:t>출처</a:t>
            </a:r>
          </a:p>
          <a:p xmlns:a="http://schemas.openxmlformats.org/drawingml/2006/main">
            <a:r>
              <a:t>cart: https://education.lego.com/en-us/lessons/spike-python-u3-sensor-control/spike-python-u3l3/</a:t>
            </a:r>
          </a:p>
          <a:p xmlns:a="http://schemas.openxmlformats.org/drawingml/2006/main">
            <a:r>
              <a:t>programs: https://assets.education.lego.com/v3/assets/blt293eea581807678a/blt02bcbffa2bf460b5/65df44a50f1d35dffdca4995/EN-US-SPIKE-Prime-Python-Programs_Feb-2024.pdf?locale=en-us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거리 제어 코드 읽기</a:t>
            </a:r>
          </a:p>
          <a:p xmlns:a="http://schemas.openxmlformats.org/drawingml/2006/main">
            <a:r>
              <a:t/>
            </a:r>
          </a:p>
          <a:p xmlns:a="http://schemas.openxmlformats.org/drawingml/2006/main">
            <a:r>
              <a:t>진행 메모</a:t>
            </a:r>
          </a:p>
          <a:p xmlns:a="http://schemas.openxmlformats.org/drawingml/2006/main">
            <a:r>
              <a:t>거리를 읽는 줄이 while 안에 있다. 장애물을 치웠을 때 else 분기로 돌아가 재출발함을 코드에서 찾게 한다.</a:t>
            </a:r>
          </a:p>
          <a:p xmlns:a="http://schemas.openxmlformats.org/drawingml/2006/main">
            <a:r>
              <a:t/>
            </a:r>
          </a:p>
          <a:p xmlns:a="http://schemas.openxmlformats.org/drawingml/2006/main">
            <a:r>
              <a:t>출처</a:t>
            </a:r>
          </a:p>
          <a:p xmlns:a="http://schemas.openxmlformats.org/drawingml/2006/main">
            <a:r>
              <a:t>https://spike.legoeducation.com/ · 00_원천자료/L_python/L08_distance_readable.png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정지 판단을 함수로 만들기</a:t>
            </a:r>
          </a:p>
          <a:p xmlns:a="http://schemas.openxmlformats.org/drawingml/2006/main">
            <a:r>
              <a:t/>
            </a:r>
          </a:p>
          <a:p xmlns:a="http://schemas.openxmlformats.org/drawingml/2006/main">
            <a:r>
              <a:t>진행 메모</a:t>
            </a:r>
          </a:p>
          <a:p xmlns:a="http://schemas.openxmlformats.org/drawingml/2006/main">
            <a:r>
              <a:t>코딩 20분 중 다음 5분. 이 조각은 앞 슬라이드 전체 코드의 if 조건 부분을 바꾸는 것이며, 조각만 따로 실행하지 않는다. should_stop 함수는 main보다 위에 둔다. 예상 답은 True, True, False, False다. 판단을 함수로 떼어 내면 Hub 없이도 경계값을 넣어 결과를 확인할 수 있다.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거리에 따른 속도 함수</a:t>
            </a:r>
          </a:p>
          <a:p xmlns:a="http://schemas.openxmlformats.org/drawingml/2006/main">
            <a:r>
              <a:t/>
            </a:r>
          </a:p>
          <a:p xmlns:a="http://schemas.openxmlformats.org/drawingml/2006/main">
            <a:r>
              <a:t>진행 메모</a:t>
            </a:r>
          </a:p>
          <a:p xmlns:a="http://schemas.openxmlformats.org/drawingml/2006/main">
            <a:r>
              <a:t>코딩 마지막 7분. 입력값 -1, 150, 250, 500의 속도는 0, 0, 100, 400이다. 199mm에서 0이던 속도가 200mm에서 100이 되는 이유를 묻는다. 최소속도를 바꾸었을 때의 결과를 계산한 뒤 실물에서 낮은 속도로 시험한다.</a:t>
            </a:r>
          </a:p>
          <a:p xmlns:a="http://schemas.openxmlformats.org/drawingml/2006/main">
            <a:r>
              <a:t/>
            </a:r>
          </a:p>
          <a:p xmlns:a="http://schemas.openxmlformats.org/drawingml/2006/main">
            <a:r>
              <a:t>출처</a:t>
            </a:r>
          </a:p>
          <a:p xmlns:a="http://schemas.openxmlformats.org/drawingml/2006/main">
            <a:r>
              <a:t>cart: https://education.lego.com/en-us/lessons/spike-python-u3-sensor-control/spike-python-u3l3/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속도 계산 함수와 반복문</a:t>
            </a:r>
          </a:p>
          <a:p xmlns:a="http://schemas.openxmlformats.org/drawingml/2006/main">
            <a:r>
              <a:t/>
            </a:r>
          </a:p>
          <a:p xmlns:a="http://schemas.openxmlformats.org/drawingml/2006/main">
            <a:r>
              <a:t>진행 메모</a:t>
            </a:r>
          </a:p>
          <a:p xmlns:a="http://schemas.openxmlformats.org/drawingml/2006/main">
            <a:r>
              <a:t>199mm와 200mm의 계산 결과는 0과 100이다. 최소속도 제한을 없애거나 다시 출발할 기준을 따로 두는 방법을 비교한다.</a:t>
            </a:r>
          </a:p>
          <a:p xmlns:a="http://schemas.openxmlformats.org/drawingml/2006/main">
            <a:r>
              <a:t/>
            </a:r>
          </a:p>
          <a:p xmlns:a="http://schemas.openxmlformats.org/drawingml/2006/main">
            <a:r>
              <a:t>출처</a:t>
            </a:r>
          </a:p>
          <a:p xmlns:a="http://schemas.openxmlformats.org/drawingml/2006/main">
            <a:r>
              <a:t>https://spike.legoeducation.com/ · 00_원천자료/L_python/L07_speed_function.png</a:t>
            </a:r>
          </a:p>
          <a:p xmlns:a="http://schemas.openxmlformats.org/drawingml/2006/main">
            <a:r>
              <a:t>app: https://spike.legoeducation.com/</a:t>
            </a:r>
          </a:p>
          <a:p xmlns:a="http://schemas.openxmlformats.org/drawingml/2006/main">
            <a:r>
              <a:t>python: https://spike.legoeducation.com/prime/help/lls-help-python</a:t>
            </a:r>
          </a:p>
          <a:p xmlns:a="http://schemas.openxmlformats.org/drawingml/2006/main">
            <a:r>
              <a:t>cart: https://education.lego.com/en-us/lessons/spike-python-u3-sensor-control/spike-python-u3l3/</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오류 메시지로 원인 찾기</a:t>
            </a:r>
          </a:p>
          <a:p xmlns:a="http://schemas.openxmlformats.org/drawingml/2006/main">
            <a:r>
              <a:t/>
            </a:r>
          </a:p>
          <a:p xmlns:a="http://schemas.openxmlformats.org/drawingml/2006/main">
            <a:r>
              <a:t>진행 메모</a:t>
            </a:r>
          </a:p>
          <a:p xmlns:a="http://schemas.openxmlformats.org/drawingml/2006/main">
            <a:r>
              <a:t>Traceback의 마지막 오류 메시지와 코드 줄을 함께 읽는다. import 누락, 잘못된 포트, 들여쓰기를 차례로 살펴보고 한 가지만 고친다. 공식 Cart Control의 오류 예제를 참고한다.</a:t>
            </a:r>
          </a:p>
          <a:p xmlns:a="http://schemas.openxmlformats.org/drawingml/2006/main">
            <a:r>
              <a:t/>
            </a:r>
          </a:p>
          <a:p xmlns:a="http://schemas.openxmlformats.org/drawingml/2006/main">
            <a:r>
              <a:t>출처</a:t>
            </a:r>
          </a:p>
          <a:p xmlns:a="http://schemas.openxmlformats.org/drawingml/2006/main">
            <a:r>
              <a:t>cart: https://education.lego.com/en-us/lessons/spike-python-u3-sensor-control/spike-python-u3l3/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AI에 오류를 설명할 때</a:t>
            </a:r>
          </a:p>
          <a:p xmlns:a="http://schemas.openxmlformats.org/drawingml/2006/main">
            <a:r>
              <a:t/>
            </a:r>
          </a:p>
          <a:p xmlns:a="http://schemas.openxmlformats.org/drawingml/2006/main">
            <a:r>
              <a:t>진행 메모</a:t>
            </a:r>
          </a:p>
          <a:p xmlns:a="http://schemas.openxmlformats.org/drawingml/2006/main">
            <a:r>
              <a:t>AI 디버깅 10분. 연수생은 실제 학생 개인정보 없이 짧은 코드와 오류만 사용한다. 잘못된 구형 API를 섞은 제안을 판별하는 활동으로 운영한다. 강사는 정답 코드를 복사하게 하기보다 설명 가능한 수정인지 확인한다.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2차시 실습 확인</a:t>
            </a:r>
          </a:p>
          <a:p xmlns:a="http://schemas.openxmlformats.org/drawingml/2006/main">
            <a:r>
              <a:t/>
            </a:r>
          </a:p>
          <a:p xmlns:a="http://schemas.openxmlformats.org/drawingml/2006/main">
            <a:r>
              <a:t>진행 메모</a:t>
            </a:r>
          </a:p>
          <a:p xmlns:a="http://schemas.openxmlformats.org/drawingml/2006/main">
            <a:r>
              <a:t>5분. 답: 200mm, 입력값과 정지 판단을 독립 시험, 현재 앱 버전과 공식 API의 모듈 체계를 확인한다. 정답만 말하는 연수생에게 실제 경계값 예시를 덧붙이게 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라인 주행과</a:t>
            </a:r>
          </a:p>
          <a:p xmlns:a="http://schemas.openxmlformats.org/drawingml/2006/main">
            <a:r>
              <a:t>회전 오차 줄이기</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반사광 평균 계산 예시</a:t>
            </a:r>
          </a:p>
          <a:p xmlns:a="http://schemas.openxmlformats.org/drawingml/2006/main">
            <a:r>
              <a:t/>
            </a:r>
          </a:p>
          <a:p xmlns:a="http://schemas.openxmlformats.org/drawingml/2006/main">
            <a:r>
              <a:t>진행 메모</a:t>
            </a:r>
          </a:p>
          <a:p xmlns:a="http://schemas.openxmlformats.org/drawingml/2006/main">
            <a:r>
              <a:t>반사광 8분. 숫자는 계산 설명용 예시이며 실제 관측 데이터가 아니다. 심화 활동지에 직접 측정값을 기록한다. 센서 높이·주변 조명을 유지하고 검정·흰색을 각 5회 읽는다. 기준값 50을 모든 환경에 적용하지 않는다. 평균 사이 중간값을 초기 기준으로 정하고 시험 후 수정한다.</a:t>
            </a:r>
          </a:p>
          <a:p xmlns:a="http://schemas.openxmlformats.org/drawingml/2006/main">
            <a:r>
              <a:t/>
            </a:r>
          </a:p>
          <a:p xmlns:a="http://schemas.openxmlformats.org/drawingml/2006/main">
            <a:r>
              <a:t>출처</a:t>
            </a:r>
          </a:p>
          <a:p xmlns:a="http://schemas.openxmlformats.org/drawingml/2006/main">
            <a:r>
              <a:t>line: https://education.lego.com/en-us/lessons/prime-competition-ready/training-camp-3-react-to-lines/</a:t>
            </a:r>
          </a:p>
          <a:p xmlns:a="http://schemas.openxmlformats.org/drawingml/2006/main">
            <a:r>
              <a:t>spec: https://education.lego.com/en-us/product-resources/spike-prime/downloads/technical-specifications/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선의 한쪽 경계 따라가기</a:t>
            </a:r>
          </a:p>
          <a:p xmlns:a="http://schemas.openxmlformats.org/drawingml/2006/main">
            <a:r>
              <a:t/>
            </a:r>
          </a:p>
          <a:p xmlns:a="http://schemas.openxmlformats.org/drawingml/2006/main">
            <a:r>
              <a:t>진행 메모</a:t>
            </a:r>
          </a:p>
          <a:p xmlns:a="http://schemas.openxmlformats.org/drawingml/2006/main">
            <a:r>
              <a:t>P 제어 15분 중 4분. “검정이면 무조건 왼쪽”은 센서 장착 위치와 추적할 선 경계에 따라 달라진다. 한쪽 경계와 전진 방향을 먼저 정한 뒤 작은 조향으로 검증한다. 미션맵 없이 흰 종이와 검정 테이프만 사용한다.</a:t>
            </a:r>
          </a:p>
          <a:p xmlns:a="http://schemas.openxmlformats.org/drawingml/2006/main">
            <a:r>
              <a:t/>
            </a:r>
          </a:p>
          <a:p xmlns:a="http://schemas.openxmlformats.org/drawingml/2006/main">
            <a:r>
              <a:t>출처</a:t>
            </a:r>
          </a:p>
          <a:p xmlns:a="http://schemas.openxmlformats.org/drawingml/2006/main">
            <a:r>
              <a:t>https://spike.legoeducation.com/ · 00_원천자료/O_advanced/O03_basic_line.png</a:t>
            </a:r>
          </a:p>
          <a:p xmlns:a="http://schemas.openxmlformats.org/drawingml/2006/main">
            <a:r>
              <a:t>line: https://education.lego.com/en-us/lessons/prime-competition-ready/training-camp-3-react-to-lines/</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오차에 비례해 조향하는 P 제어</a:t>
            </a:r>
          </a:p>
          <a:p xmlns:a="http://schemas.openxmlformats.org/drawingml/2006/main">
            <a:r>
              <a:t/>
            </a:r>
          </a:p>
          <a:p xmlns:a="http://schemas.openxmlformats.org/drawingml/2006/main">
            <a:r>
              <a:t>진행 메모</a:t>
            </a:r>
          </a:p>
          <a:p xmlns:a="http://schemas.openxmlformats.org/drawingml/2006/main">
            <a:r>
              <a:t>P 제어 다음 5분. 이 계산식은 블록으로 직접 만드는 비례 제어이며, SPIKE에 따로 있는 기능이 아니다. 조향 부호는 선의 한쪽 경계를 실제로 따라가 보며 정한다. K를 키우면 선에서 벗어날 때 더 세게 돌아오지만 좌우로 심하게 흔들릴 수 있다. 속도와 K를 한꺼번에 바꾸지 않게 한다. 화면은 기준값 50과 K=1.5인 연습 예제다. 이때 계산 범위는 -75~75이며 제한이 작동하지 않는다. K=3, r=10인 경우를 추가로 계산해 제한이 필요한 상황을 비교한다.</a:t>
            </a:r>
          </a:p>
          <a:p xmlns:a="http://schemas.openxmlformats.org/drawingml/2006/main">
            <a:r>
              <a:t/>
            </a:r>
          </a:p>
          <a:p xmlns:a="http://schemas.openxmlformats.org/drawingml/2006/main">
            <a:r>
              <a:t>출처</a:t>
            </a:r>
          </a:p>
          <a:p xmlns:a="http://schemas.openxmlformats.org/drawingml/2006/main">
            <a:r>
              <a:t>https://spike.legoeducation.com/ · 00_원천자료/O_advanced/O06_p_control.png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Python으로 반사광 제어</a:t>
            </a:r>
          </a:p>
          <a:p xmlns:a="http://schemas.openxmlformats.org/drawingml/2006/main">
            <a:r>
              <a:t/>
            </a:r>
          </a:p>
          <a:p xmlns:a="http://schemas.openxmlformats.org/drawingml/2006/main">
            <a:r>
              <a:t>진행 메모</a:t>
            </a:r>
          </a:p>
          <a:p xmlns:a="http://schemas.openxmlformats.org/drawingml/2006/main">
            <a:r>
              <a:t>P 제어 다음 3분. 앞 거리 제어 코드의 반복문 안을 이 부분으로 바꾼다. import에 color_sensor를 추가한다. 46.5는 앞 계산 예시의 기준값이므로 직접 측정한 값으로 바꾼다. 바퀴를 들어 조향 방향을 확인한 뒤 선의 한쪽 경계에서 시험한다.</a:t>
            </a:r>
          </a:p>
          <a:p xmlns:a="http://schemas.openxmlformats.org/drawingml/2006/main">
            <a:r>
              <a:t/>
            </a:r>
          </a:p>
          <a:p xmlns:a="http://schemas.openxmlformats.org/drawingml/2006/main">
            <a:r>
              <a:t>출처</a:t>
            </a:r>
          </a:p>
          <a:p xmlns:a="http://schemas.openxmlformats.org/drawingml/2006/main">
            <a:r>
              <a:t>programs: https://assets.education.lego.com/v3/assets/blt293eea581807678a/blt02bcbffa2bf460b5/65df44a50f1d35dffdca4995/EN-US-SPIKE-Prime-Python-Programs_Feb-2024.pdf?locale=en-us</a:t>
            </a:r>
          </a:p>
          <a:p xmlns:a="http://schemas.openxmlformats.org/drawingml/2006/main">
            <a:r>
              <a:t>python: https://spike.legoeducation.com/prime/help/lls-help-python</a:t>
            </a:r>
          </a:p>
          <a:p xmlns:a="http://schemas.openxmlformats.org/drawingml/2006/main">
            <a:r>
              <a:t>line: https://education.lego.com/en-us/lessons/prime-competition-ready/training-camp-3-react-to-lines/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설정 하나씩 바꾸며 비교</a:t>
            </a:r>
          </a:p>
          <a:p xmlns:a="http://schemas.openxmlformats.org/drawingml/2006/main">
            <a:r>
              <a:t/>
            </a:r>
          </a:p>
          <a:p xmlns:a="http://schemas.openxmlformats.org/drawingml/2006/main">
            <a:r>
              <a:t>진행 메모</a:t>
            </a:r>
          </a:p>
          <a:p xmlns:a="http://schemas.openxmlformats.org/drawingml/2006/main">
            <a:r>
              <a:t>P 제어 남은 3분. 표의 값은 실험 시작 예시이며 권장 최적값이 아니다. 시험 결과를 활동지에 기록하고 개선 이유를 말한다. 선의 급격한 곡선에서 이탈하면 K만 키우지 말고 속도·센서 위치·선 폭도 원인 후보로 둔다. 한 번에 하나씩 바꾼다.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회전각 오차로 방향 보정</a:t>
            </a:r>
          </a:p>
          <a:p xmlns:a="http://schemas.openxmlformats.org/drawingml/2006/main">
            <a:r>
              <a:t/>
            </a:r>
          </a:p>
          <a:p xmlns:a="http://schemas.openxmlformats.org/drawingml/2006/main">
            <a:r>
              <a:t>진행 메모</a:t>
            </a:r>
          </a:p>
          <a:p xmlns:a="http://schemas.openxmlformats.org/drawingml/2006/main">
            <a:r>
              <a:t>이 블록은 속도를 15%로 유지하고 오차 부호에 따라 회전 방향을 바꾼다. 오차 3° 미만 또는 5초 초과에서 정지한다. 목표에 가까워질수록 속도를 줄이는 방식은 후속 확장 과제다. 바퀴를 들어 회전 부호를 먼저 시험한다.</a:t>
            </a:r>
          </a:p>
          <a:p xmlns:a="http://schemas.openxmlformats.org/drawingml/2006/main">
            <a:r>
              <a:t/>
            </a:r>
          </a:p>
          <a:p xmlns:a="http://schemas.openxmlformats.org/drawingml/2006/main">
            <a:r>
              <a:t>출처</a:t>
            </a:r>
          </a:p>
          <a:p xmlns:a="http://schemas.openxmlformats.org/drawingml/2006/main">
            <a:r>
              <a:t>https://spike.legoeducation.com/ · 00_원천자료/J_gyro/J06_condition_detail.png</a:t>
            </a:r>
          </a:p>
          <a:p xmlns:a="http://schemas.openxmlformats.org/drawingml/2006/main">
            <a:r>
              <a:t>tilt: https://education.lego.com/en-us/lessons/spike-python-u5-playing-games-with-simple-conditions/spike-python-u5l1-controlling-motion-with-tilt/</a:t>
            </a:r>
          </a:p>
          <a:p xmlns:a="http://schemas.openxmlformats.org/drawingml/2006/main">
            <a:r>
              <a:t>python: https://spike.legoeducation.com/prime/help/lls-help-python</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장애물이 있으면 라인 주행 정지</a:t>
            </a:r>
          </a:p>
          <a:p xmlns:a="http://schemas.openxmlformats.org/drawingml/2006/main">
            <a:r>
              <a:t/>
            </a:r>
          </a:p>
          <a:p xmlns:a="http://schemas.openxmlformats.org/drawingml/2006/main">
            <a:r>
              <a:t>진행 메모</a:t>
            </a:r>
          </a:p>
          <a:p xmlns:a="http://schemas.openxmlformats.org/drawingml/2006/main">
            <a:r>
              <a:t>거리 조건이 참이면 조향을 계산하지 않고 정지한다. 장애물을 치우면 라인 주행을 다시 시작한다. 자동 재출발을 막고 싶다면 별도 정지 상태를 둔다.</a:t>
            </a:r>
          </a:p>
          <a:p xmlns:a="http://schemas.openxmlformats.org/drawingml/2006/main">
            <a:r>
              <a:t/>
            </a:r>
          </a:p>
          <a:p xmlns:a="http://schemas.openxmlformats.org/drawingml/2006/main">
            <a:r>
              <a:t>출처</a:t>
            </a:r>
          </a:p>
          <a:p xmlns:a="http://schemas.openxmlformats.org/drawingml/2006/main">
            <a:r>
              <a:t>https://spike.legoeducation.com/ · 00_원천자료/O_advanced/O08_stop_condition.png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연결·업데이트 문제</a:t>
            </a:r>
          </a:p>
          <a:p xmlns:a="http://schemas.openxmlformats.org/drawingml/2006/main">
            <a:r>
              <a:t/>
            </a:r>
          </a:p>
          <a:p xmlns:a="http://schemas.openxmlformats.org/drawingml/2006/main">
            <a:r>
              <a:t>진행 메모</a:t>
            </a:r>
          </a:p>
          <a:p xmlns:a="http://schemas.openxmlformats.org/drawingml/2006/main">
            <a:r>
              <a:t>연결·오류 지도 12분 중 4분. 업데이트는 수업 전에 점검한다. 진행 중에는 전원이나 케이블을 끊지 않는다. 중단되면 공식 FAQ의 복구 안내를 확인한다.</a:t>
            </a:r>
          </a:p>
          <a:p xmlns:a="http://schemas.openxmlformats.org/drawingml/2006/main">
            <a:r>
              <a:t/>
            </a:r>
          </a:p>
          <a:p xmlns:a="http://schemas.openxmlformats.org/drawingml/2006/main">
            <a:r>
              <a:t>출처</a:t>
            </a:r>
          </a:p>
          <a:p xmlns:a="http://schemas.openxmlformats.org/drawingml/2006/main">
            <a:r>
              <a:t>faq: https://education.lego.com/en-us/product-resources/spike-prime/troubleshooting/spike-prime-faqs/</a:t>
            </a:r>
          </a:p>
          <a:p xmlns:a="http://schemas.openxmlformats.org/drawingml/2006/main">
            <a:r>
              <a:t>connect: https://education.lego.com/en-us/product-resources/spike-prime/troubleshooting/bluetooth-connectivity/</a:t>
            </a:r>
          </a:p>
          <a:p xmlns:a="http://schemas.openxmlformats.org/drawingml/2006/main">
            <a:r>
              <a:t>updates: https://education.lego.com/en-us/downloads/spike-app/software/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센서와 모터를 따로 시험</a:t>
            </a:r>
          </a:p>
          <a:p xmlns:a="http://schemas.openxmlformats.org/drawingml/2006/main">
            <a:r>
              <a:t/>
            </a:r>
          </a:p>
          <a:p xmlns:a="http://schemas.openxmlformats.org/drawingml/2006/main">
            <a:r>
              <a:t>진행 메모</a:t>
            </a:r>
          </a:p>
          <a:p xmlns:a="http://schemas.openxmlformats.org/drawingml/2006/main">
            <a:r>
              <a:t>다음 3분. 정상 부품·케이블로 교체해 볼 때도 한 요소만 교체하여 원인을 식별한다. 연결→값→코드→조립→하나씩 시험의 순서를 체크리스트에 남긴다. 문제가 특정 Hub만 따라가는지 특정 프로젝트만 따라가는지도 비교한다.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학생과 함께 오류 찾기</a:t>
            </a:r>
          </a:p>
          <a:p xmlns:a="http://schemas.openxmlformats.org/drawingml/2006/main">
            <a:r>
              <a:t/>
            </a:r>
          </a:p>
          <a:p xmlns:a="http://schemas.openxmlformats.org/drawingml/2006/main">
            <a:r>
              <a:t>진행 메모</a:t>
            </a:r>
          </a:p>
          <a:p xmlns:a="http://schemas.openxmlformats.org/drawingml/2006/main">
            <a:r>
              <a:t>남은 5분 역할극. 한 사람은 “로봇이 선에서 벗어나요”라고 말하고 다른 사람은 튜터가 된다. 튜터가 직접 완성 코드를 입력하면 중지하고 질문으로 되돌아간다. 확인한 값, 원인 가설, 한 가지 수정, 재시험 결과를 기록한다.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3차시 실습 확인과 학교 수업 준비</a:t>
            </a:r>
          </a:p>
          <a:p xmlns:a="http://schemas.openxmlformats.org/drawingml/2006/main">
            <a:r>
              <a:t/>
            </a:r>
          </a:p>
          <a:p xmlns:a="http://schemas.openxmlformats.org/drawingml/2006/main">
            <a:r>
              <a:t>진행 메모</a:t>
            </a:r>
          </a:p>
          <a:p xmlns:a="http://schemas.openxmlformats.org/drawingml/2006/main">
            <a:r>
              <a:t>평가 5분. 답은 기준값 46.5, 오차 13.5, 조향 20.25다. 정수로 바꾸는 Python 코드에서는 조향이 20이다. 장애물이 가까우면 정지 명령부터 처리한다. 학교에서 쓸 과제와 학생에게 처음 건넬 질문을 한 가지씩 적는다.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전·현직 과정 · LEGO SPIKE Prime</a:t>
            </a:r>
          </a:p>
          <a:p xmlns:a="http://schemas.openxmlformats.org/drawingml/2006/main">
            <a:r>
              <a:t>수업 준비에 참고할 자료</a:t>
            </a:r>
          </a:p>
          <a:p xmlns:a="http://schemas.openxmlformats.org/drawingml/2006/main">
            <a:r>
              <a:t/>
            </a:r>
          </a:p>
          <a:p xmlns:a="http://schemas.openxmlformats.org/drawingml/2006/main">
            <a:r>
              <a:t>진행 메모</a:t>
            </a:r>
          </a:p>
          <a:p xmlns:a="http://schemas.openxmlformats.org/drawingml/2006/main">
            <a:r>
              <a:t>수업 전에 사용할 앱에서 도움말과 예제 코드를 확인하고 실물 Hub로 시험한다. 공식 링크는 발표자 노트와 공통 매뉴얼 25~26쪽에 있다.</a:t>
            </a:r>
          </a:p>
          <a:p xmlns:a="http://schemas.openxmlformats.org/drawingml/2006/main">
            <a:r>
              <a:t/>
            </a:r>
          </a:p>
          <a:p xmlns:a="http://schemas.openxmlformats.org/drawingml/2006/main">
            <a:r>
              <a:t>출처</a:t>
            </a:r>
          </a:p>
          <a:p xmlns:a="http://schemas.openxmlformats.org/drawingml/2006/main">
            <a:r>
              <a:t>app: https://spike.legoeducation.com/</a:t>
            </a:r>
          </a:p>
          <a:p xmlns:a="http://schemas.openxmlformats.org/drawingml/2006/main">
            <a:r>
              <a:t>build: https://education.lego.com/en-us/product-resources/spike-prime/downloads/building-instructions/</a:t>
            </a:r>
          </a:p>
          <a:p xmlns:a="http://schemas.openxmlformats.org/drawingml/2006/main">
            <a:r>
              <a:t>connect: https://education.lego.com/en-us/product-resources/spike-prime/troubleshooting/bluetooth-connectivity/</a:t>
            </a:r>
          </a:p>
          <a:p xmlns:a="http://schemas.openxmlformats.org/drawingml/2006/main">
            <a:r>
              <a:t>spec: https://education.lego.com/en-us/product-resources/spike-prime/downloads/technical-specifications/</a:t>
            </a:r>
          </a:p>
          <a:p xmlns:a="http://schemas.openxmlformats.org/drawingml/2006/main">
            <a:r>
              <a:t>requirements: https://education.lego.com/en-us/product-resources/spike-prime/downloads/system-requirements/</a:t>
            </a:r>
          </a:p>
          <a:p xmlns:a="http://schemas.openxmlformats.org/drawingml/2006/main">
            <a:r>
              <a:t>faq: https://education.lego.com/en-us/product-resources/spike-prime/troubleshooting/spike-prime-faqs/</a:t>
            </a:r>
          </a:p>
          <a:p xmlns:a="http://schemas.openxmlformats.org/drawingml/2006/main">
            <a:r>
              <a:t>python: https://spike.legoeducation.com/prime/help/lls-help-python</a:t>
            </a:r>
          </a:p>
          <a:p xmlns:a="http://schemas.openxmlformats.org/drawingml/2006/main">
            <a:r>
              <a:t>cart: https://education.lego.com/en-us/lessons/spike-python-u3-sensor-control/spike-python-u3l3/</a:t>
            </a:r>
          </a:p>
          <a:p xmlns:a="http://schemas.openxmlformats.org/drawingml/2006/main">
            <a:r>
              <a:t>line: https://education.lego.com/en-us/lessons/prime-competition-ready/training-camp-3-react-to-lines/</a:t>
            </a:r>
          </a:p>
          <a:p xmlns:a="http://schemas.openxmlformats.org/drawingml/2006/main">
            <a:r>
              <a:t>programs: https://assets.education.lego.com/v3/assets/blt293eea581807678a/blt02bcbffa2bf460b5/65df44a50f1d35dffdca4995/EN-US-SPIKE-Prime-Python-Programs_Feb-2024.pdf?locale=en-us</a:t>
            </a:r>
          </a:p>
          <a:p xmlns:a="http://schemas.openxmlformats.org/drawingml/2006/main">
            <a:r>
              <a:t>intro: https://assets.education.lego.com/v3/assets/blt293eea581807678a/blt834b554cdaa246f7/6584064fd082f7672425e7ea/File_1_Units12345_Intro_to_Python_Course_TG_Course.pdf?locale=en-us</a:t>
            </a:r>
          </a:p>
          <a:p xmlns:a="http://schemas.openxmlformats.org/drawingml/2006/main">
            <a:r>
              <a:t>tilt: https://education.lego.com/en-us/lessons/spike-python-u5-playing-games-with-simple-conditions/spike-python-u5l1-controlling-motion-with-tilt/</a:t>
            </a:r>
          </a:p>
          <a:p xmlns:a="http://schemas.openxmlformats.org/drawingml/2006/main">
            <a:r>
              <a:t>compat: https://assets.education.lego.com/v3/assets/blt293eea581807678a/bltbf8a6cefbd8c815c/63d82292771d7f10c63c274e/LEGO_Education_SPIKE_App_3_Device_Compatibility_and_Connectivity.pdf</a:t>
            </a:r>
          </a:p>
          <a:p xmlns:a="http://schemas.openxmlformats.org/drawingml/2006/main">
            <a:r>
              <a:t>driving: https://education.lego.com/en-us/lessons/prime-competition-ready/training-camp-1-driving-around/</a:t>
            </a:r>
          </a:p>
          <a:p xmlns:a="http://schemas.openxmlformats.org/drawingml/2006/main">
            <a:r>
              <a:t>updates: https://education.lego.com/en-us/downloads/spike-app/software/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149610c6f342aa" /><Relationship Type="http://schemas.openxmlformats.org/officeDocument/2006/relationships/image" Target="/ppt/media/image.jpeg" Id="Rbb5780bf963441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85ca0d71a841c6" /><Relationship Type="http://schemas.openxmlformats.org/officeDocument/2006/relationships/image" Target="/ppt/media/image2.jpeg" Id="Rc985c3b458f146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a14552b4f64a7b" /><Relationship Type="http://schemas.openxmlformats.org/officeDocument/2006/relationships/image" Target="/ppt/media/image3.jpeg" Id="R62c4c9f6baae4fd4"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8" name="그림 7">
            <a:extLst xmlns:a="http://schemas.openxmlformats.org/drawingml/2006/main">
              <a:ext uri="{FF2B5EF4-FFF2-40B4-BE49-F238E27FC236}">
                <a16:creationId xmlns:a16="http://schemas.microsoft.com/office/drawing/2014/main" id="{1848B196-E23D-43DA-8E47-2A54463D8F3C}"/>
              </a:ext>
            </a:extLst>
          </p:cNvPr>
          <p:cNvPicPr>
            <a:picLocks xmlns:a="http://schemas.openxmlformats.org/drawingml/2006/main" noChangeAspect="1"/>
          </p:cNvPicPr>
          <p:nvPr/>
        </p:nvPicPr>
        <p:blipFill>
          <a:blip xmlns:r="http://schemas.openxmlformats.org/officeDocument/2006/relationships" xmlns:a="http://schemas.openxmlformats.org/drawingml/2006/main" r:embed="Rbb5780bf96344197"/>
          <a:stretch xmlns:a="http://schemas.openxmlformats.org/drawingml/2006/main">
            <a:fillRect l="0" t="0" r="0" b="0"/>
          </a:stretch>
        </p:blipFill>
        <p:spPr>
          <a:xfrm xmlns:a="http://schemas.openxmlformats.org/drawingml/2006/main">
            <a:off x="0" y="519"/>
            <a:ext cx="10691813" cy="7558636"/>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교수학습자료">
    <p:spTree>
      <p:nvGrpSpPr>
        <p:cNvPr id="1" name=""/>
        <p:cNvGrpSpPr/>
        <p:nvPr/>
      </p:nvGrpSpPr>
      <p:grpSpPr>
        <a:xfrm xmlns:a="http://schemas.openxmlformats.org/drawingml/2006/main"/>
      </p:grpSpPr>
      <p:pic>
        <p:nvPicPr>
          <p:cNvPr id="6" name="그림 5">
            <a:extLst xmlns:a="http://schemas.openxmlformats.org/drawingml/2006/main">
              <a:ext uri="{FF2B5EF4-FFF2-40B4-BE49-F238E27FC236}">
                <a16:creationId xmlns:a16="http://schemas.microsoft.com/office/drawing/2014/main" id="{B36961D7-4DD4-4B56-941E-9AB0D4C55298}"/>
              </a:ext>
            </a:extLst>
          </p:cNvPr>
          <p:cNvPicPr>
            <a:picLocks xmlns:a="http://schemas.openxmlformats.org/drawingml/2006/main" noChangeAspect="1"/>
          </p:cNvPicPr>
          <p:nvPr/>
        </p:nvPicPr>
        <p:blipFill>
          <a:blip xmlns:r="http://schemas.openxmlformats.org/officeDocument/2006/relationships" xmlns:a="http://schemas.openxmlformats.org/drawingml/2006/main" r:embed="Rc985c3b458f1460c"/>
          <a:stretch xmlns:a="http://schemas.openxmlformats.org/drawingml/2006/main">
            <a:fillRect l="0" t="0" r="0" b="0"/>
          </a:stretch>
        </p:blipFill>
        <p:spPr>
          <a:xfrm xmlns:a="http://schemas.openxmlformats.org/drawingml/2006/main">
            <a:off x="0" y="519"/>
            <a:ext cx="10691813" cy="7558636"/>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7364E0BB-B214-427F-85FF-C68772B913B8}"/>
              </a:ext>
            </a:extLst>
          </p:cNvPr>
          <p:cNvSpPr>
            <a:spLocks xmlns:a="http://schemas.openxmlformats.org/drawingml/2006/main" noGrp="1"/>
          </p:cNvSpPr>
          <p:nvPr/>
        </p:nvSpPr>
        <p:spPr>
          <a:xfrm xmlns:a="http://schemas.openxmlformats.org/drawingml/2006/main">
            <a:off x="654799" y="676910"/>
            <a:ext cx="2810065" cy="18466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r>
              <a:rPr sz="1200">
                <a:ln>
                  <a:solidFill>
                    <a:schemeClr val="tx1">
                      <a:alpha val="0"/>
                    </a:schemeClr>
                  </a:solidFill>
                </a:ln>
                <a:solidFill>
                  <a:srgbClr val="F49737"/>
                </a:solidFill>
                <a:latin typeface="KoPubDotum"/>
                <a:ea typeface="KoPubDotum"/>
                <a:cs typeface="KoPubDotum"/>
              </a:rPr>
              <a:t>디지털튜터</a:t>
            </a:r>
            <a:r>
              <a:rPr sz="1200">
                <a:ln>
                  <a:solidFill>
                    <a:schemeClr val="tx1">
                      <a:alpha val="0"/>
                    </a:schemeClr>
                  </a:solidFill>
                </a:ln>
                <a:solidFill>
                  <a:srgbClr val="F49737"/>
                </a:solidFill>
                <a:latin typeface="KoPubDotum"/>
                <a:ea typeface="KoPubDotum"/>
                <a:cs typeface="KoPubDotum"/>
              </a:rPr>
              <a:t> 지역특화 공통과정 교수학습자료</a:t>
            </a:r>
          </a:p>
        </p:txBody>
      </p:sp>
    </p:spTree>
  </p:cSld>
</p:sldLayout>
</file>

<file path=ppt/slideLayouts/slideLayout3.xml><?xml version="1.0" encoding="utf-8"?>
<p:sldLayout xmlns:p="http://schemas.openxmlformats.org/presentationml/2006/main" preserve="1" userDrawn="1">
  <p:cSld name="단원">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13815C38-E0F1-4F2A-B6EC-E0F63FA80E0A}"/>
              </a:ext>
            </a:extLst>
          </p:cNvPr>
          <p:cNvPicPr>
            <a:picLocks xmlns:a="http://schemas.openxmlformats.org/drawingml/2006/main" noChangeAspect="1"/>
          </p:cNvPicPr>
          <p:nvPr/>
        </p:nvPicPr>
        <p:blipFill>
          <a:blip xmlns:r="http://schemas.openxmlformats.org/officeDocument/2006/relationships" xmlns:a="http://schemas.openxmlformats.org/drawingml/2006/main" r:embed="R62c4c9f6baae4fd4"/>
          <a:stretch xmlns:a="http://schemas.openxmlformats.org/drawingml/2006/main">
            <a:fillRect l="0" t="0" r="0" b="0"/>
          </a:stretch>
        </p:blipFill>
        <p:spPr>
          <a:xfrm xmlns:a="http://schemas.openxmlformats.org/drawingml/2006/main">
            <a:off x="0" y="519"/>
            <a:ext cx="10691813" cy="7558636"/>
          </a:xfrm>
          <a:prstGeom xmlns:a="http://schemas.openxmlformats.org/drawingml/2006/main" prst="rect">
            <a:avLst/>
          </a:prstGeom>
        </p:spPr>
      </p:pic>
      <p:sp>
        <p:nvSpPr>
          <p:cNvPr id="3" name="Google Shape;212;p54">
            <a:extLst xmlns:a="http://schemas.openxmlformats.org/drawingml/2006/main">
              <a:ext uri="{FF2B5EF4-FFF2-40B4-BE49-F238E27FC236}">
                <a16:creationId xmlns:a16="http://schemas.microsoft.com/office/drawing/2014/main" id="{33BF1305-87DB-2AB6-95E9-150F751EC88A}"/>
              </a:ext>
            </a:extLst>
          </p:cNvPr>
          <p:cNvSpPr>
            <a:spLocks xmlns:a="http://schemas.openxmlformats.org/drawingml/2006/main" noGrp="1"/>
          </p:cNvSpPr>
          <p:nvPr/>
        </p:nvSpPr>
        <p:spPr>
          <a:xfrm xmlns:a="http://schemas.openxmlformats.org/drawingml/2006/main">
            <a:off x="5238434" y="7098469"/>
            <a:ext cx="229230"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spAutoFit/>
          </a:bodyPr>
          <a:lstStyle xmlns:a="http://schemas.openxmlformats.org/drawingml/2006/main"/>
          <a:p xmlns:a="http://schemas.openxmlformats.org/drawingml/2006/main"/>
        </p:txBody>
      </p:sp>
      <p:sp>
        <p:nvSpPr>
          <p:cNvPr id="5" name="Google Shape;260;p54">
            <a:extLst xmlns:a="http://schemas.openxmlformats.org/drawingml/2006/main">
              <a:ext uri="{FF2B5EF4-FFF2-40B4-BE49-F238E27FC236}">
                <a16:creationId xmlns:a16="http://schemas.microsoft.com/office/drawing/2014/main" id="{24841D08-D74E-429F-B4E0-EE5A15A7B413}"/>
              </a:ext>
            </a:extLst>
          </p:cNvPr>
          <p:cNvSpPr>
            <a:spLocks xmlns:a="http://schemas.openxmlformats.org/drawingml/2006/main" noGrp="1"/>
          </p:cNvSpPr>
          <p:nvPr/>
        </p:nvSpPr>
        <p:spPr>
          <a:xfrm xmlns:a="http://schemas.openxmlformats.org/drawingml/2006/main">
            <a:off x="7551288" y="7100882"/>
            <a:ext cx="2654750" cy="1231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3F3F3F"/>
              </a:buClr>
              <a:buSzPts val="800"/>
              <a:buFont typeface="KoPubDotum"/>
              <a:buNone/>
            </a:pPr>
            <a:r>
              <a:rPr sz="800">
                <a:ln>
                  <a:solidFill>
                    <a:schemeClr val="tx1">
                      <a:alpha val="0"/>
                    </a:schemeClr>
                  </a:solidFill>
                </a:ln>
                <a:solidFill>
                  <a:srgbClr val="3F3F3F"/>
                </a:solidFill>
                <a:latin typeface="KoPubDotum"/>
                <a:ea typeface="KoPubDotum"/>
                <a:cs typeface="KoPubDotum"/>
              </a:rPr>
              <a:t>지역특화 공통과정 교수학습자료 </a:t>
            </a:r>
            <a:r>
              <a:rPr sz="800" b="1">
                <a:ln>
                  <a:solidFill>
                    <a:schemeClr val="tx1">
                      <a:alpha val="0"/>
                    </a:schemeClr>
                  </a:solidFill>
                </a:ln>
                <a:solidFill>
                  <a:srgbClr val="3F3F3F"/>
                </a:solidFill>
                <a:latin typeface="KoPubDotum"/>
                <a:ea typeface="KoPubDotum"/>
                <a:cs typeface="KoPubDotum"/>
              </a:rPr>
              <a:t>디지털튜터</a:t>
            </a:r>
            <a:endParaRPr sz="800" b="1">
              <a:ln>
                <a:solidFill>
                  <a:schemeClr val="tx1">
                    <a:alpha val="0"/>
                  </a:schemeClr>
                </a:solidFill>
              </a:ln>
              <a:latin typeface="KoPubDotum"/>
              <a:ea typeface="KoPubDotum"/>
              <a:cs typeface="KoPubDotum"/>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2fc498964546b2" /><Relationship Type="http://schemas.openxmlformats.org/officeDocument/2006/relationships/slideLayout" Target="/ppt/slideLayouts/slideLayout1.xml" Id="R9499916cb2384585" /><Relationship Type="http://schemas.openxmlformats.org/officeDocument/2006/relationships/slideLayout" Target="/ppt/slideLayouts/slideLayout2.xml" Id="Rf5beadea19914aee" /><Relationship Type="http://schemas.openxmlformats.org/officeDocument/2006/relationships/slideLayout" Target="/ppt/slideLayouts/slideLayout3.xml" Id="Rac812ce761e24a8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99916cb2384585"/>
    <p:sldLayoutId xmlns:r="http://schemas.openxmlformats.org/officeDocument/2006/relationships" id="2147483650" r:id="Rf5beadea19914aee"/>
    <p:sldLayoutId xmlns:r="http://schemas.openxmlformats.org/officeDocument/2006/relationships" id="2147483651" r:id="Rac812ce761e24a8c"/>
  </p:sldLayoutIdLst>
  <p:txStyles>
    <p:titleStyle>
      <a:lvl1pPr xmlns:a="http://schemas.openxmlformats.org/drawingml/2006/main" algn="l" defTabSz="1007943">
        <a:lnSpc>
          <a:spcPct val="90000"/>
        </a:lnSpc>
        <a:spcBef>
          <a:spcPct val="0"/>
        </a:spcBef>
        <a:buNone/>
        <a:defRPr sz="4850" kern="1200">
          <a:solidFill>
            <a:schemeClr val="tx1"/>
          </a:solidFill>
          <a:latin typeface="KoPubDotum"/>
          <a:ea typeface="KoPubDotum"/>
          <a:cs typeface="KoPubDotum"/>
        </a:defRPr>
      </a:lvl1pPr>
    </p:titleStyle>
    <p:bodyStyle>
      <a:lvl1pPr xmlns:a="http://schemas.openxmlformats.org/drawingml/2006/main" marL="251986" indent="-251986" algn="l" defTabSz="1007943">
        <a:lnSpc>
          <a:spcPct val="90000"/>
        </a:lnSpc>
        <a:spcBef>
          <a:spcPts val="1102"/>
        </a:spcBef>
        <a:buFont typeface="KoPubDotum"/>
        <a:buChar char="•"/>
        <a:defRPr sz="3086" kern="1200">
          <a:solidFill>
            <a:schemeClr val="tx1"/>
          </a:solidFill>
          <a:latin typeface="KoPubDotum"/>
          <a:ea typeface="KoPubDotum"/>
          <a:cs typeface="KoPubDotum"/>
        </a:defRPr>
      </a:lvl1pPr>
      <a:lvl2pPr xmlns:a="http://schemas.openxmlformats.org/drawingml/2006/main" marL="755957" indent="-251986" algn="l" defTabSz="1007943">
        <a:lnSpc>
          <a:spcPct val="90000"/>
        </a:lnSpc>
        <a:spcBef>
          <a:spcPts val="551"/>
        </a:spcBef>
        <a:buFont typeface="KoPubDotum"/>
        <a:buChar char="•"/>
        <a:defRPr sz="2646" kern="1200">
          <a:solidFill>
            <a:schemeClr val="tx1"/>
          </a:solidFill>
          <a:latin typeface="KoPubDotum"/>
          <a:ea typeface="KoPubDotum"/>
          <a:cs typeface="KoPubDotum"/>
        </a:defRPr>
      </a:lvl2pPr>
      <a:lvl3pPr xmlns:a="http://schemas.openxmlformats.org/drawingml/2006/main" marL="1259929" indent="-251986" algn="l" defTabSz="1007943">
        <a:lnSpc>
          <a:spcPct val="90000"/>
        </a:lnSpc>
        <a:spcBef>
          <a:spcPts val="551"/>
        </a:spcBef>
        <a:buFont typeface="KoPubDotum"/>
        <a:buChar char="•"/>
        <a:defRPr sz="2205" kern="1200">
          <a:solidFill>
            <a:schemeClr val="tx1"/>
          </a:solidFill>
          <a:latin typeface="KoPubDotum"/>
          <a:ea typeface="KoPubDotum"/>
          <a:cs typeface="KoPubDotum"/>
        </a:defRPr>
      </a:lvl3pPr>
      <a:lvl4pPr xmlns:a="http://schemas.openxmlformats.org/drawingml/2006/main" marL="1763900"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4pPr>
      <a:lvl5pPr xmlns:a="http://schemas.openxmlformats.org/drawingml/2006/main" marL="2267872"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5pPr>
      <a:lvl6pPr xmlns:a="http://schemas.openxmlformats.org/drawingml/2006/main" marL="2771844"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6pPr>
      <a:lvl7pPr xmlns:a="http://schemas.openxmlformats.org/drawingml/2006/main" marL="3275815"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7pPr>
      <a:lvl8pPr xmlns:a="http://schemas.openxmlformats.org/drawingml/2006/main" marL="3779787"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8pPr>
      <a:lvl9pPr xmlns:a="http://schemas.openxmlformats.org/drawingml/2006/main" marL="4283758"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9pPr>
    </p:bodyStyle>
    <p:otherStyle>
      <a:lvl1pPr xmlns:a="http://schemas.openxmlformats.org/drawingml/2006/main" marL="0" algn="l" defTabSz="1007943">
        <a:buNone/>
        <a:defRPr sz="1984" kern="1200">
          <a:solidFill>
            <a:schemeClr val="tx1"/>
          </a:solidFill>
          <a:latin typeface="KoPubDotum"/>
          <a:ea typeface="KoPubDotum"/>
          <a:cs typeface="KoPubDotum"/>
        </a:defRPr>
      </a:lvl1pPr>
      <a:lvl2pPr xmlns:a="http://schemas.openxmlformats.org/drawingml/2006/main" marL="503972" algn="l" defTabSz="1007943">
        <a:buNone/>
        <a:defRPr sz="1984" kern="1200">
          <a:solidFill>
            <a:schemeClr val="tx1"/>
          </a:solidFill>
          <a:latin typeface="KoPubDotum"/>
          <a:ea typeface="KoPubDotum"/>
          <a:cs typeface="KoPubDotum"/>
        </a:defRPr>
      </a:lvl2pPr>
      <a:lvl3pPr xmlns:a="http://schemas.openxmlformats.org/drawingml/2006/main" marL="1007943" algn="l" defTabSz="1007943">
        <a:buNone/>
        <a:defRPr sz="1984" kern="1200">
          <a:solidFill>
            <a:schemeClr val="tx1"/>
          </a:solidFill>
          <a:latin typeface="KoPubDotum"/>
          <a:ea typeface="KoPubDotum"/>
          <a:cs typeface="KoPubDotum"/>
        </a:defRPr>
      </a:lvl3pPr>
      <a:lvl4pPr xmlns:a="http://schemas.openxmlformats.org/drawingml/2006/main" marL="1511915" algn="l" defTabSz="1007943">
        <a:buNone/>
        <a:defRPr sz="1984" kern="1200">
          <a:solidFill>
            <a:schemeClr val="tx1"/>
          </a:solidFill>
          <a:latin typeface="KoPubDotum"/>
          <a:ea typeface="KoPubDotum"/>
          <a:cs typeface="KoPubDotum"/>
        </a:defRPr>
      </a:lvl4pPr>
      <a:lvl5pPr xmlns:a="http://schemas.openxmlformats.org/drawingml/2006/main" marL="2015886" algn="l" defTabSz="1007943">
        <a:buNone/>
        <a:defRPr sz="1984" kern="1200">
          <a:solidFill>
            <a:schemeClr val="tx1"/>
          </a:solidFill>
          <a:latin typeface="KoPubDotum"/>
          <a:ea typeface="KoPubDotum"/>
          <a:cs typeface="KoPubDotum"/>
        </a:defRPr>
      </a:lvl5pPr>
      <a:lvl6pPr xmlns:a="http://schemas.openxmlformats.org/drawingml/2006/main" marL="2519858" algn="l" defTabSz="1007943">
        <a:buNone/>
        <a:defRPr sz="1984" kern="1200">
          <a:solidFill>
            <a:schemeClr val="tx1"/>
          </a:solidFill>
          <a:latin typeface="KoPubDotum"/>
          <a:ea typeface="KoPubDotum"/>
          <a:cs typeface="KoPubDotum"/>
        </a:defRPr>
      </a:lvl6pPr>
      <a:lvl7pPr xmlns:a="http://schemas.openxmlformats.org/drawingml/2006/main" marL="3023829" algn="l" defTabSz="1007943">
        <a:buNone/>
        <a:defRPr sz="1984" kern="1200">
          <a:solidFill>
            <a:schemeClr val="tx1"/>
          </a:solidFill>
          <a:latin typeface="KoPubDotum"/>
          <a:ea typeface="KoPubDotum"/>
          <a:cs typeface="KoPubDotum"/>
        </a:defRPr>
      </a:lvl7pPr>
      <a:lvl8pPr xmlns:a="http://schemas.openxmlformats.org/drawingml/2006/main" marL="3527801" algn="l" defTabSz="1007943">
        <a:buNone/>
        <a:defRPr sz="1984" kern="1200">
          <a:solidFill>
            <a:schemeClr val="tx1"/>
          </a:solidFill>
          <a:latin typeface="KoPubDotum"/>
          <a:ea typeface="KoPubDotum"/>
          <a:cs typeface="KoPubDotum"/>
        </a:defRPr>
      </a:lvl8pPr>
      <a:lvl9pPr xmlns:a="http://schemas.openxmlformats.org/drawingml/2006/main" marL="4031772" algn="l" defTabSz="1007943">
        <a:buNone/>
        <a:defRPr sz="1984" kern="1200">
          <a:solidFill>
            <a:schemeClr val="tx1"/>
          </a:solidFill>
          <a:latin typeface="KoPubDotum"/>
          <a:ea typeface="KoPubDotum"/>
          <a:cs typeface="KoPubDotum"/>
        </a:defRPr>
      </a:lvl9pPr>
    </p:otherStyle>
  </p:txStyles>
</p:sldMaster>
</file>

<file path=ppt/slideMasters/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KoPubDotum"/>
        <a:ea typeface="KoPubDotum"/>
        <a:cs typeface=""/>
      </a:majorFont>
      <a:minorFont>
        <a:latin typeface="KoPubDotum"/>
        <a:ea typeface="KoPubDotum"/>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6e8addda4749cc" /><Relationship Type="http://schemas.openxmlformats.org/officeDocument/2006/relationships/notesSlide" Target="/ppt/notesSlides/notesSlide1.xml" Id="R6bb670f77d254d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f14a16e969da4465" /><Relationship Type="http://schemas.openxmlformats.org/officeDocument/2006/relationships/notesSlide" Target="/ppt/notesSlides/notesSlide2.xml" Id="R5ea760b1bfc44a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95ac42f7c19e4c3c" /><Relationship Type="http://schemas.openxmlformats.org/officeDocument/2006/relationships/notesSlide" Target="/ppt/notesSlides/notesSlide3.xml" Id="R5c6ba5dab4764d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99a480f3f8e447f" /><Relationship Type="http://schemas.openxmlformats.org/officeDocument/2006/relationships/notesSlide" Target="/ppt/notesSlides/notesSlide4.xml" Id="R5b8003f2aa0043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052199e700824daa" /><Relationship Type="http://schemas.openxmlformats.org/officeDocument/2006/relationships/notesSlide" Target="/ppt/notesSlides/notesSlide5.xml" Id="R121c7dd3ab9a45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bbefd75d8b641aa" /><Relationship Type="http://schemas.openxmlformats.org/officeDocument/2006/relationships/notesSlide" Target="/ppt/notesSlides/notesSlide6.xml" Id="R9bd62a63d1a740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a2bff391fd64b5c" /><Relationship Type="http://schemas.openxmlformats.org/officeDocument/2006/relationships/image" Target="/ppt/media/image.png" Id="R2efea65b0a4e4f21" /><Relationship Type="http://schemas.openxmlformats.org/officeDocument/2006/relationships/notesSlide" Target="/ppt/notesSlides/notesSlide7.xml" Id="Rf784849517c64f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66d12e9e03294224" /><Relationship Type="http://schemas.openxmlformats.org/officeDocument/2006/relationships/image" Target="/ppt/media/image2.png" Id="R58f50b29c2bb435f" /><Relationship Type="http://schemas.openxmlformats.org/officeDocument/2006/relationships/notesSlide" Target="/ppt/notesSlides/notesSlide8.xml" Id="Rc9c85dc51f5d4f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bbfed45f5564beb" /><Relationship Type="http://schemas.openxmlformats.org/officeDocument/2006/relationships/image" Target="/ppt/media/image3.png" Id="Rcd706d83ba45400d" /><Relationship Type="http://schemas.openxmlformats.org/officeDocument/2006/relationships/notesSlide" Target="/ppt/notesSlides/notesSlide9.xml" Id="Rd35795e235e342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49027e1995c44fa9" /><Relationship Type="http://schemas.openxmlformats.org/officeDocument/2006/relationships/image" Target="/ppt/media/image4.png" Id="R154840f53b014d51" /><Relationship Type="http://schemas.openxmlformats.org/officeDocument/2006/relationships/notesSlide" Target="/ppt/notesSlides/notesSlide10.xml" Id="R8ccc6dc5ea9c4d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e84b493a0d5a4c92" /><Relationship Type="http://schemas.openxmlformats.org/officeDocument/2006/relationships/notesSlide" Target="/ppt/notesSlides/notesSlide11.xml" Id="R1c6b98d6968648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aa3ea92ae3b64505" /><Relationship Type="http://schemas.openxmlformats.org/officeDocument/2006/relationships/notesSlide" Target="/ppt/notesSlides/notesSlide12.xml" Id="R1d0005fb7dcd43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3258522a744a48ee" /><Relationship Type="http://schemas.openxmlformats.org/officeDocument/2006/relationships/notesSlide" Target="/ppt/notesSlides/notesSlide13.xml" Id="R4966ab0ac37445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3bdf58670c2948ea" /><Relationship Type="http://schemas.openxmlformats.org/officeDocument/2006/relationships/notesSlide" Target="/ppt/notesSlides/notesSlide14.xml" Id="Re1c9a489e9af45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543dfc4ccfbc4149" /><Relationship Type="http://schemas.openxmlformats.org/officeDocument/2006/relationships/image" Target="/ppt/media/image5.png" Id="Rd12856c3e89c4c71" /><Relationship Type="http://schemas.openxmlformats.org/officeDocument/2006/relationships/notesSlide" Target="/ppt/notesSlides/notesSlide15.xml" Id="R032d944df1864a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8f8fe9cb91704b51" /><Relationship Type="http://schemas.openxmlformats.org/officeDocument/2006/relationships/image" Target="/ppt/media/image6.png" Id="Rd7aceb1d0e744e24" /><Relationship Type="http://schemas.openxmlformats.org/officeDocument/2006/relationships/notesSlide" Target="/ppt/notesSlides/notesSlide16.xml" Id="R3aa501d6b4be4c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a58647929578421d" /><Relationship Type="http://schemas.openxmlformats.org/officeDocument/2006/relationships/image" Target="/ppt/media/image7.png" Id="Rc6b03257792848fc" /><Relationship Type="http://schemas.openxmlformats.org/officeDocument/2006/relationships/image" Target="/ppt/media/image8.png" Id="Rd3a76a3670e9419c" /><Relationship Type="http://schemas.openxmlformats.org/officeDocument/2006/relationships/notesSlide" Target="/ppt/notesSlides/notesSlide17.xml" Id="R7dc28d6a2d5f40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005db189b45a47d5" /><Relationship Type="http://schemas.openxmlformats.org/officeDocument/2006/relationships/image" Target="/ppt/media/image9.png" Id="Rc05e4e42dd92436c" /><Relationship Type="http://schemas.openxmlformats.org/officeDocument/2006/relationships/notesSlide" Target="/ppt/notesSlides/notesSlide18.xml" Id="Rcb450fd5ccef432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1914452750bc42c3" /><Relationship Type="http://schemas.openxmlformats.org/officeDocument/2006/relationships/notesSlide" Target="/ppt/notesSlides/notesSlide19.xml" Id="R30d92b64fe3b487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7462719557e444c" /><Relationship Type="http://schemas.openxmlformats.org/officeDocument/2006/relationships/notesSlide" Target="/ppt/notesSlides/notesSlide20.xml" Id="Reb33dbfb48ba47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2f5a8643f4074197" /><Relationship Type="http://schemas.openxmlformats.org/officeDocument/2006/relationships/notesSlide" Target="/ppt/notesSlides/notesSlide21.xml" Id="R4dedffb034ff4a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1da22108967e4ea2" /><Relationship Type="http://schemas.openxmlformats.org/officeDocument/2006/relationships/image" Target="/ppt/media/image10.png" Id="R10ccb0c7ff4c4e6d" /><Relationship Type="http://schemas.openxmlformats.org/officeDocument/2006/relationships/image" Target="/ppt/media/image11.png" Id="Rf0e7e1a0ba074ae9" /><Relationship Type="http://schemas.openxmlformats.org/officeDocument/2006/relationships/notesSlide" Target="/ppt/notesSlides/notesSlide22.xml" Id="R23e5d16eb9124e3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bcf1fd05f57e4356" /><Relationship Type="http://schemas.openxmlformats.org/officeDocument/2006/relationships/notesSlide" Target="/ppt/notesSlides/notesSlide23.xml" Id="Rc64eb7d66d19402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0ea67b75b97c45e8" /><Relationship Type="http://schemas.openxmlformats.org/officeDocument/2006/relationships/image" Target="/ppt/media/image12.png" Id="R9f461f329aae47ab" /><Relationship Type="http://schemas.openxmlformats.org/officeDocument/2006/relationships/notesSlide" Target="/ppt/notesSlides/notesSlide24.xml" Id="R42ed9abf4f4f435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08473945f5654ff4" /><Relationship Type="http://schemas.openxmlformats.org/officeDocument/2006/relationships/notesSlide" Target="/ppt/notesSlides/notesSlide25.xml" Id="Rae6011b8f03047a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ee3d82587fdf4126" /><Relationship Type="http://schemas.openxmlformats.org/officeDocument/2006/relationships/notesSlide" Target="/ppt/notesSlides/notesSlide26.xml" Id="Rc274d7816e55487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103ceaf4d40c477f" /><Relationship Type="http://schemas.openxmlformats.org/officeDocument/2006/relationships/image" Target="/ppt/media/image13.png" Id="Rdb3300f188424f2e" /><Relationship Type="http://schemas.openxmlformats.org/officeDocument/2006/relationships/notesSlide" Target="/ppt/notesSlides/notesSlide27.xml" Id="R311f370e58724c6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201ece4128c4441e" /><Relationship Type="http://schemas.openxmlformats.org/officeDocument/2006/relationships/notesSlide" Target="/ppt/notesSlides/notesSlide28.xml" Id="Rde188df2121843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53f156a5629a479d" /><Relationship Type="http://schemas.openxmlformats.org/officeDocument/2006/relationships/notesSlide" Target="/ppt/notesSlides/notesSlide29.xml" Id="Red03beb9eb564e1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f3f855a329804cf7" /><Relationship Type="http://schemas.openxmlformats.org/officeDocument/2006/relationships/image" Target="/ppt/media/image14.png" Id="R3119a60b9ada404e" /><Relationship Type="http://schemas.openxmlformats.org/officeDocument/2006/relationships/notesSlide" Target="/ppt/notesSlides/notesSlide30.xml" Id="Re91499f5a2a64b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0a3a4da79ed04e2b" /><Relationship Type="http://schemas.openxmlformats.org/officeDocument/2006/relationships/notesSlide" Target="/ppt/notesSlides/notesSlide31.xml" Id="Rf78d5fbb59064ac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0a164dd5f9d24b18" /><Relationship Type="http://schemas.openxmlformats.org/officeDocument/2006/relationships/notesSlide" Target="/ppt/notesSlides/notesSlide32.xml" Id="Rc2aa76f5886d434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d4cdcc1527434c0b" /><Relationship Type="http://schemas.openxmlformats.org/officeDocument/2006/relationships/notesSlide" Target="/ppt/notesSlides/notesSlide33.xml" Id="Re6bf2c0db3194e0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52ffe3fbc767419b" /><Relationship Type="http://schemas.openxmlformats.org/officeDocument/2006/relationships/notesSlide" Target="/ppt/notesSlides/notesSlide34.xml" Id="Rbc564516cc6e48b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a253194b84de4bc1" /><Relationship Type="http://schemas.openxmlformats.org/officeDocument/2006/relationships/notesSlide" Target="/ppt/notesSlides/notesSlide35.xml" Id="Rcc5c11206a5c427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57d82eb2ab8d4d90" /><Relationship Type="http://schemas.openxmlformats.org/officeDocument/2006/relationships/image" Target="/ppt/media/image15.png" Id="R7e316aea54fe40ea" /><Relationship Type="http://schemas.openxmlformats.org/officeDocument/2006/relationships/notesSlide" Target="/ppt/notesSlides/notesSlide36.xml" Id="R8c4e11285e1e4a1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268b5e68b4804015" /><Relationship Type="http://schemas.openxmlformats.org/officeDocument/2006/relationships/image" Target="/ppt/media/image16.png" Id="R097cfd89b0e34c09" /><Relationship Type="http://schemas.openxmlformats.org/officeDocument/2006/relationships/notesSlide" Target="/ppt/notesSlides/notesSlide37.xml" Id="R4a2939f5da8f49d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c4043c7d8fd94dd2" /><Relationship Type="http://schemas.openxmlformats.org/officeDocument/2006/relationships/notesSlide" Target="/ppt/notesSlides/notesSlide38.xml" Id="R8e68fef5c2db41e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3.xml" Id="R0a8fdfc04bfd4719" /><Relationship Type="http://schemas.openxmlformats.org/officeDocument/2006/relationships/notesSlide" Target="/ppt/notesSlides/notesSlide39.xml" Id="R8a34ffa58ce041b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3.xml" Id="Rcc9d427918e84a00" /><Relationship Type="http://schemas.openxmlformats.org/officeDocument/2006/relationships/image" Target="/ppt/media/image17.png" Id="R98f5aba9348347d7" /><Relationship Type="http://schemas.openxmlformats.org/officeDocument/2006/relationships/notesSlide" Target="/ppt/notesSlides/notesSlide40.xml" Id="R62811118b6c44d9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3.xml" Id="R625231eafda940cc" /><Relationship Type="http://schemas.openxmlformats.org/officeDocument/2006/relationships/image" Target="/ppt/media/image18.png" Id="R02af9ce3cc8d479d" /><Relationship Type="http://schemas.openxmlformats.org/officeDocument/2006/relationships/notesSlide" Target="/ppt/notesSlides/notesSlide41.xml" Id="R7ecb8352e119406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3.xml" Id="R4ebea23c98094350" /><Relationship Type="http://schemas.openxmlformats.org/officeDocument/2006/relationships/notesSlide" Target="/ppt/notesSlides/notesSlide42.xml" Id="Rc4c99ff6c0404f1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3.xml" Id="R09f2be9ff2664ada" /><Relationship Type="http://schemas.openxmlformats.org/officeDocument/2006/relationships/notesSlide" Target="/ppt/notesSlides/notesSlide43.xml" Id="R2aa0ee43aaca45d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3.xml" Id="R35e572f83ce94a5e" /><Relationship Type="http://schemas.openxmlformats.org/officeDocument/2006/relationships/notesSlide" Target="/ppt/notesSlides/notesSlide44.xml" Id="Ra92b3c664d80448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3.xml" Id="R48270f4b4a36496a" /><Relationship Type="http://schemas.openxmlformats.org/officeDocument/2006/relationships/notesSlide" Target="/ppt/notesSlides/notesSlide45.xml" Id="Rca0598a1ee0e478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3.xml" Id="R6c43c6e5ff9c4091" /><Relationship Type="http://schemas.openxmlformats.org/officeDocument/2006/relationships/notesSlide" Target="/ppt/notesSlides/notesSlide46.xml" Id="Rf296cfc934ea44d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SPIKE Prime 교원 연수">
            <a:extLst xmlns:a="http://schemas.openxmlformats.org/drawingml/2006/main">
              <a:ext uri="{FF2B5EF4-FFF2-40B4-BE49-F238E27FC236}">
                <a16:creationId xmlns:a16="http://schemas.microsoft.com/office/drawing/2014/main" id="{980A46CB-1864-4982-85D4-94A0EF32DBEA}"/>
              </a:ext>
            </a:extLst>
          </p:cNvPr>
          <p:cNvSpPr>
            <a:spLocks xmlns:a="http://schemas.openxmlformats.org/drawingml/2006/main" noGrp="1"/>
          </p:cNvSpPr>
          <p:nvPr/>
        </p:nvSpPr>
        <p:spPr>
          <a:xfrm xmlns:a="http://schemas.openxmlformats.org/drawingml/2006/main">
            <a:off x="2667000" y="82867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FFFFF"/>
                </a:solidFill>
                <a:latin typeface="KoPubDotum"/>
                <a:ea typeface="KoPubDotum"/>
                <a:cs typeface="KoPubDotum"/>
              </a:defRPr>
            </a:defPPr>
          </a:lstStyle>
          <a:p xmlns:a="http://schemas.openxmlformats.org/drawingml/2006/main">
            <a:pPr algn="ctr">
              <a:lnSpc>
                <a:spcPct val="116000"/>
              </a:lnSpc>
              <a:buNone/>
              <a:defRPr sz="1500" b="0">
                <a:solidFill>
                  <a:srgbClr val="FFFFFF"/>
                </a:solidFill>
                <a:latin typeface="KoPubDotum"/>
                <a:ea typeface="KoPubDotum"/>
                <a:cs typeface="KoPubDotum"/>
              </a:defRPr>
            </a:pPr>
            <a:r>
              <a:rPr sz="1500" b="0">
                <a:solidFill>
                  <a:srgbClr val="FFFFFF"/>
                </a:solidFill>
                <a:latin typeface="KoPubDotum"/>
                <a:ea typeface="KoPubDotum"/>
                <a:cs typeface="KoPubDotum"/>
              </a:rPr>
              <a:t>SPIKE Prime 교원 연수</a:t>
            </a:r>
          </a:p>
        </p:txBody>
      </p:sp>
      <p:sp>
        <p:nvSpPr>
          <p:cNvPr id="2" name="디지털튜터">
            <a:extLst xmlns:a="http://schemas.openxmlformats.org/drawingml/2006/main">
              <a:ext uri="{FF2B5EF4-FFF2-40B4-BE49-F238E27FC236}">
                <a16:creationId xmlns:a16="http://schemas.microsoft.com/office/drawing/2014/main" id="{AEF80B90-DC1E-4C03-A26E-5E66E0F3273D}"/>
              </a:ext>
            </a:extLst>
          </p:cNvPr>
          <p:cNvSpPr>
            <a:spLocks xmlns:a="http://schemas.openxmlformats.org/drawingml/2006/main" noGrp="1"/>
          </p:cNvSpPr>
          <p:nvPr/>
        </p:nvSpPr>
        <p:spPr>
          <a:xfrm xmlns:a="http://schemas.openxmlformats.org/drawingml/2006/main">
            <a:off x="2857500" y="1581150"/>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950" b="1">
                <a:solidFill>
                  <a:srgbClr val="FFE750"/>
                </a:solidFill>
                <a:latin typeface="KoPubDotum"/>
                <a:ea typeface="KoPubDotum"/>
                <a:cs typeface="KoPubDotum"/>
              </a:defRPr>
            </a:defPPr>
          </a:lstStyle>
          <a:p xmlns:a="http://schemas.openxmlformats.org/drawingml/2006/main">
            <a:pPr algn="ctr">
              <a:lnSpc>
                <a:spcPct val="116000"/>
              </a:lnSpc>
              <a:buNone/>
              <a:defRPr sz="4950" b="1">
                <a:solidFill>
                  <a:srgbClr val="FFE750"/>
                </a:solidFill>
                <a:latin typeface="KoPubDotum"/>
                <a:ea typeface="KoPubDotum"/>
                <a:cs typeface="KoPubDotum"/>
              </a:defRPr>
            </a:pPr>
            <a:r>
              <a:rPr sz="4950" b="1">
                <a:solidFill>
                  <a:srgbClr val="FFE750"/>
                </a:solidFill>
                <a:latin typeface="KoPubDotum"/>
                <a:ea typeface="KoPubDotum"/>
                <a:cs typeface="KoPubDotum"/>
              </a:rPr>
              <a:t>디지털튜터</a:t>
            </a:r>
          </a:p>
        </p:txBody>
      </p:sp>
      <p:sp>
        <p:nvSpPr>
          <p:cNvPr id="3" name="LEGO SPIKE Prime">
            <a:extLst xmlns:a="http://schemas.openxmlformats.org/drawingml/2006/main">
              <a:ext uri="{FF2B5EF4-FFF2-40B4-BE49-F238E27FC236}">
                <a16:creationId xmlns:a16="http://schemas.microsoft.com/office/drawing/2014/main" id="{84624483-0DD2-45A5-AE03-06078ADF3620}"/>
              </a:ext>
            </a:extLst>
          </p:cNvPr>
          <p:cNvSpPr>
            <a:spLocks xmlns:a="http://schemas.openxmlformats.org/drawingml/2006/main" noGrp="1"/>
          </p:cNvSpPr>
          <p:nvPr/>
        </p:nvSpPr>
        <p:spPr>
          <a:xfrm xmlns:a="http://schemas.openxmlformats.org/drawingml/2006/main">
            <a:off x="2876550" y="25431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150" b="1">
                <a:solidFill>
                  <a:srgbClr val="FFFFFF"/>
                </a:solidFill>
                <a:latin typeface="KoPubDotum"/>
                <a:ea typeface="KoPubDotum"/>
                <a:cs typeface="KoPubDotum"/>
              </a:defRPr>
            </a:defPPr>
          </a:lstStyle>
          <a:p xmlns:a="http://schemas.openxmlformats.org/drawingml/2006/main">
            <a:pPr algn="ctr">
              <a:lnSpc>
                <a:spcPct val="116000"/>
              </a:lnSpc>
              <a:buNone/>
              <a:defRPr sz="3150" b="1">
                <a:solidFill>
                  <a:srgbClr val="FFFFFF"/>
                </a:solidFill>
                <a:latin typeface="KoPubDotum"/>
                <a:ea typeface="KoPubDotum"/>
                <a:cs typeface="KoPubDotum"/>
              </a:defRPr>
            </a:pPr>
            <a:r>
              <a:rPr sz="3150" b="1">
                <a:solidFill>
                  <a:srgbClr val="FFFFFF"/>
                </a:solidFill>
                <a:latin typeface="KoPubDotum"/>
                <a:ea typeface="KoPubDotum"/>
                <a:cs typeface="KoPubDotum"/>
              </a:rPr>
              <a:t>LEGO SPIKE Prime</a:t>
            </a:r>
          </a:p>
        </p:txBody>
      </p:sp>
      <p:sp>
        <p:nvSpPr>
          <p:cNvPr id="4" name="전·현직 과정 · 3차시">
            <a:extLst xmlns:a="http://schemas.openxmlformats.org/drawingml/2006/main">
              <a:ext uri="{FF2B5EF4-FFF2-40B4-BE49-F238E27FC236}">
                <a16:creationId xmlns:a16="http://schemas.microsoft.com/office/drawing/2014/main" id="{62CF8C0B-123E-4E26-86E9-498058869674}"/>
              </a:ext>
            </a:extLst>
          </p:cNvPr>
          <p:cNvSpPr>
            <a:spLocks xmlns:a="http://schemas.openxmlformats.org/drawingml/2006/main" noGrp="1"/>
          </p:cNvSpPr>
          <p:nvPr/>
        </p:nvSpPr>
        <p:spPr>
          <a:xfrm xmlns:a="http://schemas.openxmlformats.org/drawingml/2006/main">
            <a:off x="2857500" y="31908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FFFFFF"/>
                </a:solidFill>
                <a:latin typeface="KoPubDotum"/>
                <a:ea typeface="KoPubDotum"/>
                <a:cs typeface="KoPubDotum"/>
              </a:defRPr>
            </a:defPPr>
          </a:lstStyle>
          <a:p xmlns:a="http://schemas.openxmlformats.org/drawingml/2006/main">
            <a:pPr algn="ctr">
              <a:lnSpc>
                <a:spcPct val="116000"/>
              </a:lnSpc>
              <a:buNone/>
              <a:defRPr sz="2250" b="0">
                <a:solidFill>
                  <a:srgbClr val="FFFFFF"/>
                </a:solidFill>
                <a:latin typeface="KoPubDotum"/>
                <a:ea typeface="KoPubDotum"/>
                <a:cs typeface="KoPubDotum"/>
              </a:defRPr>
            </a:pPr>
            <a:r>
              <a:rPr sz="2250" b="0">
                <a:solidFill>
                  <a:srgbClr val="FFFFFF"/>
                </a:solidFill>
                <a:latin typeface="KoPubDotum"/>
                <a:ea typeface="KoPubDotum"/>
                <a:cs typeface="KoPubDotum"/>
              </a:rPr>
              <a:t>전·현직 과정 · 3차시</a:t>
            </a:r>
          </a:p>
        </p:txBody>
      </p:sp>
      <p:sp>
        <p:nvSpPr>
          <p:cNvPr id="5" name="강사용 상세 교안">
            <a:extLst xmlns:a="http://schemas.openxmlformats.org/drawingml/2006/main">
              <a:ext uri="{FF2B5EF4-FFF2-40B4-BE49-F238E27FC236}">
                <a16:creationId xmlns:a16="http://schemas.microsoft.com/office/drawing/2014/main" id="{ED51F43F-1157-48AE-9631-D05384660B9F}"/>
              </a:ext>
            </a:extLst>
          </p:cNvPr>
          <p:cNvSpPr>
            <a:spLocks xmlns:a="http://schemas.openxmlformats.org/drawingml/2006/main" noGrp="1"/>
          </p:cNvSpPr>
          <p:nvPr/>
        </p:nvSpPr>
        <p:spPr>
          <a:xfrm xmlns:a="http://schemas.openxmlformats.org/drawingml/2006/main">
            <a:off x="2857500" y="37147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FFFFFF"/>
                </a:solidFill>
                <a:latin typeface="KoPubDotum"/>
                <a:ea typeface="KoPubDotum"/>
                <a:cs typeface="KoPubDotum"/>
              </a:defRPr>
            </a:defPPr>
          </a:lstStyle>
          <a:p xmlns:a="http://schemas.openxmlformats.org/drawingml/2006/main">
            <a:pPr algn="ctr">
              <a:lnSpc>
                <a:spcPct val="116000"/>
              </a:lnSpc>
              <a:buNone/>
              <a:defRPr sz="2250" b="0">
                <a:solidFill>
                  <a:srgbClr val="FFFFFF"/>
                </a:solidFill>
                <a:latin typeface="KoPubDotum"/>
                <a:ea typeface="KoPubDotum"/>
                <a:cs typeface="KoPubDotum"/>
              </a:defRPr>
            </a:pPr>
            <a:r>
              <a:rPr sz="2250" b="0">
                <a:solidFill>
                  <a:srgbClr val="FFFFFF"/>
                </a:solidFill>
                <a:latin typeface="KoPubDotum"/>
                <a:ea typeface="KoPubDotum"/>
                <a:cs typeface="KoPubDotum"/>
              </a:rPr>
              <a:t>강사용 상세 교안</a:t>
            </a:r>
          </a:p>
        </p:txBody>
      </p:sp>
    </p:spTree>
    <p:extLst>
      <p:ext uri="{BB962C8B-B14F-4D97-AF65-F5344CB8AC3E}">
        <p14:creationId xmlns:p14="http://schemas.microsoft.com/office/powerpoint/2010/main" val="7588738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이번 연수에서 다룰 문제">
            <a:extLst xmlns:a="http://schemas.openxmlformats.org/drawingml/2006/main">
              <a:ext uri="{FF2B5EF4-FFF2-40B4-BE49-F238E27FC236}">
                <a16:creationId xmlns:a16="http://schemas.microsoft.com/office/drawing/2014/main" id="{B229F4D4-34E2-49C8-B1AC-C6B7E208C0C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이번 연수에서 다룰 문제</a:t>
            </a:r>
          </a:p>
        </p:txBody>
      </p:sp>
      <p:sp>
        <p:nvSpPr>
          <p:cNvPr id="2" name="2">
            <a:extLst xmlns:a="http://schemas.openxmlformats.org/drawingml/2006/main">
              <a:ext uri="{FF2B5EF4-FFF2-40B4-BE49-F238E27FC236}">
                <a16:creationId xmlns:a16="http://schemas.microsoft.com/office/drawing/2014/main" id="{D665B7D2-5CB3-4EDA-8927-D74A51B9DF68}"/>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a:t>
            </a:r>
          </a:p>
        </p:txBody>
      </p:sp>
      <p:sp>
        <p:nvSpPr>
          <p:cNvPr id="3" name="같은 로봇, 다른 과제">
            <a:extLst xmlns:a="http://schemas.openxmlformats.org/drawingml/2006/main">
              <a:ext uri="{FF2B5EF4-FFF2-40B4-BE49-F238E27FC236}">
                <a16:creationId xmlns:a16="http://schemas.microsoft.com/office/drawing/2014/main" id="{F3A14A8B-25E3-450C-8328-9CB6F08F1EAB}"/>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같은 로봇, 다른 과제</a:t>
            </a:r>
          </a:p>
        </p:txBody>
      </p:sp>
      <p:sp>
        <p:nvSpPr>
          <p:cNvPr id="4" name="초등에서는 멈추는 조건을 말하게 하고,&#10;중학교에서는 거리값">
            <a:extLst xmlns:a="http://schemas.openxmlformats.org/drawingml/2006/main">
              <a:ext uri="{FF2B5EF4-FFF2-40B4-BE49-F238E27FC236}">
                <a16:creationId xmlns:a16="http://schemas.microsoft.com/office/drawing/2014/main" id="{AD7958A8-2054-4850-A74C-EFAEB44616CC}"/>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초등에서는 멈추는 조건을 말하게 하고,</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중학교에서는 거리값으로 속도를 계산해 봅니다.</a:t>
            </a:r>
          </a:p>
        </p:txBody>
      </p:sp>
      <p:sp>
        <p:nvSpPr>
          <p:cNvPr id="5" name="블록에서 Python으로">
            <a:extLst xmlns:a="http://schemas.openxmlformats.org/drawingml/2006/main">
              <a:ext uri="{FF2B5EF4-FFF2-40B4-BE49-F238E27FC236}">
                <a16:creationId xmlns:a16="http://schemas.microsoft.com/office/drawing/2014/main" id="{7DDF1A0D-BD52-434D-935B-F52966B232D1}"/>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블록에서 Python으로</a:t>
            </a:r>
          </a:p>
        </p:txBody>
      </p:sp>
      <p:sp>
        <p:nvSpPr>
          <p:cNvPr id="6" name="거리센서로 정지하는 코드를 Python으로 옮깁니다.&#10;단위">
            <a:extLst xmlns:a="http://schemas.openxmlformats.org/drawingml/2006/main">
              <a:ext uri="{FF2B5EF4-FFF2-40B4-BE49-F238E27FC236}">
                <a16:creationId xmlns:a16="http://schemas.microsoft.com/office/drawing/2014/main" id="{101E4991-6DAF-4F3D-A622-E258FF50509A}"/>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거리센서로 정지하는 코드를 Python으로 옮깁니다.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단위와 들여쓰기, 반복해서 읽을 위치를 확인합니다.</a:t>
            </a:r>
          </a:p>
        </p:txBody>
      </p:sp>
      <p:sp>
        <p:nvSpPr>
          <p:cNvPr id="7" name="주행이 잘 안 될 때">
            <a:extLst xmlns:a="http://schemas.openxmlformats.org/drawingml/2006/main">
              <a:ext uri="{FF2B5EF4-FFF2-40B4-BE49-F238E27FC236}">
                <a16:creationId xmlns:a16="http://schemas.microsoft.com/office/drawing/2014/main" id="{27A9C925-F67D-46FA-BF8D-F04020AEDF85}"/>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주행이 잘 안 될 때</a:t>
            </a:r>
          </a:p>
        </p:txBody>
      </p:sp>
      <p:sp>
        <p:nvSpPr>
          <p:cNvPr id="8" name="반사광과 회전각을 기록하고 설정을 하나씩 바꿔 봅니다.&#10;학">
            <a:extLst xmlns:a="http://schemas.openxmlformats.org/drawingml/2006/main">
              <a:ext uri="{FF2B5EF4-FFF2-40B4-BE49-F238E27FC236}">
                <a16:creationId xmlns:a16="http://schemas.microsoft.com/office/drawing/2014/main" id="{DF33C2EE-A1B6-4FE3-B408-02DD6B5AAA3C}"/>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반사광과 회전각을 기록하고 설정을 하나씩 바꿔 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학생이 다음에 무엇을 시험할지 스스로 고르게 하는 질문을 준비합니다.</a:t>
            </a:r>
          </a:p>
        </p:txBody>
      </p:sp>
    </p:spTree>
    <p:extLst>
      <p:ext uri="{BB962C8B-B14F-4D97-AF65-F5344CB8AC3E}">
        <p14:creationId xmlns:p14="http://schemas.microsoft.com/office/powerpoint/2010/main" val="5428958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차시별 실습 일정">
            <a:extLst xmlns:a="http://schemas.openxmlformats.org/drawingml/2006/main">
              <a:ext uri="{FF2B5EF4-FFF2-40B4-BE49-F238E27FC236}">
                <a16:creationId xmlns:a16="http://schemas.microsoft.com/office/drawing/2014/main" id="{C4A77F42-868D-4C0C-875B-0443FCC88EA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차시별 실습 일정</a:t>
            </a:r>
          </a:p>
        </p:txBody>
      </p:sp>
      <p:sp>
        <p:nvSpPr>
          <p:cNvPr id="2" name="3">
            <a:extLst xmlns:a="http://schemas.openxmlformats.org/drawingml/2006/main">
              <a:ext uri="{FF2B5EF4-FFF2-40B4-BE49-F238E27FC236}">
                <a16:creationId xmlns:a16="http://schemas.microsoft.com/office/drawing/2014/main" id="{4B0C297D-1C32-4EBC-9181-B06B39665E18}"/>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a:t>
            </a:r>
          </a:p>
        </p:txBody>
      </p:sp>
      <p:graphicFrame>
        <p:nvGraphicFramePr>
          <p:cNvPr id="3" name="">
            <a:extLst xmlns:a="http://schemas.openxmlformats.org/drawingml/2006/main">
              <a:ext uri="{FF2B5EF4-FFF2-40B4-BE49-F238E27FC236}">
                <a16:creationId xmlns:a16="http://schemas.microsoft.com/office/drawing/2014/main" id="{614C173B-B801-484A-BD1F-A51C23DAD67C}"/>
              </a:ext>
            </a:extLst>
          </p:cNvPr>
          <p:cNvGraphicFramePr/>
          <p:nvPr/>
        </p:nvGraphicFramePr>
        <p:xfrm>
          <a:off xmlns:a="http://schemas.openxmlformats.org/drawingml/2006/main" x="476250" y="1981200"/>
          <a:ext xmlns:a="http://schemas.openxmlformats.org/drawingml/2006/main" cx="9739313" cy="25908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차시</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주요 실습</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시간 배분(분)</a:t>
                      </a:r>
                    </a:p>
                  </a:txBody>
                  <a:tcPr marL="91440" marR="91440" marT="45720" marB="45720" anchor="ctr">
                    <a:solidFill>
                      <a:srgbClr val="F7972B"/>
                    </a:solidFill>
                  </a:tcPr>
                </a:tc>
              </a:tr>
              <a:tr h="711200">
                <a:tc>
                  <a:txBody>
                    <a:bodyPr lIns="133350" tIns="114300" rIns="114300" bIns="76200">
                      <a:noAutofit/>
                    </a:bodyPr>
                    <a:lstStyle/>
                    <a:p>
                      <a:r>
                        <a:rPr sz="1725" b="0">
                          <a:solidFill>
                            <a:srgbClr val="292929"/>
                          </a:solidFill>
                          <a:latin typeface="KoPubDotum"/>
                          <a:ea typeface="KoPubDotum"/>
                          <a:cs typeface="KoPubDotum"/>
                        </a:rPr>
                        <a:t>1차시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센서 조건과 학년별 과제</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작동 5, 센서 15, 복합 조건 15</a:t>
                      </a:r>
                    </a:p>
                    <a:p>
                      <a:r>
                        <a:rPr sz="1725" b="0">
                          <a:solidFill>
                            <a:srgbClr val="292929"/>
                          </a:solidFill>
                          <a:latin typeface="KoPubDotum"/>
                          <a:ea typeface="KoPubDotum"/>
                          <a:cs typeface="KoPubDotum"/>
                        </a:rPr>
                        <a:t>학년별 과제 10, 점검 5</a:t>
                      </a:r>
                    </a:p>
                  </a:txBody>
                  <a:tcPr marL="91440" marR="91440" marT="45720" marB="45720" anchor="ctr">
                    <a:solidFill>
                      <a:srgbClr val="FFFFFF"/>
                    </a:solidFill>
                  </a:tcPr>
                </a:tc>
              </a:tr>
              <a:tr h="711200">
                <a:tc>
                  <a:txBody>
                    <a:bodyPr lIns="133350" tIns="114300" rIns="114300" bIns="76200">
                      <a:noAutofit/>
                    </a:bodyPr>
                    <a:lstStyle/>
                    <a:p>
                      <a:r>
                        <a:rPr sz="1725" b="0">
                          <a:solidFill>
                            <a:srgbClr val="292929"/>
                          </a:solidFill>
                          <a:latin typeface="KoPubDotum"/>
                          <a:ea typeface="KoPubDotum"/>
                          <a:cs typeface="KoPubDotum"/>
                        </a:rPr>
                        <a:t>2차시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블록에서 Python으로</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코드 비교 8, API·단위 7, 코딩 20</a:t>
                      </a:r>
                    </a:p>
                    <a:p>
                      <a:r>
                        <a:rPr sz="1725" b="0">
                          <a:solidFill>
                            <a:srgbClr val="292929"/>
                          </a:solidFill>
                          <a:latin typeface="KoPubDotum"/>
                          <a:ea typeface="KoPubDotum"/>
                          <a:cs typeface="KoPubDotum"/>
                        </a:rPr>
                        <a:t>AI로 오류 찾기 10, 점검 5</a:t>
                      </a:r>
                    </a:p>
                  </a:txBody>
                  <a:tcPr marL="91440" marR="91440" marT="45720" marB="45720" anchor="ctr">
                    <a:solidFill>
                      <a:srgbClr val="FFFFFF"/>
                    </a:solidFill>
                  </a:tcPr>
                </a:tc>
              </a:tr>
              <a:tr h="711200">
                <a:tc>
                  <a:txBody>
                    <a:bodyPr lIns="133350" tIns="114300" rIns="114300" bIns="76200">
                      <a:noAutofit/>
                    </a:bodyPr>
                    <a:lstStyle/>
                    <a:p>
                      <a:r>
                        <a:rPr sz="1725" b="0">
                          <a:solidFill>
                            <a:srgbClr val="292929"/>
                          </a:solidFill>
                          <a:latin typeface="KoPubDotum"/>
                          <a:ea typeface="KoPubDotum"/>
                          <a:cs typeface="KoPubDotum"/>
                        </a:rPr>
                        <a:t>3차시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라인 주행과 문제 해결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반사광 8, P 제어 15, 자이로·통합 10</a:t>
                      </a:r>
                    </a:p>
                    <a:p>
                      <a:r>
                        <a:rPr sz="1725" b="0">
                          <a:solidFill>
                            <a:srgbClr val="292929"/>
                          </a:solidFill>
                          <a:latin typeface="KoPubDotum"/>
                          <a:ea typeface="KoPubDotum"/>
                          <a:cs typeface="KoPubDotum"/>
                        </a:rPr>
                        <a:t>오류·학생 질문 12, 평가 5</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6805660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755248-2224-483A-925C-0065B4B4B675}"/>
              </a:ext>
            </a:extLst>
          </p:cNvPr>
          <p:cNvSpPr>
            <a:spLocks xmlns:a="http://schemas.openxmlformats.org/drawingml/2006/main" noGrp="1"/>
          </p:cNvSpPr>
          <p:nvPr/>
        </p:nvSpPr>
        <p:spPr>
          <a:xfrm xmlns:a="http://schemas.openxmlformats.org/drawingml/2006/main">
            <a:off x="742950" y="1381125"/>
            <a:ext cx="2095500" cy="495300"/>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2" name="1차시">
            <a:extLst xmlns:a="http://schemas.openxmlformats.org/drawingml/2006/main">
              <a:ext uri="{FF2B5EF4-FFF2-40B4-BE49-F238E27FC236}">
                <a16:creationId xmlns:a16="http://schemas.microsoft.com/office/drawing/2014/main" id="{EE8286E2-789E-41AD-AF9C-DFAD87CABE83}"/>
              </a:ext>
            </a:extLst>
          </p:cNvPr>
          <p:cNvSpPr>
            <a:spLocks xmlns:a="http://schemas.openxmlformats.org/drawingml/2006/main" noGrp="1"/>
          </p:cNvSpPr>
          <p:nvPr/>
        </p:nvSpPr>
        <p:spPr>
          <a:xfrm xmlns:a="http://schemas.openxmlformats.org/drawingml/2006/main">
            <a:off x="819150" y="146685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KoPubDotum"/>
                <a:ea typeface="KoPubDotum"/>
                <a:cs typeface="KoPubDotum"/>
              </a:defRPr>
            </a:defPPr>
          </a:lstStyle>
          <a:p xmlns:a="http://schemas.openxmlformats.org/drawingml/2006/main">
            <a:pPr algn="ctr">
              <a:lnSpc>
                <a:spcPct val="116000"/>
              </a:lnSpc>
              <a:buNone/>
              <a:defRPr sz="2175" b="1">
                <a:solidFill>
                  <a:srgbClr val="FFFFFF"/>
                </a:solidFill>
                <a:latin typeface="KoPubDotum"/>
                <a:ea typeface="KoPubDotum"/>
                <a:cs typeface="KoPubDotum"/>
              </a:defRPr>
            </a:pPr>
            <a:r>
              <a:rPr sz="2175" b="1">
                <a:solidFill>
                  <a:srgbClr val="FFFFFF"/>
                </a:solidFill>
                <a:latin typeface="KoPubDotum"/>
                <a:ea typeface="KoPubDotum"/>
                <a:cs typeface="KoPubDotum"/>
              </a:rPr>
              <a:t>1차시</a:t>
            </a:r>
          </a:p>
        </p:txBody>
      </p:sp>
      <p:sp>
        <p:nvSpPr>
          <p:cNvPr id="3" name="센서 조건과&#10;학년별 실습 과제">
            <a:extLst xmlns:a="http://schemas.openxmlformats.org/drawingml/2006/main">
              <a:ext uri="{FF2B5EF4-FFF2-40B4-BE49-F238E27FC236}">
                <a16:creationId xmlns:a16="http://schemas.microsoft.com/office/drawing/2014/main" id="{F3441C1C-D9D5-45E8-AE1E-F932470A703B}"/>
              </a:ext>
            </a:extLst>
          </p:cNvPr>
          <p:cNvSpPr>
            <a:spLocks xmlns:a="http://schemas.openxmlformats.org/drawingml/2006/main" noGrp="1"/>
          </p:cNvSpPr>
          <p:nvPr/>
        </p:nvSpPr>
        <p:spPr>
          <a:xfrm xmlns:a="http://schemas.openxmlformats.org/drawingml/2006/main">
            <a:off x="781050" y="2257425"/>
            <a:ext cx="8953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2929"/>
                </a:solidFill>
                <a:latin typeface="KoPubDotum"/>
                <a:ea typeface="KoPubDotum"/>
                <a:cs typeface="KoPubDotum"/>
              </a:defRPr>
            </a:defPPr>
          </a:lstStyle>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센서 조건과</a:t>
            </a:r>
          </a:p>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학년별 실습 과제</a:t>
            </a:r>
          </a:p>
        </p:txBody>
      </p:sp>
      <p:sp>
        <p:nvSpPr>
          <p:cNvPr id="4" name="">
            <a:extLst xmlns:a="http://schemas.openxmlformats.org/drawingml/2006/main">
              <a:ext uri="{FF2B5EF4-FFF2-40B4-BE49-F238E27FC236}">
                <a16:creationId xmlns:a16="http://schemas.microsoft.com/office/drawing/2014/main" id="{7EE16061-E3F0-44C6-9978-595F3619C0FD}"/>
              </a:ext>
            </a:extLst>
          </p:cNvPr>
          <p:cNvSpPr>
            <a:spLocks xmlns:a="http://schemas.openxmlformats.org/drawingml/2006/main" noGrp="1"/>
          </p:cNvSpPr>
          <p:nvPr/>
        </p:nvSpPr>
        <p:spPr>
          <a:xfrm xmlns:a="http://schemas.openxmlformats.org/drawingml/2006/main">
            <a:off x="742950" y="4191000"/>
            <a:ext cx="2095500" cy="485775"/>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5" name="학습 목표">
            <a:extLst xmlns:a="http://schemas.openxmlformats.org/drawingml/2006/main">
              <a:ext uri="{FF2B5EF4-FFF2-40B4-BE49-F238E27FC236}">
                <a16:creationId xmlns:a16="http://schemas.microsoft.com/office/drawing/2014/main" id="{31AD9545-F929-4C4D-918B-84FE2458DD36}"/>
              </a:ext>
            </a:extLst>
          </p:cNvPr>
          <p:cNvSpPr>
            <a:spLocks xmlns:a="http://schemas.openxmlformats.org/drawingml/2006/main" noGrp="1"/>
          </p:cNvSpPr>
          <p:nvPr/>
        </p:nvSpPr>
        <p:spPr>
          <a:xfrm xmlns:a="http://schemas.openxmlformats.org/drawingml/2006/main">
            <a:off x="838200" y="42767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FFFFF"/>
                </a:solidFill>
                <a:latin typeface="KoPubDotum"/>
                <a:ea typeface="KoPubDotum"/>
                <a:cs typeface="KoPubDotum"/>
              </a:defRPr>
            </a:defPPr>
          </a:lstStyle>
          <a:p xmlns:a="http://schemas.openxmlformats.org/drawingml/2006/main">
            <a:pPr algn="ctr">
              <a:lnSpc>
                <a:spcPct val="116000"/>
              </a:lnSpc>
              <a:buNone/>
              <a:defRPr sz="2100" b="1">
                <a:solidFill>
                  <a:srgbClr val="FFFFFF"/>
                </a:solidFill>
                <a:latin typeface="KoPubDotum"/>
                <a:ea typeface="KoPubDotum"/>
                <a:cs typeface="KoPubDotum"/>
              </a:defRPr>
            </a:pPr>
            <a:r>
              <a:rPr sz="2100" b="1">
                <a:solidFill>
                  <a:srgbClr val="FFFFFF"/>
                </a:solidFill>
                <a:latin typeface="KoPubDotum"/>
                <a:ea typeface="KoPubDotum"/>
                <a:cs typeface="KoPubDotum"/>
              </a:rPr>
              <a:t>학습 목표</a:t>
            </a:r>
          </a:p>
        </p:txBody>
      </p:sp>
      <p:sp>
        <p:nvSpPr>
          <p:cNvPr id="6" name="1. 센서가 동시에 반응할 때 정지 조건을 먼저 처리합니다">
            <a:extLst xmlns:a="http://schemas.openxmlformats.org/drawingml/2006/main">
              <a:ext uri="{FF2B5EF4-FFF2-40B4-BE49-F238E27FC236}">
                <a16:creationId xmlns:a16="http://schemas.microsoft.com/office/drawing/2014/main" id="{FF5C6275-CFC9-48DD-8582-18538EDB664D}"/>
              </a:ext>
            </a:extLst>
          </p:cNvPr>
          <p:cNvSpPr>
            <a:spLocks xmlns:a="http://schemas.openxmlformats.org/drawingml/2006/main" noGrp="1"/>
          </p:cNvSpPr>
          <p:nvPr/>
        </p:nvSpPr>
        <p:spPr>
          <a:xfrm xmlns:a="http://schemas.openxmlformats.org/drawingml/2006/main">
            <a:off x="3381375" y="4171950"/>
            <a:ext cx="6334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92929"/>
                </a:solidFill>
                <a:latin typeface="KoPubDotum"/>
                <a:ea typeface="KoPubDotum"/>
                <a:cs typeface="KoPubDotum"/>
              </a:defRPr>
            </a:defPPr>
          </a:lstStyle>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1. 센서가 동시에 반응할 때 정지 조건을 먼저 처리합니다.</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2. 학년에 맞게 조건 비교와 속도 계산 과제를 정합니다.</a:t>
            </a:r>
          </a:p>
        </p:txBody>
      </p:sp>
      <p:sp>
        <p:nvSpPr>
          <p:cNvPr id="7" name="센서 조건 시험과 학년별 과제 작성 50분">
            <a:extLst xmlns:a="http://schemas.openxmlformats.org/drawingml/2006/main">
              <a:ext uri="{FF2B5EF4-FFF2-40B4-BE49-F238E27FC236}">
                <a16:creationId xmlns:a16="http://schemas.microsoft.com/office/drawing/2014/main" id="{1404EAE8-0061-4280-8D0F-EA889AB24716}"/>
              </a:ext>
            </a:extLst>
          </p:cNvPr>
          <p:cNvSpPr>
            <a:spLocks xmlns:a="http://schemas.openxmlformats.org/drawingml/2006/main" noGrp="1"/>
          </p:cNvSpPr>
          <p:nvPr/>
        </p:nvSpPr>
        <p:spPr>
          <a:xfrm xmlns:a="http://schemas.openxmlformats.org/drawingml/2006/main">
            <a:off x="3381375" y="5810250"/>
            <a:ext cx="633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센서 조건 시험과 학년별 과제 작성 50분</a:t>
            </a:r>
          </a:p>
        </p:txBody>
      </p:sp>
    </p:spTree>
    <p:extLst>
      <p:ext uri="{BB962C8B-B14F-4D97-AF65-F5344CB8AC3E}">
        <p14:creationId xmlns:p14="http://schemas.microsoft.com/office/powerpoint/2010/main" val="166257583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시작 전 5분 점검">
            <a:extLst xmlns:a="http://schemas.openxmlformats.org/drawingml/2006/main">
              <a:ext uri="{FF2B5EF4-FFF2-40B4-BE49-F238E27FC236}">
                <a16:creationId xmlns:a16="http://schemas.microsoft.com/office/drawing/2014/main" id="{0A944E40-015C-40E6-A0C3-579330EC654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시작 전 5분 점검</a:t>
            </a:r>
          </a:p>
        </p:txBody>
      </p:sp>
      <p:sp>
        <p:nvSpPr>
          <p:cNvPr id="2" name="5">
            <a:extLst xmlns:a="http://schemas.openxmlformats.org/drawingml/2006/main">
              <a:ext uri="{FF2B5EF4-FFF2-40B4-BE49-F238E27FC236}">
                <a16:creationId xmlns:a16="http://schemas.microsoft.com/office/drawing/2014/main" id="{7F151CBD-7644-4BD3-9C3A-ED88F06B0A00}"/>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5</a:t>
            </a:r>
          </a:p>
        </p:txBody>
      </p:sp>
      <p:graphicFrame>
        <p:nvGraphicFramePr>
          <p:cNvPr id="3" name="">
            <a:extLst xmlns:a="http://schemas.openxmlformats.org/drawingml/2006/main">
              <a:ext uri="{FF2B5EF4-FFF2-40B4-BE49-F238E27FC236}">
                <a16:creationId xmlns:a16="http://schemas.microsoft.com/office/drawing/2014/main" id="{C2B3726E-114F-4DF9-9521-4512CB236D53}"/>
              </a:ext>
            </a:extLst>
          </p:cNvPr>
          <p:cNvGraphicFramePr/>
          <p:nvPr/>
        </p:nvGraphicFramePr>
        <p:xfrm>
          <a:off xmlns:a="http://schemas.openxmlformats.org/drawingml/2006/main" x="476250" y="1981200"/>
          <a:ext xmlns:a="http://schemas.openxmlformats.org/drawingml/2006/main" cx="9739313" cy="32385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대상</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확인</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기준</a:t>
                      </a:r>
                    </a:p>
                  </a:txBody>
                  <a:tcPr marL="91440" marR="91440" marT="45720" marB="45720" anchor="ctr">
                    <a:solidFill>
                      <a:srgbClr val="F7972B"/>
                    </a:solidFill>
                  </a:tcPr>
                </a:tc>
              </a:tr>
              <a:tr h="695325">
                <a:tc>
                  <a:txBody>
                    <a:bodyPr lIns="133350" tIns="114300" rIns="114300" bIns="76200">
                      <a:noAutofit/>
                    </a:bodyPr>
                    <a:lstStyle/>
                    <a:p>
                      <a:r>
                        <a:rPr sz="1725" b="0">
                          <a:solidFill>
                            <a:srgbClr val="292929"/>
                          </a:solidFill>
                          <a:latin typeface="KoPubDotum"/>
                          <a:ea typeface="KoPubDotum"/>
                          <a:cs typeface="KoPubDotum"/>
                        </a:rPr>
                        <a:t>드라이빙 베이스</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Hub 앞 방향, 바퀴·케이블 간섭</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짧은 직진·정지</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포트</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왼쪽 A / 오른쪽 E / 거리 B / 힘 C / 컬러 D</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코드와 실제 배선 일치</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센서값</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손·표면·차체 회전에 따른 변화</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정지 상태에서 먼저 관찰</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저장·정지</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프로젝트 다운로드 / 정지 위치</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다시 열기와 즉시 정지 가능</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8446621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센서별로 읽을 값">
            <a:extLst xmlns:a="http://schemas.openxmlformats.org/drawingml/2006/main">
              <a:ext uri="{FF2B5EF4-FFF2-40B4-BE49-F238E27FC236}">
                <a16:creationId xmlns:a16="http://schemas.microsoft.com/office/drawing/2014/main" id="{530E4AFE-A230-485C-B3B8-3E4C91ACD2C0}"/>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센서별로 읽을 값</a:t>
            </a:r>
          </a:p>
        </p:txBody>
      </p:sp>
      <p:sp>
        <p:nvSpPr>
          <p:cNvPr id="2" name="6">
            <a:extLst xmlns:a="http://schemas.openxmlformats.org/drawingml/2006/main">
              <a:ext uri="{FF2B5EF4-FFF2-40B4-BE49-F238E27FC236}">
                <a16:creationId xmlns:a16="http://schemas.microsoft.com/office/drawing/2014/main" id="{CDDF2F5B-8D24-42DD-9020-8D3584C7EFA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6</a:t>
            </a:r>
          </a:p>
        </p:txBody>
      </p:sp>
      <p:graphicFrame>
        <p:nvGraphicFramePr>
          <p:cNvPr id="3" name="">
            <a:extLst xmlns:a="http://schemas.openxmlformats.org/drawingml/2006/main">
              <a:ext uri="{FF2B5EF4-FFF2-40B4-BE49-F238E27FC236}">
                <a16:creationId xmlns:a16="http://schemas.microsoft.com/office/drawing/2014/main" id="{D98D176C-0889-4100-82B3-B12B6D22C2AE}"/>
              </a:ext>
            </a:extLst>
          </p:cNvPr>
          <p:cNvGraphicFramePr/>
          <p:nvPr/>
        </p:nvGraphicFramePr>
        <p:xfrm>
          <a:off xmlns:a="http://schemas.openxmlformats.org/drawingml/2006/main" x="476250" y="1981200"/>
          <a:ext xmlns:a="http://schemas.openxmlformats.org/drawingml/2006/main" cx="9739313" cy="32385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센서</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읽을 값</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수업 조건</a:t>
                      </a:r>
                    </a:p>
                  </a:txBody>
                  <a:tcPr marL="91440" marR="91440" marT="45720" marB="45720" anchor="ctr">
                    <a:solidFill>
                      <a:srgbClr val="F7972B"/>
                    </a:solidFill>
                  </a:tcPr>
                </a:tc>
              </a:tr>
              <a:tr h="695325">
                <a:tc>
                  <a:txBody>
                    <a:bodyPr lIns="133350" tIns="114300" rIns="114300" bIns="76200">
                      <a:noAutofit/>
                    </a:bodyPr>
                    <a:lstStyle/>
                    <a:p>
                      <a:r>
                        <a:rPr sz="1725" b="0">
                          <a:solidFill>
                            <a:srgbClr val="292929"/>
                          </a:solidFill>
                          <a:latin typeface="KoPubDotum"/>
                          <a:ea typeface="KoPubDotum"/>
                          <a:cs typeface="KoPubDotum"/>
                        </a:rPr>
                        <a:t>힘 C</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눌림 / 힘의 크기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눌렀다 놓을 때 상태 변경</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거리 B</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거리, 측정 불가</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20cm보다 가까우면 정지</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컬러 D</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색상 / 반사광 0~100</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검정 정지 / 기준 반사광 비교</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Hub 자이로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방향각, 부호, 기준 방향</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목표각과 실제각 오차 비교</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915508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센서값과 조건 블록">
            <a:extLst xmlns:a="http://schemas.openxmlformats.org/drawingml/2006/main">
              <a:ext uri="{FF2B5EF4-FFF2-40B4-BE49-F238E27FC236}">
                <a16:creationId xmlns:a16="http://schemas.microsoft.com/office/drawing/2014/main" id="{324470EF-9060-4BF9-B163-DD3155AA621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센서값과 조건 블록</a:t>
            </a:r>
          </a:p>
        </p:txBody>
      </p:sp>
      <p:sp>
        <p:nvSpPr>
          <p:cNvPr id="2" name="7">
            <a:extLst xmlns:a="http://schemas.openxmlformats.org/drawingml/2006/main">
              <a:ext uri="{FF2B5EF4-FFF2-40B4-BE49-F238E27FC236}">
                <a16:creationId xmlns:a16="http://schemas.microsoft.com/office/drawing/2014/main" id="{966BA6A9-3370-4E5D-8D5D-88CDFFF56F4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7</a:t>
            </a:r>
          </a:p>
        </p:txBody>
      </p:sp>
      <p:pic>
        <p:nvPicPr>
          <p:cNvPr id="3" name="">
            <a:extLst xmlns:a="http://schemas.openxmlformats.org/drawingml/2006/main">
              <a:ext uri="{FF2B5EF4-FFF2-40B4-BE49-F238E27FC236}">
                <a16:creationId xmlns:a16="http://schemas.microsoft.com/office/drawing/2014/main" id="{2EC70D4B-4D3F-404D-8BA7-A2163F3587AA}"/>
              </a:ext>
            </a:extLst>
          </p:cNvPr>
          <p:cNvPicPr>
            <a:picLocks xmlns:a="http://schemas.openxmlformats.org/drawingml/2006/main" noChangeAspect="1"/>
          </p:cNvPicPr>
          <p:nvPr/>
        </p:nvPicPr>
        <p:blipFill>
          <a:blip xmlns:r="http://schemas.openxmlformats.org/officeDocument/2006/relationships" xmlns:a="http://schemas.openxmlformats.org/drawingml/2006/main" r:embed="R2efea65b0a4e4f21"/>
          <a:stretch xmlns:a="http://schemas.openxmlformats.org/drawingml/2006/main"/>
        </p:blipFill>
        <p:spPr>
          <a:xfrm xmlns:a="http://schemas.openxmlformats.org/drawingml/2006/main">
            <a:off x="476250" y="2095500"/>
            <a:ext cx="4619625" cy="4672121"/>
          </a:xfrm>
          <a:prstGeom xmlns:a="http://schemas.openxmlformats.org/drawingml/2006/main" prst="rect">
            <a:avLst/>
          </a:prstGeom>
        </p:spPr>
      </p:pic>
      <p:sp>
        <p:nvSpPr>
          <p:cNvPr id="4" name="센서에서 읽는 값">
            <a:extLst xmlns:a="http://schemas.openxmlformats.org/drawingml/2006/main">
              <a:ext uri="{FF2B5EF4-FFF2-40B4-BE49-F238E27FC236}">
                <a16:creationId xmlns:a16="http://schemas.microsoft.com/office/drawing/2014/main" id="{88A8C152-7A94-4BFB-B1F0-D5DCEDB2B0FC}"/>
              </a:ext>
            </a:extLst>
          </p:cNvPr>
          <p:cNvSpPr>
            <a:spLocks xmlns:a="http://schemas.openxmlformats.org/drawingml/2006/main" noGrp="1"/>
          </p:cNvSpPr>
          <p:nvPr/>
        </p:nvSpPr>
        <p:spPr>
          <a:xfrm xmlns:a="http://schemas.openxmlformats.org/drawingml/2006/main">
            <a:off x="5524500" y="2190750"/>
            <a:ext cx="466725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센서에서 읽는 값</a:t>
            </a:r>
          </a:p>
        </p:txBody>
      </p:sp>
      <p:sp>
        <p:nvSpPr>
          <p:cNvPr id="5" name="거리 B: cm 단위 거리&#10;힘 C: 눌림 여부&#10;컬러 D: ">
            <a:extLst xmlns:a="http://schemas.openxmlformats.org/drawingml/2006/main">
              <a:ext uri="{FF2B5EF4-FFF2-40B4-BE49-F238E27FC236}">
                <a16:creationId xmlns:a16="http://schemas.microsoft.com/office/drawing/2014/main" id="{AEF06497-D7DD-48EC-88F7-99B5142E323B}"/>
              </a:ext>
            </a:extLst>
          </p:cNvPr>
          <p:cNvSpPr>
            <a:spLocks xmlns:a="http://schemas.openxmlformats.org/drawingml/2006/main" noGrp="1"/>
          </p:cNvSpPr>
          <p:nvPr/>
        </p:nvSpPr>
        <p:spPr>
          <a:xfrm xmlns:a="http://schemas.openxmlformats.org/drawingml/2006/main">
            <a:off x="5524500" y="2602230"/>
            <a:ext cx="4667250"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거리 B: cm 단위 거리</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힘 C: 눌림 여부</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컬러 D: 색상과 반사광</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Hub: 요 각도</a:t>
            </a:r>
          </a:p>
        </p:txBody>
      </p:sp>
      <p:sp>
        <p:nvSpPr>
          <p:cNvPr id="6" name="블록에서 바꿀 것">
            <a:extLst xmlns:a="http://schemas.openxmlformats.org/drawingml/2006/main">
              <a:ext uri="{FF2B5EF4-FFF2-40B4-BE49-F238E27FC236}">
                <a16:creationId xmlns:a16="http://schemas.microsoft.com/office/drawing/2014/main" id="{3DB6B35B-9A92-4C02-9281-DA6F9E7384F2}"/>
              </a:ext>
            </a:extLst>
          </p:cNvPr>
          <p:cNvSpPr>
            <a:spLocks xmlns:a="http://schemas.openxmlformats.org/drawingml/2006/main" noGrp="1"/>
          </p:cNvSpPr>
          <p:nvPr/>
        </p:nvSpPr>
        <p:spPr>
          <a:xfrm xmlns:a="http://schemas.openxmlformats.org/drawingml/2006/main">
            <a:off x="5524500" y="4132326"/>
            <a:ext cx="466725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블록에서 바꿀 것</a:t>
            </a:r>
          </a:p>
        </p:txBody>
      </p:sp>
      <p:sp>
        <p:nvSpPr>
          <p:cNvPr id="7" name="거리 B, 힘 C, 컬러 D를 고르고&#10;거리 단위는 cm로 ">
            <a:extLst xmlns:a="http://schemas.openxmlformats.org/drawingml/2006/main">
              <a:ext uri="{FF2B5EF4-FFF2-40B4-BE49-F238E27FC236}">
                <a16:creationId xmlns:a16="http://schemas.microsoft.com/office/drawing/2014/main" id="{84DF8779-F188-4A04-857D-0AA39A48700A}"/>
              </a:ext>
            </a:extLst>
          </p:cNvPr>
          <p:cNvSpPr>
            <a:spLocks xmlns:a="http://schemas.openxmlformats.org/drawingml/2006/main" noGrp="1"/>
          </p:cNvSpPr>
          <p:nvPr/>
        </p:nvSpPr>
        <p:spPr>
          <a:xfrm xmlns:a="http://schemas.openxmlformats.org/drawingml/2006/main">
            <a:off x="5524500" y="4543806"/>
            <a:ext cx="466725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거리 B, 힘 C, 컬러 D를 고르고</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거리 단위는 cm로 맞춥니다.</a:t>
            </a:r>
          </a:p>
        </p:txBody>
      </p:sp>
    </p:spTree>
    <p:extLst>
      <p:ext uri="{BB962C8B-B14F-4D97-AF65-F5344CB8AC3E}">
        <p14:creationId xmlns:p14="http://schemas.microsoft.com/office/powerpoint/2010/main" val="61402780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누를 때마다 출발·정지">
            <a:extLst xmlns:a="http://schemas.openxmlformats.org/drawingml/2006/main">
              <a:ext uri="{FF2B5EF4-FFF2-40B4-BE49-F238E27FC236}">
                <a16:creationId xmlns:a16="http://schemas.microsoft.com/office/drawing/2014/main" id="{E2989A1D-DB1C-4589-8F03-F7951B91F69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누를 때마다 출발·정지</a:t>
            </a:r>
          </a:p>
        </p:txBody>
      </p:sp>
      <p:sp>
        <p:nvSpPr>
          <p:cNvPr id="2" name="8">
            <a:extLst xmlns:a="http://schemas.openxmlformats.org/drawingml/2006/main">
              <a:ext uri="{FF2B5EF4-FFF2-40B4-BE49-F238E27FC236}">
                <a16:creationId xmlns:a16="http://schemas.microsoft.com/office/drawing/2014/main" id="{A64B3DC7-EBAD-46E9-9911-2E09E529D118}"/>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8</a:t>
            </a:r>
          </a:p>
        </p:txBody>
      </p:sp>
      <p:pic>
        <p:nvPicPr>
          <p:cNvPr id="3" name="">
            <a:extLst xmlns:a="http://schemas.openxmlformats.org/drawingml/2006/main">
              <a:ext uri="{FF2B5EF4-FFF2-40B4-BE49-F238E27FC236}">
                <a16:creationId xmlns:a16="http://schemas.microsoft.com/office/drawing/2014/main" id="{0B789095-BB61-4C70-A1BC-16D3A2244990}"/>
              </a:ext>
            </a:extLst>
          </p:cNvPr>
          <p:cNvPicPr>
            <a:picLocks xmlns:a="http://schemas.openxmlformats.org/drawingml/2006/main" noChangeAspect="1"/>
          </p:cNvPicPr>
          <p:nvPr/>
        </p:nvPicPr>
        <p:blipFill>
          <a:blip xmlns:r="http://schemas.openxmlformats.org/officeDocument/2006/relationships" xmlns:a="http://schemas.openxmlformats.org/drawingml/2006/main" r:embed="R58f50b29c2bb435f"/>
          <a:stretch xmlns:a="http://schemas.openxmlformats.org/drawingml/2006/main"/>
        </p:blipFill>
        <p:spPr>
          <a:xfrm xmlns:a="http://schemas.openxmlformats.org/drawingml/2006/main">
            <a:off x="476250" y="2047875"/>
            <a:ext cx="4267062" cy="5000625"/>
          </a:xfrm>
          <a:prstGeom xmlns:a="http://schemas.openxmlformats.org/drawingml/2006/main" prst="rect">
            <a:avLst/>
          </a:prstGeom>
        </p:spPr>
      </p:pic>
      <p:sp>
        <p:nvSpPr>
          <p:cNvPr id="4" name="한 번 누르면 한 번만">
            <a:extLst xmlns:a="http://schemas.openxmlformats.org/drawingml/2006/main">
              <a:ext uri="{FF2B5EF4-FFF2-40B4-BE49-F238E27FC236}">
                <a16:creationId xmlns:a16="http://schemas.microsoft.com/office/drawing/2014/main" id="{8E5062F2-F26F-4EA2-8EE0-C53D7DB8F2AF}"/>
              </a:ext>
            </a:extLst>
          </p:cNvPr>
          <p:cNvSpPr>
            <a:spLocks xmlns:a="http://schemas.openxmlformats.org/drawingml/2006/main" noGrp="1"/>
          </p:cNvSpPr>
          <p:nvPr/>
        </p:nvSpPr>
        <p:spPr>
          <a:xfrm xmlns:a="http://schemas.openxmlformats.org/drawingml/2006/main">
            <a:off x="5124312" y="2190750"/>
            <a:ext cx="509125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한 번 누르면 한 번만</a:t>
            </a:r>
          </a:p>
        </p:txBody>
      </p:sp>
      <p:sp>
        <p:nvSpPr>
          <p:cNvPr id="5" name="길게 누르고 있어도 상태가&#10;여러 번 바뀌지 않아야 합니다.">
            <a:extLst xmlns:a="http://schemas.openxmlformats.org/drawingml/2006/main">
              <a:ext uri="{FF2B5EF4-FFF2-40B4-BE49-F238E27FC236}">
                <a16:creationId xmlns:a16="http://schemas.microsoft.com/office/drawing/2014/main" id="{EF72C557-2613-4F91-8F76-12C628019406}"/>
              </a:ext>
            </a:extLst>
          </p:cNvPr>
          <p:cNvSpPr>
            <a:spLocks xmlns:a="http://schemas.openxmlformats.org/drawingml/2006/main" noGrp="1"/>
          </p:cNvSpPr>
          <p:nvPr/>
        </p:nvSpPr>
        <p:spPr>
          <a:xfrm xmlns:a="http://schemas.openxmlformats.org/drawingml/2006/main">
            <a:off x="5124312" y="2602230"/>
            <a:ext cx="5091251"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길게 누르고 있어도 상태가</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여러 번 바뀌지 않아야 합니다.</a:t>
            </a:r>
          </a:p>
        </p:txBody>
      </p:sp>
      <p:sp>
        <p:nvSpPr>
          <p:cNvPr id="6" name="손을 뗄 때까지 기다리기">
            <a:extLst xmlns:a="http://schemas.openxmlformats.org/drawingml/2006/main">
              <a:ext uri="{FF2B5EF4-FFF2-40B4-BE49-F238E27FC236}">
                <a16:creationId xmlns:a16="http://schemas.microsoft.com/office/drawing/2014/main" id="{1FDB5318-6692-4C4E-A7C1-56AF63F974CE}"/>
              </a:ext>
            </a:extLst>
          </p:cNvPr>
          <p:cNvSpPr>
            <a:spLocks xmlns:a="http://schemas.openxmlformats.org/drawingml/2006/main" noGrp="1"/>
          </p:cNvSpPr>
          <p:nvPr/>
        </p:nvSpPr>
        <p:spPr>
          <a:xfrm xmlns:a="http://schemas.openxmlformats.org/drawingml/2006/main">
            <a:off x="5124312" y="3500628"/>
            <a:ext cx="509125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손을 뗄 때까지 기다리기</a:t>
            </a:r>
          </a:p>
        </p:txBody>
      </p:sp>
      <p:sp>
        <p:nvSpPr>
          <p:cNvPr id="7" name="누른 뒤 손을 떼야 다음 누름을 받습니다.&#10;짧게 누를 때와">
            <a:extLst xmlns:a="http://schemas.openxmlformats.org/drawingml/2006/main">
              <a:ext uri="{FF2B5EF4-FFF2-40B4-BE49-F238E27FC236}">
                <a16:creationId xmlns:a16="http://schemas.microsoft.com/office/drawing/2014/main" id="{67C8252A-52EA-4463-9725-7094AEBAD9D1}"/>
              </a:ext>
            </a:extLst>
          </p:cNvPr>
          <p:cNvSpPr>
            <a:spLocks xmlns:a="http://schemas.openxmlformats.org/drawingml/2006/main" noGrp="1"/>
          </p:cNvSpPr>
          <p:nvPr/>
        </p:nvSpPr>
        <p:spPr>
          <a:xfrm xmlns:a="http://schemas.openxmlformats.org/drawingml/2006/main">
            <a:off x="5124312" y="3912108"/>
            <a:ext cx="5091251"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누른 뒤 손을 떼야 다음 누름을 받습니다.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짧게 누를 때와 길게 누를 때를 비교합니다.</a:t>
            </a:r>
          </a:p>
        </p:txBody>
      </p:sp>
    </p:spTree>
    <p:extLst>
      <p:ext uri="{BB962C8B-B14F-4D97-AF65-F5344CB8AC3E}">
        <p14:creationId xmlns:p14="http://schemas.microsoft.com/office/powerpoint/2010/main" val="18457772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거리와 실행상태 변수 만들기">
            <a:extLst xmlns:a="http://schemas.openxmlformats.org/drawingml/2006/main">
              <a:ext uri="{FF2B5EF4-FFF2-40B4-BE49-F238E27FC236}">
                <a16:creationId xmlns:a16="http://schemas.microsoft.com/office/drawing/2014/main" id="{827452F8-E93A-4EE1-80A9-C8C55ACAB3ED}"/>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거리와 실행상태 변수 만들기</a:t>
            </a:r>
          </a:p>
        </p:txBody>
      </p:sp>
      <p:sp>
        <p:nvSpPr>
          <p:cNvPr id="2" name="9">
            <a:extLst xmlns:a="http://schemas.openxmlformats.org/drawingml/2006/main">
              <a:ext uri="{FF2B5EF4-FFF2-40B4-BE49-F238E27FC236}">
                <a16:creationId xmlns:a16="http://schemas.microsoft.com/office/drawing/2014/main" id="{8CC44F61-555A-4645-82B3-8E836E5A5775}"/>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9</a:t>
            </a:r>
          </a:p>
        </p:txBody>
      </p:sp>
      <p:pic>
        <p:nvPicPr>
          <p:cNvPr id="3" name="">
            <a:extLst xmlns:a="http://schemas.openxmlformats.org/drawingml/2006/main">
              <a:ext uri="{FF2B5EF4-FFF2-40B4-BE49-F238E27FC236}">
                <a16:creationId xmlns:a16="http://schemas.microsoft.com/office/drawing/2014/main" id="{619A10AB-C8A3-40C9-97BC-D3B102431FC1}"/>
              </a:ext>
            </a:extLst>
          </p:cNvPr>
          <p:cNvPicPr>
            <a:picLocks xmlns:a="http://schemas.openxmlformats.org/drawingml/2006/main" noChangeAspect="1"/>
          </p:cNvPicPr>
          <p:nvPr/>
        </p:nvPicPr>
        <p:blipFill>
          <a:blip xmlns:r="http://schemas.openxmlformats.org/officeDocument/2006/relationships" xmlns:a="http://schemas.openxmlformats.org/drawingml/2006/main" r:embed="Rcd706d83ba45400d"/>
          <a:stretch xmlns:a="http://schemas.openxmlformats.org/drawingml/2006/main"/>
        </p:blipFill>
        <p:spPr>
          <a:xfrm xmlns:a="http://schemas.openxmlformats.org/drawingml/2006/main">
            <a:off x="476250" y="2047875"/>
            <a:ext cx="7524750" cy="4702969"/>
          </a:xfrm>
          <a:prstGeom xmlns:a="http://schemas.openxmlformats.org/drawingml/2006/main" prst="rect">
            <a:avLst/>
          </a:prstGeom>
        </p:spPr>
      </p:pic>
      <p:sp>
        <p:nvSpPr>
          <p:cNvPr id="4" name="변수 만들기">
            <a:extLst xmlns:a="http://schemas.openxmlformats.org/drawingml/2006/main">
              <a:ext uri="{FF2B5EF4-FFF2-40B4-BE49-F238E27FC236}">
                <a16:creationId xmlns:a16="http://schemas.microsoft.com/office/drawing/2014/main" id="{F67E5640-8F0D-4978-991A-4A2889548854}"/>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변수 만들기</a:t>
            </a:r>
          </a:p>
        </p:txBody>
      </p:sp>
      <p:sp>
        <p:nvSpPr>
          <p:cNvPr id="5" name="변수 범주에서&#10;변수 만들기 클릭&#10;이름 입력 후 확인">
            <a:extLst xmlns:a="http://schemas.openxmlformats.org/drawingml/2006/main">
              <a:ext uri="{FF2B5EF4-FFF2-40B4-BE49-F238E27FC236}">
                <a16:creationId xmlns:a16="http://schemas.microsoft.com/office/drawing/2014/main" id="{08144022-06DA-4A73-9973-8EDB2337CE2F}"/>
              </a:ext>
            </a:extLst>
          </p:cNvPr>
          <p:cNvSpPr>
            <a:spLocks xmlns:a="http://schemas.openxmlformats.org/drawingml/2006/main" noGrp="1"/>
          </p:cNvSpPr>
          <p:nvPr/>
        </p:nvSpPr>
        <p:spPr>
          <a:xfrm xmlns:a="http://schemas.openxmlformats.org/drawingml/2006/main">
            <a:off x="8239125" y="2577465"/>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변수 범주에서</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변수 만들기 클릭</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이름 입력 후 확인</a:t>
            </a:r>
          </a:p>
        </p:txBody>
      </p:sp>
      <p:sp>
        <p:nvSpPr>
          <p:cNvPr id="6" name="이름 고르기">
            <a:extLst xmlns:a="http://schemas.openxmlformats.org/drawingml/2006/main">
              <a:ext uri="{FF2B5EF4-FFF2-40B4-BE49-F238E27FC236}">
                <a16:creationId xmlns:a16="http://schemas.microsoft.com/office/drawing/2014/main" id="{CFDA4DA6-9C94-43E2-83FF-B8CAB2D10408}"/>
              </a:ext>
            </a:extLst>
          </p:cNvPr>
          <p:cNvSpPr>
            <a:spLocks xmlns:a="http://schemas.openxmlformats.org/drawingml/2006/main" noGrp="1"/>
          </p:cNvSpPr>
          <p:nvPr/>
        </p:nvSpPr>
        <p:spPr>
          <a:xfrm xmlns:a="http://schemas.openxmlformats.org/drawingml/2006/main">
            <a:off x="8239125" y="3705606"/>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이름 고르기</a:t>
            </a:r>
          </a:p>
        </p:txBody>
      </p:sp>
      <p:sp>
        <p:nvSpPr>
          <p:cNvPr id="7" name="거리: 센서에서 읽은 값&#10;실행상태: 출발 또는&#10;정지">
            <a:extLst xmlns:a="http://schemas.openxmlformats.org/drawingml/2006/main">
              <a:ext uri="{FF2B5EF4-FFF2-40B4-BE49-F238E27FC236}">
                <a16:creationId xmlns:a16="http://schemas.microsoft.com/office/drawing/2014/main" id="{3642729B-BEB3-4BD1-95CE-C9834CC190FD}"/>
              </a:ext>
            </a:extLst>
          </p:cNvPr>
          <p:cNvSpPr>
            <a:spLocks xmlns:a="http://schemas.openxmlformats.org/drawingml/2006/main" noGrp="1"/>
          </p:cNvSpPr>
          <p:nvPr/>
        </p:nvSpPr>
        <p:spPr>
          <a:xfrm xmlns:a="http://schemas.openxmlformats.org/drawingml/2006/main">
            <a:off x="8239125" y="4092321"/>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거리: 센서에서 읽은 값</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실행상태: 출발 또는</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정지</a:t>
            </a:r>
          </a:p>
        </p:txBody>
      </p:sp>
    </p:spTree>
    <p:extLst>
      <p:ext uri="{BB962C8B-B14F-4D97-AF65-F5344CB8AC3E}">
        <p14:creationId xmlns:p14="http://schemas.microsoft.com/office/powerpoint/2010/main" val="4450479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19cm, 20cm, 21cm에서의 동작">
            <a:extLst xmlns:a="http://schemas.openxmlformats.org/drawingml/2006/main">
              <a:ext uri="{FF2B5EF4-FFF2-40B4-BE49-F238E27FC236}">
                <a16:creationId xmlns:a16="http://schemas.microsoft.com/office/drawing/2014/main" id="{D39E0452-C217-4195-8090-918BB9BBFC03}"/>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19cm, 20cm, 21cm에서의 동작</a:t>
            </a:r>
          </a:p>
        </p:txBody>
      </p:sp>
      <p:sp>
        <p:nvSpPr>
          <p:cNvPr id="2" name="10">
            <a:extLst xmlns:a="http://schemas.openxmlformats.org/drawingml/2006/main">
              <a:ext uri="{FF2B5EF4-FFF2-40B4-BE49-F238E27FC236}">
                <a16:creationId xmlns:a16="http://schemas.microsoft.com/office/drawing/2014/main" id="{12E89EC5-FF74-4ABE-AD42-ADDB3FF4CB9A}"/>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10</a:t>
            </a:r>
          </a:p>
        </p:txBody>
      </p:sp>
      <p:pic>
        <p:nvPicPr>
          <p:cNvPr id="3" name="">
            <a:extLst xmlns:a="http://schemas.openxmlformats.org/drawingml/2006/main">
              <a:ext uri="{FF2B5EF4-FFF2-40B4-BE49-F238E27FC236}">
                <a16:creationId xmlns:a16="http://schemas.microsoft.com/office/drawing/2014/main" id="{259C3475-AAE6-43A8-859F-2FF919FB66AC}"/>
              </a:ext>
            </a:extLst>
          </p:cNvPr>
          <p:cNvPicPr>
            <a:picLocks xmlns:a="http://schemas.openxmlformats.org/drawingml/2006/main" noChangeAspect="1"/>
          </p:cNvPicPr>
          <p:nvPr/>
        </p:nvPicPr>
        <p:blipFill>
          <a:blip xmlns:r="http://schemas.openxmlformats.org/officeDocument/2006/relationships" xmlns:a="http://schemas.openxmlformats.org/drawingml/2006/main" r:embed="R154840f53b014d51"/>
          <a:stretch xmlns:a="http://schemas.openxmlformats.org/drawingml/2006/main"/>
        </p:blipFill>
        <p:spPr>
          <a:xfrm xmlns:a="http://schemas.openxmlformats.org/drawingml/2006/main">
            <a:off x="476250" y="2047875"/>
            <a:ext cx="6191250" cy="3968328"/>
          </a:xfrm>
          <a:prstGeom xmlns:a="http://schemas.openxmlformats.org/drawingml/2006/main" prst="rect">
            <a:avLst/>
          </a:prstGeom>
        </p:spPr>
      </p:pic>
      <p:sp>
        <p:nvSpPr>
          <p:cNvPr id="4" name="실행 전 예상">
            <a:extLst xmlns:a="http://schemas.openxmlformats.org/drawingml/2006/main">
              <a:ext uri="{FF2B5EF4-FFF2-40B4-BE49-F238E27FC236}">
                <a16:creationId xmlns:a16="http://schemas.microsoft.com/office/drawing/2014/main" id="{CD6CFA00-4CDB-4B7E-A3D3-D8F750C301B6}"/>
              </a:ext>
            </a:extLst>
          </p:cNvPr>
          <p:cNvSpPr>
            <a:spLocks xmlns:a="http://schemas.openxmlformats.org/drawingml/2006/main" noGrp="1"/>
          </p:cNvSpPr>
          <p:nvPr/>
        </p:nvSpPr>
        <p:spPr>
          <a:xfrm xmlns:a="http://schemas.openxmlformats.org/drawingml/2006/main">
            <a:off x="7048500" y="2190750"/>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실행 전 예상</a:t>
            </a:r>
          </a:p>
        </p:txBody>
      </p:sp>
      <p:sp>
        <p:nvSpPr>
          <p:cNvPr id="5" name="각 거리에서 계속 움직일지,&#10;멈출지 먼저 적습니다.">
            <a:extLst xmlns:a="http://schemas.openxmlformats.org/drawingml/2006/main">
              <a:ext uri="{FF2B5EF4-FFF2-40B4-BE49-F238E27FC236}">
                <a16:creationId xmlns:a16="http://schemas.microsoft.com/office/drawing/2014/main" id="{4B57BC12-7428-46D1-BDEB-43A319D94E2B}"/>
              </a:ext>
            </a:extLst>
          </p:cNvPr>
          <p:cNvSpPr>
            <a:spLocks xmlns:a="http://schemas.openxmlformats.org/drawingml/2006/main" noGrp="1"/>
          </p:cNvSpPr>
          <p:nvPr/>
        </p:nvSpPr>
        <p:spPr>
          <a:xfrm xmlns:a="http://schemas.openxmlformats.org/drawingml/2006/main">
            <a:off x="7048500" y="2602230"/>
            <a:ext cx="316706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각 거리에서 계속 움직일지,</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멈출지 먼저 적습니다.</a:t>
            </a:r>
          </a:p>
        </p:txBody>
      </p:sp>
      <p:sp>
        <p:nvSpPr>
          <p:cNvPr id="6" name="한 번 정지하는 코드">
            <a:extLst xmlns:a="http://schemas.openxmlformats.org/drawingml/2006/main">
              <a:ext uri="{FF2B5EF4-FFF2-40B4-BE49-F238E27FC236}">
                <a16:creationId xmlns:a16="http://schemas.microsoft.com/office/drawing/2014/main" id="{69ED4C94-887B-4271-8347-F48355A47437}"/>
              </a:ext>
            </a:extLst>
          </p:cNvPr>
          <p:cNvSpPr>
            <a:spLocks xmlns:a="http://schemas.openxmlformats.org/drawingml/2006/main" noGrp="1"/>
          </p:cNvSpPr>
          <p:nvPr/>
        </p:nvSpPr>
        <p:spPr>
          <a:xfrm xmlns:a="http://schemas.openxmlformats.org/drawingml/2006/main">
            <a:off x="7048500" y="3500628"/>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한 번 정지하는 코드</a:t>
            </a:r>
          </a:p>
        </p:txBody>
      </p:sp>
      <p:sp>
        <p:nvSpPr>
          <p:cNvPr id="7" name="20cm 미만이 되면 멈추고&#10;끝납니다.&#10;장애물을 치워도 재">
            <a:extLst xmlns:a="http://schemas.openxmlformats.org/drawingml/2006/main">
              <a:ext uri="{FF2B5EF4-FFF2-40B4-BE49-F238E27FC236}">
                <a16:creationId xmlns:a16="http://schemas.microsoft.com/office/drawing/2014/main" id="{4323D469-731B-4C86-BF44-6BB1757A532B}"/>
              </a:ext>
            </a:extLst>
          </p:cNvPr>
          <p:cNvSpPr>
            <a:spLocks xmlns:a="http://schemas.openxmlformats.org/drawingml/2006/main" noGrp="1"/>
          </p:cNvSpPr>
          <p:nvPr/>
        </p:nvSpPr>
        <p:spPr>
          <a:xfrm xmlns:a="http://schemas.openxmlformats.org/drawingml/2006/main">
            <a:off x="7048500" y="3912108"/>
            <a:ext cx="3167063"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20cm 미만이 되면 멈추고</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끝납니다.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장애물을 치워도 재출발하지</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않습니다.</a:t>
            </a:r>
          </a:p>
        </p:txBody>
      </p:sp>
      <p:sp>
        <p:nvSpPr>
          <p:cNvPr id="8" name="반복 코드와 비교">
            <a:extLst xmlns:a="http://schemas.openxmlformats.org/drawingml/2006/main">
              <a:ext uri="{FF2B5EF4-FFF2-40B4-BE49-F238E27FC236}">
                <a16:creationId xmlns:a16="http://schemas.microsoft.com/office/drawing/2014/main" id="{777D2D3E-DE6E-4190-9E79-8A5035A53FF1}"/>
              </a:ext>
            </a:extLst>
          </p:cNvPr>
          <p:cNvSpPr>
            <a:spLocks xmlns:a="http://schemas.openxmlformats.org/drawingml/2006/main" noGrp="1"/>
          </p:cNvSpPr>
          <p:nvPr/>
        </p:nvSpPr>
        <p:spPr>
          <a:xfrm xmlns:a="http://schemas.openxmlformats.org/drawingml/2006/main">
            <a:off x="7048500" y="5423154"/>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반복 코드와 비교</a:t>
            </a:r>
          </a:p>
        </p:txBody>
      </p:sp>
      <p:sp>
        <p:nvSpPr>
          <p:cNvPr id="9" name="반복 안에 만약/아니면을 넣고&#10;장애물을 치웠을 때를 비교합">
            <a:extLst xmlns:a="http://schemas.openxmlformats.org/drawingml/2006/main">
              <a:ext uri="{FF2B5EF4-FFF2-40B4-BE49-F238E27FC236}">
                <a16:creationId xmlns:a16="http://schemas.microsoft.com/office/drawing/2014/main" id="{92B5D70A-685C-45EE-A052-EC7336407520}"/>
              </a:ext>
            </a:extLst>
          </p:cNvPr>
          <p:cNvSpPr>
            <a:spLocks xmlns:a="http://schemas.openxmlformats.org/drawingml/2006/main" noGrp="1"/>
          </p:cNvSpPr>
          <p:nvPr/>
        </p:nvSpPr>
        <p:spPr>
          <a:xfrm xmlns:a="http://schemas.openxmlformats.org/drawingml/2006/main">
            <a:off x="7048500" y="5834634"/>
            <a:ext cx="316706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반복 안에 만약/아니면을 넣고</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장애물을 치웠을 때를 비교합니다.</a:t>
            </a:r>
          </a:p>
        </p:txBody>
      </p:sp>
    </p:spTree>
    <p:extLst>
      <p:ext uri="{BB962C8B-B14F-4D97-AF65-F5344CB8AC3E}">
        <p14:creationId xmlns:p14="http://schemas.microsoft.com/office/powerpoint/2010/main" val="203687675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9" name="반사광과 회전각 측정">
            <a:extLst xmlns:a="http://schemas.openxmlformats.org/drawingml/2006/main">
              <a:ext uri="{FF2B5EF4-FFF2-40B4-BE49-F238E27FC236}">
                <a16:creationId xmlns:a16="http://schemas.microsoft.com/office/drawing/2014/main" id="{3097765D-DA70-43BF-8612-32D73CF79BB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반사광과 회전각 측정</a:t>
            </a:r>
          </a:p>
        </p:txBody>
      </p:sp>
      <p:sp>
        <p:nvSpPr>
          <p:cNvPr id="2" name="11">
            <a:extLst xmlns:a="http://schemas.openxmlformats.org/drawingml/2006/main">
              <a:ext uri="{FF2B5EF4-FFF2-40B4-BE49-F238E27FC236}">
                <a16:creationId xmlns:a16="http://schemas.microsoft.com/office/drawing/2014/main" id="{CA828AD6-FAB1-407F-8505-052C9FE49EC0}"/>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11</a:t>
            </a:r>
          </a:p>
        </p:txBody>
      </p:sp>
      <p:sp>
        <p:nvSpPr>
          <p:cNvPr id="3" name="검정과 흰색">
            <a:extLst xmlns:a="http://schemas.openxmlformats.org/drawingml/2006/main">
              <a:ext uri="{FF2B5EF4-FFF2-40B4-BE49-F238E27FC236}">
                <a16:creationId xmlns:a16="http://schemas.microsoft.com/office/drawing/2014/main" id="{BD1828D0-C2EC-4941-B078-476B3995BA09}"/>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검정과 흰색</a:t>
            </a:r>
          </a:p>
        </p:txBody>
      </p:sp>
      <p:sp>
        <p:nvSpPr>
          <p:cNvPr id="4" name="센서 높이와 조명을 유지하고 반사광을 5회씩 읽습니다.&#10;검">
            <a:extLst xmlns:a="http://schemas.openxmlformats.org/drawingml/2006/main">
              <a:ext uri="{FF2B5EF4-FFF2-40B4-BE49-F238E27FC236}">
                <a16:creationId xmlns:a16="http://schemas.microsoft.com/office/drawing/2014/main" id="{C8ECF228-478B-4F15-BDA5-E520F096ECF6}"/>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 높이와 조명을 유지하고 반사광을 5회씩 읽습니다.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검정과 흰색의 평균값을 구합니다.</a:t>
            </a:r>
          </a:p>
        </p:txBody>
      </p:sp>
      <p:sp>
        <p:nvSpPr>
          <p:cNvPr id="5" name="회전각의 부호">
            <a:extLst xmlns:a="http://schemas.openxmlformats.org/drawingml/2006/main">
              <a:ext uri="{FF2B5EF4-FFF2-40B4-BE49-F238E27FC236}">
                <a16:creationId xmlns:a16="http://schemas.microsoft.com/office/drawing/2014/main" id="{2DACBF71-7FCA-4F48-92F1-3FEF2D3ACB4D}"/>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회전각의 부호</a:t>
            </a:r>
          </a:p>
        </p:txBody>
      </p:sp>
      <p:sp>
        <p:nvSpPr>
          <p:cNvPr id="6" name="차체를 멈추고 기준 방향을 초기화합니다.&#10;같은 방향으로 약">
            <a:extLst xmlns:a="http://schemas.openxmlformats.org/drawingml/2006/main">
              <a:ext uri="{FF2B5EF4-FFF2-40B4-BE49-F238E27FC236}">
                <a16:creationId xmlns:a16="http://schemas.microsoft.com/office/drawing/2014/main" id="{4EB158D9-9FD1-4365-BCCB-C5C32AB2F009}"/>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차체를 멈추고 기준 방향을 초기화합니다.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같은 방향으로 약 30° 돌려 값이 늘어나는지 줄어드는지 봅니다.</a:t>
            </a:r>
          </a:p>
        </p:txBody>
      </p:sp>
      <p:sp>
        <p:nvSpPr>
          <p:cNvPr id="7" name="값을 읽은 뒤 주행">
            <a:extLst xmlns:a="http://schemas.openxmlformats.org/drawingml/2006/main">
              <a:ext uri="{FF2B5EF4-FFF2-40B4-BE49-F238E27FC236}">
                <a16:creationId xmlns:a16="http://schemas.microsoft.com/office/drawing/2014/main" id="{91DE0201-88FC-4301-84D6-1C3233A7E456}"/>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값을 읽은 뒤 주행</a:t>
            </a:r>
          </a:p>
        </p:txBody>
      </p:sp>
      <p:sp>
        <p:nvSpPr>
          <p:cNvPr id="8" name="센서만 읽는 코드로 먼저 확인합니다.&#10;값이 바뀌면 모터 동">
            <a:extLst xmlns:a="http://schemas.openxmlformats.org/drawingml/2006/main">
              <a:ext uri="{FF2B5EF4-FFF2-40B4-BE49-F238E27FC236}">
                <a16:creationId xmlns:a16="http://schemas.microsoft.com/office/drawing/2014/main" id="{11432CB9-7E94-4E71-A132-08C1304AD3B2}"/>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센서만 읽는 코드로 먼저 확인합니다.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값이 바뀌면 모터 동작을 붙여 시험합니다.</a:t>
            </a:r>
          </a:p>
        </p:txBody>
      </p:sp>
    </p:spTree>
    <p:extLst>
      <p:ext uri="{BB962C8B-B14F-4D97-AF65-F5344CB8AC3E}">
        <p14:creationId xmlns:p14="http://schemas.microsoft.com/office/powerpoint/2010/main" val="68619586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여러 센서가 동시에 반응할 때">
            <a:extLst xmlns:a="http://schemas.openxmlformats.org/drawingml/2006/main">
              <a:ext uri="{FF2B5EF4-FFF2-40B4-BE49-F238E27FC236}">
                <a16:creationId xmlns:a16="http://schemas.microsoft.com/office/drawing/2014/main" id="{0BB03CA4-694D-4896-B7CA-7CC0E98B69B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여러 센서가 동시에 반응할 때</a:t>
            </a:r>
          </a:p>
        </p:txBody>
      </p:sp>
      <p:sp>
        <p:nvSpPr>
          <p:cNvPr id="2" name="12">
            <a:extLst xmlns:a="http://schemas.openxmlformats.org/drawingml/2006/main">
              <a:ext uri="{FF2B5EF4-FFF2-40B4-BE49-F238E27FC236}">
                <a16:creationId xmlns:a16="http://schemas.microsoft.com/office/drawing/2014/main" id="{D24FBD12-46E8-42F9-973E-A44D2BCF0CF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12</a:t>
            </a:r>
          </a:p>
        </p:txBody>
      </p:sp>
      <p:sp>
        <p:nvSpPr>
          <p:cNvPr id="3" name="">
            <a:extLst xmlns:a="http://schemas.openxmlformats.org/drawingml/2006/main">
              <a:ext uri="{FF2B5EF4-FFF2-40B4-BE49-F238E27FC236}">
                <a16:creationId xmlns:a16="http://schemas.microsoft.com/office/drawing/2014/main" id="{393A3AE0-7E3C-485D-80E2-AEFE47D85E8E}"/>
              </a:ext>
            </a:extLst>
          </p:cNvPr>
          <p:cNvSpPr>
            <a:spLocks xmlns:a="http://schemas.openxmlformats.org/drawingml/2006/main" noGrp="1"/>
          </p:cNvSpPr>
          <p:nvPr/>
        </p:nvSpPr>
        <p:spPr>
          <a:xfrm xmlns:a="http://schemas.openxmlformats.org/drawingml/2006/main">
            <a:off x="476250" y="2276475"/>
            <a:ext cx="6000750" cy="2952750"/>
          </a:xfrm>
          <a:prstGeom xmlns:a="http://schemas.openxmlformats.org/drawingml/2006/main" prst="rect">
            <a:avLst/>
          </a:prstGeom>
          <a:solidFill xmlns:a="http://schemas.openxmlformats.org/drawingml/2006/main">
            <a:srgbClr val="FFF8EF"/>
          </a:solidFill>
          <a:ln xmlns:a="http://schemas.openxmlformats.org/drawingml/2006/main" w="9525">
            <a:solidFill>
              <a:srgbClr val="E8DCC8"/>
            </a:solidFill>
          </a:ln>
        </p:spPr>
      </p:sp>
      <p:sp>
        <p:nvSpPr>
          <p:cNvPr id="4" name="거리 측정 불가 또는 거리 &lt; 20 cm: 정지&#10;그 밖에 ">
            <a:extLst xmlns:a="http://schemas.openxmlformats.org/drawingml/2006/main">
              <a:ext uri="{FF2B5EF4-FFF2-40B4-BE49-F238E27FC236}">
                <a16:creationId xmlns:a16="http://schemas.microsoft.com/office/drawing/2014/main" id="{ABBB921E-52A8-4D41-9ACE-194C03ECF06A}"/>
              </a:ext>
            </a:extLst>
          </p:cNvPr>
          <p:cNvSpPr>
            <a:spLocks xmlns:a="http://schemas.openxmlformats.org/drawingml/2006/main" noGrp="1"/>
          </p:cNvSpPr>
          <p:nvPr/>
        </p:nvSpPr>
        <p:spPr>
          <a:xfrm xmlns:a="http://schemas.openxmlformats.org/drawingml/2006/main">
            <a:off x="666750" y="2447925"/>
            <a:ext cx="5619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92929"/>
                </a:solidFill>
                <a:latin typeface="KoPubDotum"/>
                <a:ea typeface="KoPubDotum"/>
                <a:cs typeface="KoPubDotum"/>
              </a:defRPr>
            </a:defPPr>
          </a:lstStyle>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거리 측정 불가 또는 거리 &lt; 20 cm: 정지</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그 밖에 검정 정지선 감지: 정지</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그 밖에 출발 상태 = 켜짐: 이동</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나머지: 정지</a:t>
            </a:r>
          </a:p>
        </p:txBody>
      </p:sp>
      <p:sp>
        <p:nvSpPr>
          <p:cNvPr id="5" name="정지 조건부터">
            <a:extLst xmlns:a="http://schemas.openxmlformats.org/drawingml/2006/main">
              <a:ext uri="{FF2B5EF4-FFF2-40B4-BE49-F238E27FC236}">
                <a16:creationId xmlns:a16="http://schemas.microsoft.com/office/drawing/2014/main" id="{0F244107-DEFF-4A2C-A17C-54593E55FD78}"/>
              </a:ext>
            </a:extLst>
          </p:cNvPr>
          <p:cNvSpPr>
            <a:spLocks xmlns:a="http://schemas.openxmlformats.org/drawingml/2006/main" noGrp="1"/>
          </p:cNvSpPr>
          <p:nvPr/>
        </p:nvSpPr>
        <p:spPr>
          <a:xfrm xmlns:a="http://schemas.openxmlformats.org/drawingml/2006/main">
            <a:off x="6905625" y="2324100"/>
            <a:ext cx="328612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정지 조건부터</a:t>
            </a:r>
          </a:p>
        </p:txBody>
      </p:sp>
      <p:sp>
        <p:nvSpPr>
          <p:cNvPr id="6" name="거리 측정이 안 되거나 장애물이&#10;가까우면 멈춥니다.">
            <a:extLst xmlns:a="http://schemas.openxmlformats.org/drawingml/2006/main">
              <a:ext uri="{FF2B5EF4-FFF2-40B4-BE49-F238E27FC236}">
                <a16:creationId xmlns:a16="http://schemas.microsoft.com/office/drawing/2014/main" id="{9F6CBC4D-9876-41F5-A502-F808F5320168}"/>
              </a:ext>
            </a:extLst>
          </p:cNvPr>
          <p:cNvSpPr>
            <a:spLocks xmlns:a="http://schemas.openxmlformats.org/drawingml/2006/main" noGrp="1"/>
          </p:cNvSpPr>
          <p:nvPr/>
        </p:nvSpPr>
        <p:spPr>
          <a:xfrm xmlns:a="http://schemas.openxmlformats.org/drawingml/2006/main">
            <a:off x="6905625" y="2723198"/>
            <a:ext cx="328612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거리 측정이 안 되거나 장애물이</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가까우면 멈춥니다.</a:t>
            </a:r>
          </a:p>
        </p:txBody>
      </p:sp>
      <p:sp>
        <p:nvSpPr>
          <p:cNvPr id="7" name="두 조건을 함께 시험">
            <a:extLst xmlns:a="http://schemas.openxmlformats.org/drawingml/2006/main">
              <a:ext uri="{FF2B5EF4-FFF2-40B4-BE49-F238E27FC236}">
                <a16:creationId xmlns:a16="http://schemas.microsoft.com/office/drawing/2014/main" id="{8B1ADFEB-AC16-47E8-BC11-FA3DC3E59D74}"/>
              </a:ext>
            </a:extLst>
          </p:cNvPr>
          <p:cNvSpPr>
            <a:spLocks xmlns:a="http://schemas.openxmlformats.org/drawingml/2006/main" noGrp="1"/>
          </p:cNvSpPr>
          <p:nvPr/>
        </p:nvSpPr>
        <p:spPr>
          <a:xfrm xmlns:a="http://schemas.openxmlformats.org/drawingml/2006/main">
            <a:off x="6905625" y="3596068"/>
            <a:ext cx="328612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두 조건을 함께 시험</a:t>
            </a:r>
          </a:p>
        </p:txBody>
      </p:sp>
      <p:sp>
        <p:nvSpPr>
          <p:cNvPr id="8" name="힘센서를 누른 채 책을 거리센서&#10;가까이 가져갑니다.">
            <a:extLst xmlns:a="http://schemas.openxmlformats.org/drawingml/2006/main">
              <a:ext uri="{FF2B5EF4-FFF2-40B4-BE49-F238E27FC236}">
                <a16:creationId xmlns:a16="http://schemas.microsoft.com/office/drawing/2014/main" id="{124C83E1-3251-493A-82D5-8AC824A986EB}"/>
              </a:ext>
            </a:extLst>
          </p:cNvPr>
          <p:cNvSpPr>
            <a:spLocks xmlns:a="http://schemas.openxmlformats.org/drawingml/2006/main" noGrp="1"/>
          </p:cNvSpPr>
          <p:nvPr/>
        </p:nvSpPr>
        <p:spPr>
          <a:xfrm xmlns:a="http://schemas.openxmlformats.org/drawingml/2006/main">
            <a:off x="6905625" y="3995166"/>
            <a:ext cx="328612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힘센서를 누른 채 책을 거리센서</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가까이 가져갑니다.</a:t>
            </a:r>
          </a:p>
        </p:txBody>
      </p:sp>
      <p:sp>
        <p:nvSpPr>
          <p:cNvPr id="9" name="결과 설명">
            <a:extLst xmlns:a="http://schemas.openxmlformats.org/drawingml/2006/main">
              <a:ext uri="{FF2B5EF4-FFF2-40B4-BE49-F238E27FC236}">
                <a16:creationId xmlns:a16="http://schemas.microsoft.com/office/drawing/2014/main" id="{43791192-6A56-4595-9B6E-19B7CE90727B}"/>
              </a:ext>
            </a:extLst>
          </p:cNvPr>
          <p:cNvSpPr>
            <a:spLocks xmlns:a="http://schemas.openxmlformats.org/drawingml/2006/main" noGrp="1"/>
          </p:cNvSpPr>
          <p:nvPr/>
        </p:nvSpPr>
        <p:spPr>
          <a:xfrm xmlns:a="http://schemas.openxmlformats.org/drawingml/2006/main">
            <a:off x="6905625" y="4868037"/>
            <a:ext cx="328612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결과 설명</a:t>
            </a:r>
          </a:p>
        </p:txBody>
      </p:sp>
      <p:sp>
        <p:nvSpPr>
          <p:cNvPr id="10" name="출발 상태가 켜져 있어도 정지해야&#10;하는 이유를 말합니다.">
            <a:extLst xmlns:a="http://schemas.openxmlformats.org/drawingml/2006/main">
              <a:ext uri="{FF2B5EF4-FFF2-40B4-BE49-F238E27FC236}">
                <a16:creationId xmlns:a16="http://schemas.microsoft.com/office/drawing/2014/main" id="{638094CA-3912-442C-ABC4-9F116607189C}"/>
              </a:ext>
            </a:extLst>
          </p:cNvPr>
          <p:cNvSpPr>
            <a:spLocks xmlns:a="http://schemas.openxmlformats.org/drawingml/2006/main" noGrp="1"/>
          </p:cNvSpPr>
          <p:nvPr/>
        </p:nvSpPr>
        <p:spPr>
          <a:xfrm xmlns:a="http://schemas.openxmlformats.org/drawingml/2006/main">
            <a:off x="6905625" y="5267134"/>
            <a:ext cx="328612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출발 상태가 켜져 있어도 정지해야</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하는 이유를 말합니다.</a:t>
            </a:r>
          </a:p>
        </p:txBody>
      </p:sp>
    </p:spTree>
    <p:extLst>
      <p:ext uri="{BB962C8B-B14F-4D97-AF65-F5344CB8AC3E}">
        <p14:creationId xmlns:p14="http://schemas.microsoft.com/office/powerpoint/2010/main" val="26642246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조건별 예상 동작">
            <a:extLst xmlns:a="http://schemas.openxmlformats.org/drawingml/2006/main">
              <a:ext uri="{FF2B5EF4-FFF2-40B4-BE49-F238E27FC236}">
                <a16:creationId xmlns:a16="http://schemas.microsoft.com/office/drawing/2014/main" id="{40D71F1C-D033-48EE-AE89-EA464B6BE89D}"/>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조건별 예상 동작</a:t>
            </a:r>
          </a:p>
        </p:txBody>
      </p:sp>
      <p:sp>
        <p:nvSpPr>
          <p:cNvPr id="2" name="13">
            <a:extLst xmlns:a="http://schemas.openxmlformats.org/drawingml/2006/main">
              <a:ext uri="{FF2B5EF4-FFF2-40B4-BE49-F238E27FC236}">
                <a16:creationId xmlns:a16="http://schemas.microsoft.com/office/drawing/2014/main" id="{6D805F60-3646-4761-BE70-CA87A695D634}"/>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13</a:t>
            </a:r>
          </a:p>
        </p:txBody>
      </p:sp>
      <p:graphicFrame>
        <p:nvGraphicFramePr>
          <p:cNvPr id="3" name="">
            <a:extLst xmlns:a="http://schemas.openxmlformats.org/drawingml/2006/main">
              <a:ext uri="{FF2B5EF4-FFF2-40B4-BE49-F238E27FC236}">
                <a16:creationId xmlns:a16="http://schemas.microsoft.com/office/drawing/2014/main" id="{C3B868EC-2A43-4109-8798-C72151BB4EE4}"/>
              </a:ext>
            </a:extLst>
          </p:cNvPr>
          <p:cNvGraphicFramePr/>
          <p:nvPr/>
        </p:nvGraphicFramePr>
        <p:xfrm>
          <a:off xmlns:a="http://schemas.openxmlformats.org/drawingml/2006/main" x="476250" y="1981200"/>
          <a:ext xmlns:a="http://schemas.openxmlformats.org/drawingml/2006/main" cx="9739313" cy="3886200"/>
        </p:xfrm>
        <a:graphic xmlns:a="http://schemas.openxmlformats.org/drawingml/2006/main">
          <a:graphicData uri="http://schemas.openxmlformats.org/drawingml/2006/table">
            <a:tbl>
              <a:tblPr/>
              <a:tblGrid>
                <a:gridCol w="1391330"/>
                <a:gridCol w="2782661"/>
                <a:gridCol w="2782661"/>
                <a:gridCol w="2782661"/>
              </a:tblGrid>
              <a:tr h="457200">
                <a:tc>
                  <a:txBody>
                    <a:bodyPr lIns="133350" tIns="114300" rIns="114300" bIns="76200">
                      <a:noAutofit/>
                    </a:bodyPr>
                    <a:lstStyle/>
                    <a:p>
                      <a:r>
                        <a:rPr sz="1575" b="1">
                          <a:solidFill>
                            <a:srgbClr val="FFFFFF"/>
                          </a:solidFill>
                          <a:latin typeface="KoPubDotum"/>
                          <a:ea typeface="KoPubDotum"/>
                          <a:cs typeface="KoPubDotum"/>
                        </a:rPr>
                        <a:t>출발 상태</a:t>
                      </a:r>
                    </a:p>
                  </a:txBody>
                  <a:tcPr marL="91440" marR="91440" marT="45720" marB="45720" anchor="ctr">
                    <a:solidFill>
                      <a:srgbClr val="F7972B"/>
                    </a:solidFill>
                  </a:tcPr>
                </a:tc>
                <a:tc>
                  <a:txBody>
                    <a:bodyPr lIns="133350" tIns="114300" rIns="114300" bIns="76200">
                      <a:noAutofit/>
                    </a:bodyPr>
                    <a:lstStyle/>
                    <a:p>
                      <a:r>
                        <a:rPr sz="1575" b="1">
                          <a:solidFill>
                            <a:srgbClr val="FFFFFF"/>
                          </a:solidFill>
                          <a:latin typeface="KoPubDotum"/>
                          <a:ea typeface="KoPubDotum"/>
                          <a:cs typeface="KoPubDotum"/>
                        </a:rPr>
                        <a:t>거리</a:t>
                      </a:r>
                    </a:p>
                  </a:txBody>
                  <a:tcPr marL="91440" marR="91440" marT="45720" marB="45720" anchor="ctr">
                    <a:solidFill>
                      <a:srgbClr val="F7972B"/>
                    </a:solidFill>
                  </a:tcPr>
                </a:tc>
                <a:tc>
                  <a:txBody>
                    <a:bodyPr lIns="133350" tIns="114300" rIns="114300" bIns="76200">
                      <a:noAutofit/>
                    </a:bodyPr>
                    <a:lstStyle/>
                    <a:p>
                      <a:r>
                        <a:rPr sz="1575" b="1">
                          <a:solidFill>
                            <a:srgbClr val="FFFFFF"/>
                          </a:solidFill>
                          <a:latin typeface="KoPubDotum"/>
                          <a:ea typeface="KoPubDotum"/>
                          <a:cs typeface="KoPubDotum"/>
                        </a:rPr>
                        <a:t>검정선</a:t>
                      </a:r>
                    </a:p>
                  </a:txBody>
                  <a:tcPr marL="91440" marR="91440" marT="45720" marB="45720" anchor="ctr">
                    <a:solidFill>
                      <a:srgbClr val="F7972B"/>
                    </a:solidFill>
                  </a:tcPr>
                </a:tc>
                <a:tc>
                  <a:txBody>
                    <a:bodyPr lIns="133350" tIns="114300" rIns="114300" bIns="76200">
                      <a:noAutofit/>
                    </a:bodyPr>
                    <a:lstStyle/>
                    <a:p>
                      <a:r>
                        <a:rPr sz="1575" b="1">
                          <a:solidFill>
                            <a:srgbClr val="FFFFFF"/>
                          </a:solidFill>
                          <a:latin typeface="KoPubDotum"/>
                          <a:ea typeface="KoPubDotum"/>
                          <a:cs typeface="KoPubDotum"/>
                        </a:rPr>
                        <a:t>예상 출력</a:t>
                      </a:r>
                    </a:p>
                  </a:txBody>
                  <a:tcPr marL="91440" marR="91440" marT="45720" marB="45720" anchor="ctr">
                    <a:solidFill>
                      <a:srgbClr val="F7972B"/>
                    </a:solidFill>
                  </a:tcPr>
                </a:tc>
              </a:tr>
              <a:tr h="685800">
                <a:tc>
                  <a:txBody>
                    <a:bodyPr lIns="133350" tIns="114300" rIns="114300" bIns="76200">
                      <a:noAutofit/>
                    </a:bodyPr>
                    <a:lstStyle/>
                    <a:p>
                      <a:r>
                        <a:rPr sz="1575" b="0">
                          <a:solidFill>
                            <a:srgbClr val="292929"/>
                          </a:solidFill>
                          <a:latin typeface="KoPubDotum"/>
                          <a:ea typeface="KoPubDotum"/>
                          <a:cs typeface="KoPubDotum"/>
                        </a:rPr>
                        <a:t>꺼짐</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30 cm</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없음</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정지</a:t>
                      </a:r>
                    </a:p>
                  </a:txBody>
                  <a:tcPr marL="91440" marR="91440" marT="45720" marB="45720" anchor="ctr">
                    <a:solidFill>
                      <a:srgbClr val="FFFFFF"/>
                    </a:solidFill>
                  </a:tcPr>
                </a:tc>
              </a:tr>
              <a:tr h="685800">
                <a:tc>
                  <a:txBody>
                    <a:bodyPr lIns="133350" tIns="114300" rIns="114300" bIns="76200">
                      <a:noAutofit/>
                    </a:bodyPr>
                    <a:lstStyle/>
                    <a:p>
                      <a:r>
                        <a:rPr sz="1575" b="0">
                          <a:solidFill>
                            <a:srgbClr val="292929"/>
                          </a:solidFill>
                          <a:latin typeface="KoPubDotum"/>
                          <a:ea typeface="KoPubDotum"/>
                          <a:cs typeface="KoPubDotum"/>
                        </a:rPr>
                        <a:t>켜짐</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30 cm</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없음</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이동</a:t>
                      </a:r>
                    </a:p>
                  </a:txBody>
                  <a:tcPr marL="91440" marR="91440" marT="45720" marB="45720" anchor="ctr">
                    <a:solidFill>
                      <a:srgbClr val="FFFFFF"/>
                    </a:solidFill>
                  </a:tcPr>
                </a:tc>
              </a:tr>
              <a:tr h="685800">
                <a:tc>
                  <a:txBody>
                    <a:bodyPr lIns="133350" tIns="114300" rIns="114300" bIns="76200">
                      <a:noAutofit/>
                    </a:bodyPr>
                    <a:lstStyle/>
                    <a:p>
                      <a:r>
                        <a:rPr sz="1575" b="0">
                          <a:solidFill>
                            <a:srgbClr val="292929"/>
                          </a:solidFill>
                          <a:latin typeface="KoPubDotum"/>
                          <a:ea typeface="KoPubDotum"/>
                          <a:cs typeface="KoPubDotum"/>
                        </a:rPr>
                        <a:t>켜짐</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17 cm</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없음</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정지</a:t>
                      </a:r>
                    </a:p>
                  </a:txBody>
                  <a:tcPr marL="91440" marR="91440" marT="45720" marB="45720" anchor="ctr">
                    <a:solidFill>
                      <a:srgbClr val="FFFFFF"/>
                    </a:solidFill>
                  </a:tcPr>
                </a:tc>
              </a:tr>
              <a:tr h="685800">
                <a:tc>
                  <a:txBody>
                    <a:bodyPr lIns="133350" tIns="114300" rIns="114300" bIns="76200">
                      <a:noAutofit/>
                    </a:bodyPr>
                    <a:lstStyle/>
                    <a:p>
                      <a:r>
                        <a:rPr sz="1575" b="0">
                          <a:solidFill>
                            <a:srgbClr val="292929"/>
                          </a:solidFill>
                          <a:latin typeface="KoPubDotum"/>
                          <a:ea typeface="KoPubDotum"/>
                          <a:cs typeface="KoPubDotum"/>
                        </a:rPr>
                        <a:t>켜짐</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30 cm</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있음</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정지</a:t>
                      </a:r>
                    </a:p>
                  </a:txBody>
                  <a:tcPr marL="91440" marR="91440" marT="45720" marB="45720" anchor="ctr">
                    <a:solidFill>
                      <a:srgbClr val="FFFFFF"/>
                    </a:solidFill>
                  </a:tcPr>
                </a:tc>
              </a:tr>
              <a:tr h="685800">
                <a:tc>
                  <a:txBody>
                    <a:bodyPr lIns="133350" tIns="114300" rIns="114300" bIns="76200">
                      <a:noAutofit/>
                    </a:bodyPr>
                    <a:lstStyle/>
                    <a:p>
                      <a:r>
                        <a:rPr sz="1575" b="0">
                          <a:solidFill>
                            <a:srgbClr val="292929"/>
                          </a:solidFill>
                          <a:latin typeface="KoPubDotum"/>
                          <a:ea typeface="KoPubDotum"/>
                          <a:cs typeface="KoPubDotum"/>
                        </a:rPr>
                        <a:t>켜짐</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측정 불가</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없음</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정지</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4167141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학년에 따라 바꿀 과제">
            <a:extLst xmlns:a="http://schemas.openxmlformats.org/drawingml/2006/main">
              <a:ext uri="{FF2B5EF4-FFF2-40B4-BE49-F238E27FC236}">
                <a16:creationId xmlns:a16="http://schemas.microsoft.com/office/drawing/2014/main" id="{8062CCE7-5DC7-4ABB-9427-897A9DB54F39}"/>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학년에 따라 바꿀 과제</a:t>
            </a:r>
          </a:p>
        </p:txBody>
      </p:sp>
      <p:sp>
        <p:nvSpPr>
          <p:cNvPr id="2" name="14">
            <a:extLst xmlns:a="http://schemas.openxmlformats.org/drawingml/2006/main">
              <a:ext uri="{FF2B5EF4-FFF2-40B4-BE49-F238E27FC236}">
                <a16:creationId xmlns:a16="http://schemas.microsoft.com/office/drawing/2014/main" id="{BB821C2E-43D7-4CAE-9B6A-E1E82CE02111}"/>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14</a:t>
            </a:r>
          </a:p>
        </p:txBody>
      </p:sp>
      <p:graphicFrame>
        <p:nvGraphicFramePr>
          <p:cNvPr id="3" name="">
            <a:extLst xmlns:a="http://schemas.openxmlformats.org/drawingml/2006/main">
              <a:ext uri="{FF2B5EF4-FFF2-40B4-BE49-F238E27FC236}">
                <a16:creationId xmlns:a16="http://schemas.microsoft.com/office/drawing/2014/main" id="{89E8EA5A-3C70-454B-988C-98710B7639B8}"/>
              </a:ext>
            </a:extLst>
          </p:cNvPr>
          <p:cNvGraphicFramePr/>
          <p:nvPr/>
        </p:nvGraphicFramePr>
        <p:xfrm>
          <a:off xmlns:a="http://schemas.openxmlformats.org/drawingml/2006/main" x="476250" y="1981200"/>
          <a:ext xmlns:a="http://schemas.openxmlformats.org/drawingml/2006/main" cx="9739313" cy="25908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학년</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학생이 할 일</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확인 질문</a:t>
                      </a:r>
                    </a:p>
                  </a:txBody>
                  <a:tcPr marL="91440" marR="91440" marT="45720" marB="45720" anchor="ctr">
                    <a:solidFill>
                      <a:srgbClr val="F7972B"/>
                    </a:solidFill>
                  </a:tcPr>
                </a:tc>
              </a:tr>
              <a:tr h="711200">
                <a:tc>
                  <a:txBody>
                    <a:bodyPr lIns="133350" tIns="114300" rIns="114300" bIns="76200">
                      <a:noAutofit/>
                    </a:bodyPr>
                    <a:lstStyle/>
                    <a:p>
                      <a:r>
                        <a:rPr sz="1725" b="0">
                          <a:solidFill>
                            <a:srgbClr val="292929"/>
                          </a:solidFill>
                          <a:latin typeface="KoPubDotum"/>
                          <a:ea typeface="KoPubDotum"/>
                          <a:cs typeface="KoPubDotum"/>
                        </a:rPr>
                        <a:t>초등 3~4</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장애물 앞에서 멈추는 조건 만들기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어느 거리에서 멈추나요?</a:t>
                      </a:r>
                    </a:p>
                  </a:txBody>
                  <a:tcPr marL="91440" marR="91440" marT="45720" marB="45720" anchor="ctr">
                    <a:solidFill>
                      <a:srgbClr val="FFFFFF"/>
                    </a:solidFill>
                  </a:tcPr>
                </a:tc>
              </a:tr>
              <a:tr h="711200">
                <a:tc>
                  <a:txBody>
                    <a:bodyPr lIns="133350" tIns="114300" rIns="114300" bIns="76200">
                      <a:noAutofit/>
                    </a:bodyPr>
                    <a:lstStyle/>
                    <a:p>
                      <a:r>
                        <a:rPr sz="1725" b="0">
                          <a:solidFill>
                            <a:srgbClr val="292929"/>
                          </a:solidFill>
                          <a:latin typeface="KoPubDotum"/>
                          <a:ea typeface="KoPubDotum"/>
                          <a:cs typeface="KoPubDotum"/>
                        </a:rPr>
                        <a:t>초등 5~6</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반복 안에서 거리 조건 비교하기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장애물을 치우면 어떻게 되나요?</a:t>
                      </a:r>
                    </a:p>
                  </a:txBody>
                  <a:tcPr marL="91440" marR="91440" marT="45720" marB="45720" anchor="ctr">
                    <a:solidFill>
                      <a:srgbClr val="FFFFFF"/>
                    </a:solidFill>
                  </a:tcPr>
                </a:tc>
              </a:tr>
              <a:tr h="711200">
                <a:tc>
                  <a:txBody>
                    <a:bodyPr lIns="133350" tIns="114300" rIns="114300" bIns="76200">
                      <a:noAutofit/>
                    </a:bodyPr>
                    <a:lstStyle/>
                    <a:p>
                      <a:r>
                        <a:rPr sz="1725" b="0">
                          <a:solidFill>
                            <a:srgbClr val="292929"/>
                          </a:solidFill>
                          <a:latin typeface="KoPubDotum"/>
                          <a:ea typeface="KoPubDotum"/>
                          <a:cs typeface="KoPubDotum"/>
                        </a:rPr>
                        <a:t>중학교</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거리값으로 속도를 계산하고 범위 제한하기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너무 빠른 속도는 어떻게 막을까요?</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6541858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0" name="초등 3~4학년: 가까우면 정지">
            <a:extLst xmlns:a="http://schemas.openxmlformats.org/drawingml/2006/main">
              <a:ext uri="{FF2B5EF4-FFF2-40B4-BE49-F238E27FC236}">
                <a16:creationId xmlns:a16="http://schemas.microsoft.com/office/drawing/2014/main" id="{6D0D2A7A-CC73-460E-800A-DCBCB3AA1042}"/>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초등 3~4학년: 가까우면 정지</a:t>
            </a:r>
          </a:p>
        </p:txBody>
      </p:sp>
      <p:sp>
        <p:nvSpPr>
          <p:cNvPr id="2" name="15">
            <a:extLst xmlns:a="http://schemas.openxmlformats.org/drawingml/2006/main">
              <a:ext uri="{FF2B5EF4-FFF2-40B4-BE49-F238E27FC236}">
                <a16:creationId xmlns:a16="http://schemas.microsoft.com/office/drawing/2014/main" id="{FC7CE6E4-1C26-4021-8D09-84662152180E}"/>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15</a:t>
            </a:r>
          </a:p>
        </p:txBody>
      </p:sp>
      <p:pic>
        <p:nvPicPr>
          <p:cNvPr id="3" name="">
            <a:extLst xmlns:a="http://schemas.openxmlformats.org/drawingml/2006/main">
              <a:ext uri="{FF2B5EF4-FFF2-40B4-BE49-F238E27FC236}">
                <a16:creationId xmlns:a16="http://schemas.microsoft.com/office/drawing/2014/main" id="{3064E003-7B45-41FB-A476-540ED7AEC705}"/>
              </a:ext>
            </a:extLst>
          </p:cNvPr>
          <p:cNvPicPr>
            <a:picLocks xmlns:a="http://schemas.openxmlformats.org/drawingml/2006/main" noChangeAspect="1"/>
          </p:cNvPicPr>
          <p:nvPr/>
        </p:nvPicPr>
        <p:blipFill>
          <a:blip xmlns:r="http://schemas.openxmlformats.org/officeDocument/2006/relationships" xmlns:a="http://schemas.openxmlformats.org/drawingml/2006/main" r:embed="Rd12856c3e89c4c71"/>
          <a:stretch xmlns:a="http://schemas.openxmlformats.org/drawingml/2006/main"/>
        </p:blipFill>
        <p:spPr>
          <a:xfrm xmlns:a="http://schemas.openxmlformats.org/drawingml/2006/main">
            <a:off x="476250" y="2047875"/>
            <a:ext cx="6191250" cy="3968328"/>
          </a:xfrm>
          <a:prstGeom xmlns:a="http://schemas.openxmlformats.org/drawingml/2006/main" prst="rect">
            <a:avLst/>
          </a:prstGeom>
        </p:spPr>
      </p:pic>
      <p:sp>
        <p:nvSpPr>
          <p:cNvPr id="4" name="학생 과제">
            <a:extLst xmlns:a="http://schemas.openxmlformats.org/drawingml/2006/main">
              <a:ext uri="{FF2B5EF4-FFF2-40B4-BE49-F238E27FC236}">
                <a16:creationId xmlns:a16="http://schemas.microsoft.com/office/drawing/2014/main" id="{0ACCCC84-66E9-4BA4-88B0-7AAD07CE48EA}"/>
              </a:ext>
            </a:extLst>
          </p:cNvPr>
          <p:cNvSpPr>
            <a:spLocks xmlns:a="http://schemas.openxmlformats.org/drawingml/2006/main" noGrp="1"/>
          </p:cNvSpPr>
          <p:nvPr/>
        </p:nvSpPr>
        <p:spPr>
          <a:xfrm xmlns:a="http://schemas.openxmlformats.org/drawingml/2006/main">
            <a:off x="7048500" y="2190750"/>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학생 과제</a:t>
            </a:r>
          </a:p>
        </p:txBody>
      </p:sp>
      <p:sp>
        <p:nvSpPr>
          <p:cNvPr id="5" name="책을 가까이 가져가면 멈추는&#10;조건을 만듭니다.">
            <a:extLst xmlns:a="http://schemas.openxmlformats.org/drawingml/2006/main">
              <a:ext uri="{FF2B5EF4-FFF2-40B4-BE49-F238E27FC236}">
                <a16:creationId xmlns:a16="http://schemas.microsoft.com/office/drawing/2014/main" id="{901523DD-A63F-4D87-9650-C3ECE05D1628}"/>
              </a:ext>
            </a:extLst>
          </p:cNvPr>
          <p:cNvSpPr>
            <a:spLocks xmlns:a="http://schemas.openxmlformats.org/drawingml/2006/main" noGrp="1"/>
          </p:cNvSpPr>
          <p:nvPr/>
        </p:nvSpPr>
        <p:spPr>
          <a:xfrm xmlns:a="http://schemas.openxmlformats.org/drawingml/2006/main">
            <a:off x="7048500" y="2602230"/>
            <a:ext cx="316706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책을 가까이 가져가면 멈추는</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조건을 만듭니다.</a:t>
            </a:r>
          </a:p>
        </p:txBody>
      </p:sp>
      <p:sp>
        <p:nvSpPr>
          <p:cNvPr id="6" name="교사가 물을 말">
            <a:extLst xmlns:a="http://schemas.openxmlformats.org/drawingml/2006/main">
              <a:ext uri="{FF2B5EF4-FFF2-40B4-BE49-F238E27FC236}">
                <a16:creationId xmlns:a16="http://schemas.microsoft.com/office/drawing/2014/main" id="{B3E81EF3-6195-498F-81C4-956DBC29CED1}"/>
              </a:ext>
            </a:extLst>
          </p:cNvPr>
          <p:cNvSpPr>
            <a:spLocks xmlns:a="http://schemas.openxmlformats.org/drawingml/2006/main" noGrp="1"/>
          </p:cNvSpPr>
          <p:nvPr/>
        </p:nvSpPr>
        <p:spPr>
          <a:xfrm xmlns:a="http://schemas.openxmlformats.org/drawingml/2006/main">
            <a:off x="7048500" y="3500628"/>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교사가 물을 말</a:t>
            </a:r>
          </a:p>
        </p:txBody>
      </p:sp>
      <p:sp>
        <p:nvSpPr>
          <p:cNvPr id="7" name="“책이 어느 위치에 있을 때&#10;로봇이 멈췄나요?”">
            <a:extLst xmlns:a="http://schemas.openxmlformats.org/drawingml/2006/main">
              <a:ext uri="{FF2B5EF4-FFF2-40B4-BE49-F238E27FC236}">
                <a16:creationId xmlns:a16="http://schemas.microsoft.com/office/drawing/2014/main" id="{28257C0F-2DB5-4A67-A54D-DCC42B09FBC8}"/>
              </a:ext>
            </a:extLst>
          </p:cNvPr>
          <p:cNvSpPr>
            <a:spLocks xmlns:a="http://schemas.openxmlformats.org/drawingml/2006/main" noGrp="1"/>
          </p:cNvSpPr>
          <p:nvPr/>
        </p:nvSpPr>
        <p:spPr>
          <a:xfrm xmlns:a="http://schemas.openxmlformats.org/drawingml/2006/main">
            <a:off x="7048500" y="3912108"/>
            <a:ext cx="316706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“책이 어느 위치에 있을 때</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로봇이 멈췄나요?”</a:t>
            </a:r>
          </a:p>
        </p:txBody>
      </p:sp>
      <p:sp>
        <p:nvSpPr>
          <p:cNvPr id="8" name="마친 뒤 설명">
            <a:extLst xmlns:a="http://schemas.openxmlformats.org/drawingml/2006/main">
              <a:ext uri="{FF2B5EF4-FFF2-40B4-BE49-F238E27FC236}">
                <a16:creationId xmlns:a16="http://schemas.microsoft.com/office/drawing/2014/main" id="{785FBB57-E853-4A24-8720-2B626FCC2F63}"/>
              </a:ext>
            </a:extLst>
          </p:cNvPr>
          <p:cNvSpPr>
            <a:spLocks xmlns:a="http://schemas.openxmlformats.org/drawingml/2006/main" noGrp="1"/>
          </p:cNvSpPr>
          <p:nvPr/>
        </p:nvSpPr>
        <p:spPr>
          <a:xfrm xmlns:a="http://schemas.openxmlformats.org/drawingml/2006/main">
            <a:off x="7048500" y="4810506"/>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마친 뒤 설명</a:t>
            </a:r>
          </a:p>
        </p:txBody>
      </p:sp>
      <p:sp>
        <p:nvSpPr>
          <p:cNvPr id="9" name="센서가 읽은 거리와 멈춘 이유를&#10;자기 말로 설명합니다.">
            <a:extLst xmlns:a="http://schemas.openxmlformats.org/drawingml/2006/main">
              <a:ext uri="{FF2B5EF4-FFF2-40B4-BE49-F238E27FC236}">
                <a16:creationId xmlns:a16="http://schemas.microsoft.com/office/drawing/2014/main" id="{F18C5E37-0D0F-4F03-B768-57E5CA56060F}"/>
              </a:ext>
            </a:extLst>
          </p:cNvPr>
          <p:cNvSpPr>
            <a:spLocks xmlns:a="http://schemas.openxmlformats.org/drawingml/2006/main" noGrp="1"/>
          </p:cNvSpPr>
          <p:nvPr/>
        </p:nvSpPr>
        <p:spPr>
          <a:xfrm xmlns:a="http://schemas.openxmlformats.org/drawingml/2006/main">
            <a:off x="7048500" y="5221986"/>
            <a:ext cx="316706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센서가 읽은 거리와 멈춘 이유를</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자기 말로 설명합니다.</a:t>
            </a:r>
          </a:p>
        </p:txBody>
      </p:sp>
    </p:spTree>
    <p:extLst>
      <p:ext uri="{BB962C8B-B14F-4D97-AF65-F5344CB8AC3E}">
        <p14:creationId xmlns:p14="http://schemas.microsoft.com/office/powerpoint/2010/main" val="58315059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0" name="초등 5~6학년: 반복해서 판단">
            <a:extLst xmlns:a="http://schemas.openxmlformats.org/drawingml/2006/main">
              <a:ext uri="{FF2B5EF4-FFF2-40B4-BE49-F238E27FC236}">
                <a16:creationId xmlns:a16="http://schemas.microsoft.com/office/drawing/2014/main" id="{101FF0CD-7114-4180-BB34-0B56C7CD014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초등 5~6학년: 반복해서 판단</a:t>
            </a:r>
          </a:p>
        </p:txBody>
      </p:sp>
      <p:sp>
        <p:nvSpPr>
          <p:cNvPr id="2" name="16">
            <a:extLst xmlns:a="http://schemas.openxmlformats.org/drawingml/2006/main">
              <a:ext uri="{FF2B5EF4-FFF2-40B4-BE49-F238E27FC236}">
                <a16:creationId xmlns:a16="http://schemas.microsoft.com/office/drawing/2014/main" id="{611CE7CD-5B42-4F7E-BD6B-537571683767}"/>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16</a:t>
            </a:r>
          </a:p>
        </p:txBody>
      </p:sp>
      <p:pic>
        <p:nvPicPr>
          <p:cNvPr id="3" name="">
            <a:extLst xmlns:a="http://schemas.openxmlformats.org/drawingml/2006/main">
              <a:ext uri="{FF2B5EF4-FFF2-40B4-BE49-F238E27FC236}">
                <a16:creationId xmlns:a16="http://schemas.microsoft.com/office/drawing/2014/main" id="{4578BBE1-D4C0-4E16-B087-A8304EB2BF0C}"/>
              </a:ext>
            </a:extLst>
          </p:cNvPr>
          <p:cNvPicPr>
            <a:picLocks xmlns:a="http://schemas.openxmlformats.org/drawingml/2006/main" noChangeAspect="1"/>
          </p:cNvPicPr>
          <p:nvPr/>
        </p:nvPicPr>
        <p:blipFill>
          <a:blip xmlns:r="http://schemas.openxmlformats.org/officeDocument/2006/relationships" xmlns:a="http://schemas.openxmlformats.org/drawingml/2006/main" r:embed="Rd7aceb1d0e744e24"/>
          <a:stretch xmlns:a="http://schemas.openxmlformats.org/drawingml/2006/main"/>
        </p:blipFill>
        <p:spPr>
          <a:xfrm xmlns:a="http://schemas.openxmlformats.org/drawingml/2006/main">
            <a:off x="476250" y="2047875"/>
            <a:ext cx="5444289" cy="5000625"/>
          </a:xfrm>
          <a:prstGeom xmlns:a="http://schemas.openxmlformats.org/drawingml/2006/main" prst="rect">
            <a:avLst/>
          </a:prstGeom>
        </p:spPr>
      </p:pic>
      <p:sp>
        <p:nvSpPr>
          <p:cNvPr id="4" name="먼저 예상">
            <a:extLst xmlns:a="http://schemas.openxmlformats.org/drawingml/2006/main">
              <a:ext uri="{FF2B5EF4-FFF2-40B4-BE49-F238E27FC236}">
                <a16:creationId xmlns:a16="http://schemas.microsoft.com/office/drawing/2014/main" id="{5F6D846D-62A8-4283-A7A3-24223583F6BD}"/>
              </a:ext>
            </a:extLst>
          </p:cNvPr>
          <p:cNvSpPr>
            <a:spLocks xmlns:a="http://schemas.openxmlformats.org/drawingml/2006/main" noGrp="1"/>
          </p:cNvSpPr>
          <p:nvPr/>
        </p:nvSpPr>
        <p:spPr>
          <a:xfrm xmlns:a="http://schemas.openxmlformats.org/drawingml/2006/main">
            <a:off x="6301539" y="2190750"/>
            <a:ext cx="391402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먼저 예상</a:t>
            </a:r>
          </a:p>
        </p:txBody>
      </p:sp>
      <p:sp>
        <p:nvSpPr>
          <p:cNvPr id="5" name="19cm, 20cm, 21cm에서&#10;로봇이 어떻게 움직일지 ">
            <a:extLst xmlns:a="http://schemas.openxmlformats.org/drawingml/2006/main">
              <a:ext uri="{FF2B5EF4-FFF2-40B4-BE49-F238E27FC236}">
                <a16:creationId xmlns:a16="http://schemas.microsoft.com/office/drawing/2014/main" id="{6CAC2900-4A0E-455A-A5F7-4AD0A6A31D1E}"/>
              </a:ext>
            </a:extLst>
          </p:cNvPr>
          <p:cNvSpPr>
            <a:spLocks xmlns:a="http://schemas.openxmlformats.org/drawingml/2006/main" noGrp="1"/>
          </p:cNvSpPr>
          <p:nvPr/>
        </p:nvSpPr>
        <p:spPr>
          <a:xfrm xmlns:a="http://schemas.openxmlformats.org/drawingml/2006/main">
            <a:off x="6301539" y="2602230"/>
            <a:ext cx="3914024"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19cm, 20cm, 21cm에서</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로봇이 어떻게 움직일지 적습니다.</a:t>
            </a:r>
          </a:p>
        </p:txBody>
      </p:sp>
      <p:sp>
        <p:nvSpPr>
          <p:cNvPr id="6" name="직접 시험">
            <a:extLst xmlns:a="http://schemas.openxmlformats.org/drawingml/2006/main">
              <a:ext uri="{FF2B5EF4-FFF2-40B4-BE49-F238E27FC236}">
                <a16:creationId xmlns:a16="http://schemas.microsoft.com/office/drawing/2014/main" id="{1D5F1F85-06A6-4CD6-AAAA-4074A8C5BF47}"/>
              </a:ext>
            </a:extLst>
          </p:cNvPr>
          <p:cNvSpPr>
            <a:spLocks xmlns:a="http://schemas.openxmlformats.org/drawingml/2006/main" noGrp="1"/>
          </p:cNvSpPr>
          <p:nvPr/>
        </p:nvSpPr>
        <p:spPr>
          <a:xfrm xmlns:a="http://schemas.openxmlformats.org/drawingml/2006/main">
            <a:off x="6301539" y="3500628"/>
            <a:ext cx="391402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직접 시험</a:t>
            </a:r>
          </a:p>
        </p:txBody>
      </p:sp>
      <p:sp>
        <p:nvSpPr>
          <p:cNvPr id="7" name="장애물을 넣었다 치우면서&#10;정지와 재출발을 살펴봅니다.">
            <a:extLst xmlns:a="http://schemas.openxmlformats.org/drawingml/2006/main">
              <a:ext uri="{FF2B5EF4-FFF2-40B4-BE49-F238E27FC236}">
                <a16:creationId xmlns:a16="http://schemas.microsoft.com/office/drawing/2014/main" id="{FA835512-0D08-43C0-8182-13265FB3621A}"/>
              </a:ext>
            </a:extLst>
          </p:cNvPr>
          <p:cNvSpPr>
            <a:spLocks xmlns:a="http://schemas.openxmlformats.org/drawingml/2006/main" noGrp="1"/>
          </p:cNvSpPr>
          <p:nvPr/>
        </p:nvSpPr>
        <p:spPr>
          <a:xfrm xmlns:a="http://schemas.openxmlformats.org/drawingml/2006/main">
            <a:off x="6301539" y="3912108"/>
            <a:ext cx="3914024"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장애물을 넣었다 치우면서</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정지와 재출발을 살펴봅니다.</a:t>
            </a:r>
          </a:p>
        </p:txBody>
      </p:sp>
      <p:sp>
        <p:nvSpPr>
          <p:cNvPr id="8" name="설명할 내용">
            <a:extLst xmlns:a="http://schemas.openxmlformats.org/drawingml/2006/main">
              <a:ext uri="{FF2B5EF4-FFF2-40B4-BE49-F238E27FC236}">
                <a16:creationId xmlns:a16="http://schemas.microsoft.com/office/drawing/2014/main" id="{6C8D17BB-0438-427D-8009-C35691DD3492}"/>
              </a:ext>
            </a:extLst>
          </p:cNvPr>
          <p:cNvSpPr>
            <a:spLocks xmlns:a="http://schemas.openxmlformats.org/drawingml/2006/main" noGrp="1"/>
          </p:cNvSpPr>
          <p:nvPr/>
        </p:nvSpPr>
        <p:spPr>
          <a:xfrm xmlns:a="http://schemas.openxmlformats.org/drawingml/2006/main">
            <a:off x="6301539" y="4810506"/>
            <a:ext cx="391402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설명할 내용</a:t>
            </a:r>
          </a:p>
        </p:txBody>
      </p:sp>
      <p:sp>
        <p:nvSpPr>
          <p:cNvPr id="9" name="조건을 반복해서 확인해야&#10;움직임이 바뀌는 이유를 말합니다.">
            <a:extLst xmlns:a="http://schemas.openxmlformats.org/drawingml/2006/main">
              <a:ext uri="{FF2B5EF4-FFF2-40B4-BE49-F238E27FC236}">
                <a16:creationId xmlns:a16="http://schemas.microsoft.com/office/drawing/2014/main" id="{D2657487-A55F-4DF0-BE8A-D8905A28A480}"/>
              </a:ext>
            </a:extLst>
          </p:cNvPr>
          <p:cNvSpPr>
            <a:spLocks xmlns:a="http://schemas.openxmlformats.org/drawingml/2006/main" noGrp="1"/>
          </p:cNvSpPr>
          <p:nvPr/>
        </p:nvSpPr>
        <p:spPr>
          <a:xfrm xmlns:a="http://schemas.openxmlformats.org/drawingml/2006/main">
            <a:off x="6301539" y="5221986"/>
            <a:ext cx="3914024"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조건을 반복해서 확인해야</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움직임이 바뀌는 이유를 말합니다.</a:t>
            </a:r>
          </a:p>
        </p:txBody>
      </p:sp>
    </p:spTree>
    <p:extLst>
      <p:ext uri="{BB962C8B-B14F-4D97-AF65-F5344CB8AC3E}">
        <p14:creationId xmlns:p14="http://schemas.microsoft.com/office/powerpoint/2010/main" val="164688626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9" name="반복 안에 조건 넣기">
            <a:extLst xmlns:a="http://schemas.openxmlformats.org/drawingml/2006/main">
              <a:ext uri="{FF2B5EF4-FFF2-40B4-BE49-F238E27FC236}">
                <a16:creationId xmlns:a16="http://schemas.microsoft.com/office/drawing/2014/main" id="{40A70005-40B9-48E6-9094-974882A989CF}"/>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반복 안에 조건 넣기</a:t>
            </a:r>
          </a:p>
        </p:txBody>
      </p:sp>
      <p:sp>
        <p:nvSpPr>
          <p:cNvPr id="2" name="17">
            <a:extLst xmlns:a="http://schemas.openxmlformats.org/drawingml/2006/main">
              <a:ext uri="{FF2B5EF4-FFF2-40B4-BE49-F238E27FC236}">
                <a16:creationId xmlns:a16="http://schemas.microsoft.com/office/drawing/2014/main" id="{CDA8664A-C846-47CE-9AC9-B25B944983F5}"/>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17</a:t>
            </a:r>
          </a:p>
        </p:txBody>
      </p:sp>
      <p:pic>
        <p:nvPicPr>
          <p:cNvPr id="3" name="">
            <a:extLst xmlns:a="http://schemas.openxmlformats.org/drawingml/2006/main">
              <a:ext uri="{FF2B5EF4-FFF2-40B4-BE49-F238E27FC236}">
                <a16:creationId xmlns:a16="http://schemas.microsoft.com/office/drawing/2014/main" id="{C5C14794-5CAF-44BE-8E0D-6D9D5202F2B7}"/>
              </a:ext>
            </a:extLst>
          </p:cNvPr>
          <p:cNvPicPr>
            <a:picLocks xmlns:a="http://schemas.openxmlformats.org/drawingml/2006/main" noChangeAspect="1"/>
          </p:cNvPicPr>
          <p:nvPr/>
        </p:nvPicPr>
        <p:blipFill>
          <a:blip xmlns:r="http://schemas.openxmlformats.org/officeDocument/2006/relationships" xmlns:a="http://schemas.openxmlformats.org/drawingml/2006/main" r:embed="Rc6b03257792848fc"/>
          <a:stretch xmlns:a="http://schemas.openxmlformats.org/drawingml/2006/main"/>
        </p:blipFill>
        <p:spPr>
          <a:xfrm xmlns:a="http://schemas.openxmlformats.org/drawingml/2006/main">
            <a:off x="476250" y="2047875"/>
            <a:ext cx="2238375" cy="318366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4A87EF7-C35F-4E60-AB70-999D5855BCBD}"/>
              </a:ext>
            </a:extLst>
          </p:cNvPr>
          <p:cNvPicPr>
            <a:picLocks xmlns:a="http://schemas.openxmlformats.org/drawingml/2006/main" noChangeAspect="1"/>
          </p:cNvPicPr>
          <p:nvPr/>
        </p:nvPicPr>
        <p:blipFill>
          <a:blip xmlns:r="http://schemas.openxmlformats.org/officeDocument/2006/relationships" xmlns:a="http://schemas.openxmlformats.org/drawingml/2006/main" r:embed="Rd3a76a3670e9419c"/>
          <a:stretch xmlns:a="http://schemas.openxmlformats.org/drawingml/2006/main"/>
        </p:blipFill>
        <p:spPr>
          <a:xfrm xmlns:a="http://schemas.openxmlformats.org/drawingml/2006/main">
            <a:off x="2905125" y="2047875"/>
            <a:ext cx="2238375" cy="3183665"/>
          </a:xfrm>
          <a:prstGeom xmlns:a="http://schemas.openxmlformats.org/drawingml/2006/main" prst="rect">
            <a:avLst/>
          </a:prstGeom>
        </p:spPr>
      </p:pic>
      <p:sp>
        <p:nvSpPr>
          <p:cNvPr id="5" name="블록 연결">
            <a:extLst xmlns:a="http://schemas.openxmlformats.org/drawingml/2006/main">
              <a:ext uri="{FF2B5EF4-FFF2-40B4-BE49-F238E27FC236}">
                <a16:creationId xmlns:a16="http://schemas.microsoft.com/office/drawing/2014/main" id="{7A25DDDA-5824-45EB-95FB-C74121BC2680}"/>
              </a:ext>
            </a:extLst>
          </p:cNvPr>
          <p:cNvSpPr>
            <a:spLocks xmlns:a="http://schemas.openxmlformats.org/drawingml/2006/main" noGrp="1"/>
          </p:cNvSpPr>
          <p:nvPr/>
        </p:nvSpPr>
        <p:spPr>
          <a:xfrm xmlns:a="http://schemas.openxmlformats.org/drawingml/2006/main">
            <a:off x="5667375" y="2190750"/>
            <a:ext cx="452437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블록 연결</a:t>
            </a:r>
          </a:p>
        </p:txBody>
      </p:sp>
      <p:sp>
        <p:nvSpPr>
          <p:cNvPr id="6" name="무한 반복 안에 만약/아니면을 넣고&#10;거리 조건을 계속 확인">
            <a:extLst xmlns:a="http://schemas.openxmlformats.org/drawingml/2006/main">
              <a:ext uri="{FF2B5EF4-FFF2-40B4-BE49-F238E27FC236}">
                <a16:creationId xmlns:a16="http://schemas.microsoft.com/office/drawing/2014/main" id="{443E3EC0-7B45-4560-B50B-E7A2F5B5AC44}"/>
              </a:ext>
            </a:extLst>
          </p:cNvPr>
          <p:cNvSpPr>
            <a:spLocks xmlns:a="http://schemas.openxmlformats.org/drawingml/2006/main" noGrp="1"/>
          </p:cNvSpPr>
          <p:nvPr/>
        </p:nvSpPr>
        <p:spPr>
          <a:xfrm xmlns:a="http://schemas.openxmlformats.org/drawingml/2006/main">
            <a:off x="5667375" y="2589848"/>
            <a:ext cx="452437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무한 반복 안에 만약/아니면을 넣고</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거리 조건을 계속 확인합니다.</a:t>
            </a:r>
          </a:p>
        </p:txBody>
      </p:sp>
      <p:sp>
        <p:nvSpPr>
          <p:cNvPr id="7" name="생각해 볼 문제">
            <a:extLst xmlns:a="http://schemas.openxmlformats.org/drawingml/2006/main">
              <a:ext uri="{FF2B5EF4-FFF2-40B4-BE49-F238E27FC236}">
                <a16:creationId xmlns:a16="http://schemas.microsoft.com/office/drawing/2014/main" id="{4BEC6A26-54A3-402B-BF30-B667007A7AC2}"/>
              </a:ext>
            </a:extLst>
          </p:cNvPr>
          <p:cNvSpPr>
            <a:spLocks xmlns:a="http://schemas.openxmlformats.org/drawingml/2006/main" noGrp="1"/>
          </p:cNvSpPr>
          <p:nvPr/>
        </p:nvSpPr>
        <p:spPr>
          <a:xfrm xmlns:a="http://schemas.openxmlformats.org/drawingml/2006/main">
            <a:off x="5667375" y="3462718"/>
            <a:ext cx="452437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생각해 볼 문제</a:t>
            </a:r>
          </a:p>
        </p:txBody>
      </p:sp>
      <p:sp>
        <p:nvSpPr>
          <p:cNvPr id="8" name="한 번 멈추면 계속 멈춰 있게 하려면&#10;무엇을 기억하는 변수">
            <a:extLst xmlns:a="http://schemas.openxmlformats.org/drawingml/2006/main">
              <a:ext uri="{FF2B5EF4-FFF2-40B4-BE49-F238E27FC236}">
                <a16:creationId xmlns:a16="http://schemas.microsoft.com/office/drawing/2014/main" id="{06920C90-D64F-4AAE-A7FA-D32A2DE50C83}"/>
              </a:ext>
            </a:extLst>
          </p:cNvPr>
          <p:cNvSpPr>
            <a:spLocks xmlns:a="http://schemas.openxmlformats.org/drawingml/2006/main" noGrp="1"/>
          </p:cNvSpPr>
          <p:nvPr/>
        </p:nvSpPr>
        <p:spPr>
          <a:xfrm xmlns:a="http://schemas.openxmlformats.org/drawingml/2006/main">
            <a:off x="5667375" y="3861816"/>
            <a:ext cx="452437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한 번 멈추면 계속 멈춰 있게 하려면</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무엇을 기억하는 변수가 필요할까요?</a:t>
            </a:r>
          </a:p>
        </p:txBody>
      </p:sp>
    </p:spTree>
    <p:extLst>
      <p:ext uri="{BB962C8B-B14F-4D97-AF65-F5344CB8AC3E}">
        <p14:creationId xmlns:p14="http://schemas.microsoft.com/office/powerpoint/2010/main" val="121473051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중학교: 거리로 속도 계산">
            <a:extLst xmlns:a="http://schemas.openxmlformats.org/drawingml/2006/main">
              <a:ext uri="{FF2B5EF4-FFF2-40B4-BE49-F238E27FC236}">
                <a16:creationId xmlns:a16="http://schemas.microsoft.com/office/drawing/2014/main" id="{788AFF7E-3AEE-4D27-B62E-7C6114299A4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중학교: 거리로 속도 계산</a:t>
            </a:r>
          </a:p>
        </p:txBody>
      </p:sp>
      <p:sp>
        <p:nvSpPr>
          <p:cNvPr id="2" name="18">
            <a:extLst xmlns:a="http://schemas.openxmlformats.org/drawingml/2006/main">
              <a:ext uri="{FF2B5EF4-FFF2-40B4-BE49-F238E27FC236}">
                <a16:creationId xmlns:a16="http://schemas.microsoft.com/office/drawing/2014/main" id="{85C236CC-9798-45B9-A023-BD43B79AFB70}"/>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18</a:t>
            </a:r>
          </a:p>
        </p:txBody>
      </p:sp>
      <p:pic>
        <p:nvPicPr>
          <p:cNvPr id="3" name="">
            <a:extLst xmlns:a="http://schemas.openxmlformats.org/drawingml/2006/main">
              <a:ext uri="{FF2B5EF4-FFF2-40B4-BE49-F238E27FC236}">
                <a16:creationId xmlns:a16="http://schemas.microsoft.com/office/drawing/2014/main" id="{D0A03122-426A-4570-B91F-92EE9677D02B}"/>
              </a:ext>
            </a:extLst>
          </p:cNvPr>
          <p:cNvPicPr>
            <a:picLocks xmlns:a="http://schemas.openxmlformats.org/drawingml/2006/main" noChangeAspect="1"/>
          </p:cNvPicPr>
          <p:nvPr/>
        </p:nvPicPr>
        <p:blipFill>
          <a:blip xmlns:r="http://schemas.openxmlformats.org/officeDocument/2006/relationships" xmlns:a="http://schemas.openxmlformats.org/drawingml/2006/main" r:embed="Rc05e4e42dd92436c"/>
          <a:stretch xmlns:a="http://schemas.openxmlformats.org/drawingml/2006/main"/>
        </p:blipFill>
        <p:spPr>
          <a:xfrm xmlns:a="http://schemas.openxmlformats.org/drawingml/2006/main">
            <a:off x="476250" y="2143125"/>
            <a:ext cx="9715500" cy="1733550"/>
          </a:xfrm>
          <a:prstGeom xmlns:a="http://schemas.openxmlformats.org/drawingml/2006/main" prst="rect">
            <a:avLst/>
          </a:prstGeom>
        </p:spPr>
      </p:pic>
      <p:sp>
        <p:nvSpPr>
          <p:cNvPr id="4" name="거리에서 200mm를 빼고 2를 곱해 속도를 정합니다.">
            <a:extLst xmlns:a="http://schemas.openxmlformats.org/drawingml/2006/main">
              <a:ext uri="{FF2B5EF4-FFF2-40B4-BE49-F238E27FC236}">
                <a16:creationId xmlns:a16="http://schemas.microsoft.com/office/drawing/2014/main" id="{EA51D46A-1BE1-4515-A0BC-B192E8271535}"/>
              </a:ext>
            </a:extLst>
          </p:cNvPr>
          <p:cNvSpPr>
            <a:spLocks xmlns:a="http://schemas.openxmlformats.org/drawingml/2006/main" noGrp="1"/>
          </p:cNvSpPr>
          <p:nvPr/>
        </p:nvSpPr>
        <p:spPr>
          <a:xfrm xmlns:a="http://schemas.openxmlformats.org/drawingml/2006/main">
            <a:off x="523875" y="4572000"/>
            <a:ext cx="9620250" cy="3952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92929"/>
                </a:solidFill>
                <a:latin typeface="KoPubDotum"/>
                <a:ea typeface="KoPubDotum"/>
                <a:cs typeface="KoPubDotum"/>
              </a:defRPr>
            </a:defPPr>
          </a:lstStyle>
          <a:p xmlns:a="http://schemas.openxmlformats.org/drawingml/2006/main">
            <a:pPr algn="l">
              <a:lnSpc>
                <a:spcPct val="116000"/>
              </a:lnSpc>
              <a:buNone/>
              <a:defRPr sz="1875" b="0">
                <a:solidFill>
                  <a:srgbClr val="292929"/>
                </a:solidFill>
                <a:latin typeface="KoPubDotum"/>
                <a:ea typeface="KoPubDotum"/>
                <a:cs typeface="KoPubDotum"/>
              </a:defRPr>
            </a:pPr>
            <a:r>
              <a:rPr sz="1875" b="0">
                <a:solidFill>
                  <a:srgbClr val="292929"/>
                </a:solidFill>
                <a:latin typeface="KoPubDotum"/>
                <a:ea typeface="KoPubDotum"/>
                <a:cs typeface="KoPubDotum"/>
              </a:rPr>
              <a:t>거리에서 200mm를 빼고 2를 곱해 속도를 정합니다.</a:t>
            </a:r>
          </a:p>
        </p:txBody>
      </p:sp>
      <p:sp>
        <p:nvSpPr>
          <p:cNvPr id="5" name="최솟값 100°/초 때문에 200mm 경계에서 갑자기 출발">
            <a:extLst xmlns:a="http://schemas.openxmlformats.org/drawingml/2006/main">
              <a:ext uri="{FF2B5EF4-FFF2-40B4-BE49-F238E27FC236}">
                <a16:creationId xmlns:a16="http://schemas.microsoft.com/office/drawing/2014/main" id="{B5E39961-E45F-41A7-BCC9-4D1385A388A7}"/>
              </a:ext>
            </a:extLst>
          </p:cNvPr>
          <p:cNvSpPr>
            <a:spLocks xmlns:a="http://schemas.openxmlformats.org/drawingml/2006/main" noGrp="1"/>
          </p:cNvSpPr>
          <p:nvPr/>
        </p:nvSpPr>
        <p:spPr>
          <a:xfrm xmlns:a="http://schemas.openxmlformats.org/drawingml/2006/main">
            <a:off x="523875" y="5157788"/>
            <a:ext cx="9620250" cy="3952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92929"/>
                </a:solidFill>
                <a:latin typeface="KoPubDotum"/>
                <a:ea typeface="KoPubDotum"/>
                <a:cs typeface="KoPubDotum"/>
              </a:defRPr>
            </a:defPPr>
          </a:lstStyle>
          <a:p xmlns:a="http://schemas.openxmlformats.org/drawingml/2006/main">
            <a:pPr algn="l">
              <a:lnSpc>
                <a:spcPct val="116000"/>
              </a:lnSpc>
              <a:buNone/>
              <a:defRPr sz="1875" b="0">
                <a:solidFill>
                  <a:srgbClr val="292929"/>
                </a:solidFill>
                <a:latin typeface="KoPubDotum"/>
                <a:ea typeface="KoPubDotum"/>
                <a:cs typeface="KoPubDotum"/>
              </a:defRPr>
            </a:pPr>
            <a:r>
              <a:rPr sz="1875" b="0">
                <a:solidFill>
                  <a:srgbClr val="292929"/>
                </a:solidFill>
                <a:latin typeface="KoPubDotum"/>
                <a:ea typeface="KoPubDotum"/>
                <a:cs typeface="KoPubDotum"/>
              </a:rPr>
              <a:t>최솟값 100°/초 때문에 200mm 경계에서 갑자기 출발합니다.</a:t>
            </a:r>
          </a:p>
        </p:txBody>
      </p:sp>
    </p:spTree>
    <p:extLst>
      <p:ext uri="{BB962C8B-B14F-4D97-AF65-F5344CB8AC3E}">
        <p14:creationId xmlns:p14="http://schemas.microsoft.com/office/powerpoint/2010/main" val="23559047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1차시 실습 확인">
            <a:extLst xmlns:a="http://schemas.openxmlformats.org/drawingml/2006/main">
              <a:ext uri="{FF2B5EF4-FFF2-40B4-BE49-F238E27FC236}">
                <a16:creationId xmlns:a16="http://schemas.microsoft.com/office/drawing/2014/main" id="{0F7701D7-78C1-4874-BC32-A577B2CDC44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1차시 실습 확인</a:t>
            </a:r>
          </a:p>
        </p:txBody>
      </p:sp>
      <p:sp>
        <p:nvSpPr>
          <p:cNvPr id="2" name="19">
            <a:extLst xmlns:a="http://schemas.openxmlformats.org/drawingml/2006/main">
              <a:ext uri="{FF2B5EF4-FFF2-40B4-BE49-F238E27FC236}">
                <a16:creationId xmlns:a16="http://schemas.microsoft.com/office/drawing/2014/main" id="{EEA70EBD-F155-4039-BF46-24C248125661}"/>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19</a:t>
            </a:r>
          </a:p>
        </p:txBody>
      </p:sp>
      <p:sp>
        <p:nvSpPr>
          <p:cNvPr id="3" name="조건 확인">
            <a:extLst xmlns:a="http://schemas.openxmlformats.org/drawingml/2006/main">
              <a:ext uri="{FF2B5EF4-FFF2-40B4-BE49-F238E27FC236}">
                <a16:creationId xmlns:a16="http://schemas.microsoft.com/office/drawing/2014/main" id="{80C787C2-6465-4AF8-B3F5-1807FA345C85}"/>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조건 확인</a:t>
            </a:r>
          </a:p>
        </p:txBody>
      </p:sp>
      <p:sp>
        <p:nvSpPr>
          <p:cNvPr id="4" name="출발 상태가 켜져도 장애물이 가까우면 멈추나요?&#10;조건표에서">
            <a:extLst xmlns:a="http://schemas.openxmlformats.org/drawingml/2006/main">
              <a:ext uri="{FF2B5EF4-FFF2-40B4-BE49-F238E27FC236}">
                <a16:creationId xmlns:a16="http://schemas.microsoft.com/office/drawing/2014/main" id="{A0F0B4D1-5546-448C-AF74-3304956F8E76}"/>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출발 상태가 켜져도 장애물이 가까우면 멈추나요?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조건표에서 예상한 결과와 실제 결과를 비교합니다.</a:t>
            </a:r>
          </a:p>
        </p:txBody>
      </p:sp>
      <p:sp>
        <p:nvSpPr>
          <p:cNvPr id="5" name="학생에게 줄 과제">
            <a:extLst xmlns:a="http://schemas.openxmlformats.org/drawingml/2006/main">
              <a:ext uri="{FF2B5EF4-FFF2-40B4-BE49-F238E27FC236}">
                <a16:creationId xmlns:a16="http://schemas.microsoft.com/office/drawing/2014/main" id="{7272C623-7DE6-4133-8A2C-EC9FFEAE9E16}"/>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학생에게 줄 과제</a:t>
            </a:r>
          </a:p>
        </p:txBody>
      </p:sp>
      <p:sp>
        <p:nvSpPr>
          <p:cNvPr id="6" name="대상 학년을 정하고 학생이 바꿔 볼 값 하나를 고릅니다.&#10;">
            <a:extLst xmlns:a="http://schemas.openxmlformats.org/drawingml/2006/main">
              <a:ext uri="{FF2B5EF4-FFF2-40B4-BE49-F238E27FC236}">
                <a16:creationId xmlns:a16="http://schemas.microsoft.com/office/drawing/2014/main" id="{E36AA991-6998-4E65-AE15-2DC122F0F888}"/>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대상 학년을 정하고 학생이 바꿔 볼 값 하나를 고릅니다.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활동을 마친 학생에게 어떤 질문을 할지 적습니다.</a:t>
            </a:r>
          </a:p>
        </p:txBody>
      </p:sp>
    </p:spTree>
    <p:extLst>
      <p:ext uri="{BB962C8B-B14F-4D97-AF65-F5344CB8AC3E}">
        <p14:creationId xmlns:p14="http://schemas.microsoft.com/office/powerpoint/2010/main" val="145259984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59E169-6465-4BFF-B5C4-2BE7955A223B}"/>
              </a:ext>
            </a:extLst>
          </p:cNvPr>
          <p:cNvSpPr>
            <a:spLocks xmlns:a="http://schemas.openxmlformats.org/drawingml/2006/main" noGrp="1"/>
          </p:cNvSpPr>
          <p:nvPr/>
        </p:nvSpPr>
        <p:spPr>
          <a:xfrm xmlns:a="http://schemas.openxmlformats.org/drawingml/2006/main">
            <a:off x="742950" y="1381125"/>
            <a:ext cx="2095500" cy="495300"/>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2" name="2차시">
            <a:extLst xmlns:a="http://schemas.openxmlformats.org/drawingml/2006/main">
              <a:ext uri="{FF2B5EF4-FFF2-40B4-BE49-F238E27FC236}">
                <a16:creationId xmlns:a16="http://schemas.microsoft.com/office/drawing/2014/main" id="{62C88878-0CA7-4EF9-A49D-BB469D9E6A8A}"/>
              </a:ext>
            </a:extLst>
          </p:cNvPr>
          <p:cNvSpPr>
            <a:spLocks xmlns:a="http://schemas.openxmlformats.org/drawingml/2006/main" noGrp="1"/>
          </p:cNvSpPr>
          <p:nvPr/>
        </p:nvSpPr>
        <p:spPr>
          <a:xfrm xmlns:a="http://schemas.openxmlformats.org/drawingml/2006/main">
            <a:off x="819150" y="146685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KoPubDotum"/>
                <a:ea typeface="KoPubDotum"/>
                <a:cs typeface="KoPubDotum"/>
              </a:defRPr>
            </a:defPPr>
          </a:lstStyle>
          <a:p xmlns:a="http://schemas.openxmlformats.org/drawingml/2006/main">
            <a:pPr algn="ctr">
              <a:lnSpc>
                <a:spcPct val="116000"/>
              </a:lnSpc>
              <a:buNone/>
              <a:defRPr sz="2175" b="1">
                <a:solidFill>
                  <a:srgbClr val="FFFFFF"/>
                </a:solidFill>
                <a:latin typeface="KoPubDotum"/>
                <a:ea typeface="KoPubDotum"/>
                <a:cs typeface="KoPubDotum"/>
              </a:defRPr>
            </a:pPr>
            <a:r>
              <a:rPr sz="2175" b="1">
                <a:solidFill>
                  <a:srgbClr val="FFFFFF"/>
                </a:solidFill>
                <a:latin typeface="KoPubDotum"/>
                <a:ea typeface="KoPubDotum"/>
                <a:cs typeface="KoPubDotum"/>
              </a:rPr>
              <a:t>2차시</a:t>
            </a:r>
          </a:p>
        </p:txBody>
      </p:sp>
      <p:sp>
        <p:nvSpPr>
          <p:cNvPr id="3" name="블록에서 Python으로&#10;거리 조건 코딩">
            <a:extLst xmlns:a="http://schemas.openxmlformats.org/drawingml/2006/main">
              <a:ext uri="{FF2B5EF4-FFF2-40B4-BE49-F238E27FC236}">
                <a16:creationId xmlns:a16="http://schemas.microsoft.com/office/drawing/2014/main" id="{D1038CA5-3424-4976-9189-FA95CE0D1BAA}"/>
              </a:ext>
            </a:extLst>
          </p:cNvPr>
          <p:cNvSpPr>
            <a:spLocks xmlns:a="http://schemas.openxmlformats.org/drawingml/2006/main" noGrp="1"/>
          </p:cNvSpPr>
          <p:nvPr/>
        </p:nvSpPr>
        <p:spPr>
          <a:xfrm xmlns:a="http://schemas.openxmlformats.org/drawingml/2006/main">
            <a:off x="781050" y="2257425"/>
            <a:ext cx="8953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2929"/>
                </a:solidFill>
                <a:latin typeface="KoPubDotum"/>
                <a:ea typeface="KoPubDotum"/>
                <a:cs typeface="KoPubDotum"/>
              </a:defRPr>
            </a:defPPr>
          </a:lstStyle>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블록에서 Python으로</a:t>
            </a:r>
          </a:p>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거리 조건 코딩</a:t>
            </a:r>
          </a:p>
        </p:txBody>
      </p:sp>
      <p:sp>
        <p:nvSpPr>
          <p:cNvPr id="4" name="">
            <a:extLst xmlns:a="http://schemas.openxmlformats.org/drawingml/2006/main">
              <a:ext uri="{FF2B5EF4-FFF2-40B4-BE49-F238E27FC236}">
                <a16:creationId xmlns:a16="http://schemas.microsoft.com/office/drawing/2014/main" id="{971D8260-9FEC-4E55-90B7-DCA5ED2880E5}"/>
              </a:ext>
            </a:extLst>
          </p:cNvPr>
          <p:cNvSpPr>
            <a:spLocks xmlns:a="http://schemas.openxmlformats.org/drawingml/2006/main" noGrp="1"/>
          </p:cNvSpPr>
          <p:nvPr/>
        </p:nvSpPr>
        <p:spPr>
          <a:xfrm xmlns:a="http://schemas.openxmlformats.org/drawingml/2006/main">
            <a:off x="742950" y="4191000"/>
            <a:ext cx="2095500" cy="485775"/>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5" name="학습 목표">
            <a:extLst xmlns:a="http://schemas.openxmlformats.org/drawingml/2006/main">
              <a:ext uri="{FF2B5EF4-FFF2-40B4-BE49-F238E27FC236}">
                <a16:creationId xmlns:a16="http://schemas.microsoft.com/office/drawing/2014/main" id="{3D3AA56F-C6FD-4BBB-8874-F8B63FA79F83}"/>
              </a:ext>
            </a:extLst>
          </p:cNvPr>
          <p:cNvSpPr>
            <a:spLocks xmlns:a="http://schemas.openxmlformats.org/drawingml/2006/main" noGrp="1"/>
          </p:cNvSpPr>
          <p:nvPr/>
        </p:nvSpPr>
        <p:spPr>
          <a:xfrm xmlns:a="http://schemas.openxmlformats.org/drawingml/2006/main">
            <a:off x="838200" y="42767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FFFFF"/>
                </a:solidFill>
                <a:latin typeface="KoPubDotum"/>
                <a:ea typeface="KoPubDotum"/>
                <a:cs typeface="KoPubDotum"/>
              </a:defRPr>
            </a:defPPr>
          </a:lstStyle>
          <a:p xmlns:a="http://schemas.openxmlformats.org/drawingml/2006/main">
            <a:pPr algn="ctr">
              <a:lnSpc>
                <a:spcPct val="116000"/>
              </a:lnSpc>
              <a:buNone/>
              <a:defRPr sz="2100" b="1">
                <a:solidFill>
                  <a:srgbClr val="FFFFFF"/>
                </a:solidFill>
                <a:latin typeface="KoPubDotum"/>
                <a:ea typeface="KoPubDotum"/>
                <a:cs typeface="KoPubDotum"/>
              </a:defRPr>
            </a:pPr>
            <a:r>
              <a:rPr sz="2100" b="1">
                <a:solidFill>
                  <a:srgbClr val="FFFFFF"/>
                </a:solidFill>
                <a:latin typeface="KoPubDotum"/>
                <a:ea typeface="KoPubDotum"/>
                <a:cs typeface="KoPubDotum"/>
              </a:rPr>
              <a:t>학습 목표</a:t>
            </a:r>
          </a:p>
        </p:txBody>
      </p:sp>
      <p:sp>
        <p:nvSpPr>
          <p:cNvPr id="6" name="1. 블록의 조건과 반복을 Python에서 찾습니다.&#10;2.">
            <a:extLst xmlns:a="http://schemas.openxmlformats.org/drawingml/2006/main">
              <a:ext uri="{FF2B5EF4-FFF2-40B4-BE49-F238E27FC236}">
                <a16:creationId xmlns:a16="http://schemas.microsoft.com/office/drawing/2014/main" id="{7C581F9E-264D-4077-9460-49EAF62E2493}"/>
              </a:ext>
            </a:extLst>
          </p:cNvPr>
          <p:cNvSpPr>
            <a:spLocks xmlns:a="http://schemas.openxmlformats.org/drawingml/2006/main" noGrp="1"/>
          </p:cNvSpPr>
          <p:nvPr/>
        </p:nvSpPr>
        <p:spPr>
          <a:xfrm xmlns:a="http://schemas.openxmlformats.org/drawingml/2006/main">
            <a:off x="3381375" y="4171950"/>
            <a:ext cx="6334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92929"/>
                </a:solidFill>
                <a:latin typeface="KoPubDotum"/>
                <a:ea typeface="KoPubDotum"/>
                <a:cs typeface="KoPubDotum"/>
              </a:defRPr>
            </a:defPPr>
          </a:lstStyle>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1. 블록의 조건과 반복을 Python에서 찾습니다.</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2. 함수를 만들고 거리값을 넣어 결과를 계산합니다.</a:t>
            </a:r>
          </a:p>
        </p:txBody>
      </p:sp>
      <p:sp>
        <p:nvSpPr>
          <p:cNvPr id="7" name="거리 정지 코드와 속도 계산 함수 50분">
            <a:extLst xmlns:a="http://schemas.openxmlformats.org/drawingml/2006/main">
              <a:ext uri="{FF2B5EF4-FFF2-40B4-BE49-F238E27FC236}">
                <a16:creationId xmlns:a16="http://schemas.microsoft.com/office/drawing/2014/main" id="{AFAFA3B6-5619-4323-A06F-53F94640703C}"/>
              </a:ext>
            </a:extLst>
          </p:cNvPr>
          <p:cNvSpPr>
            <a:spLocks xmlns:a="http://schemas.openxmlformats.org/drawingml/2006/main" noGrp="1"/>
          </p:cNvSpPr>
          <p:nvPr/>
        </p:nvSpPr>
        <p:spPr>
          <a:xfrm xmlns:a="http://schemas.openxmlformats.org/drawingml/2006/main">
            <a:off x="3381375" y="5810250"/>
            <a:ext cx="633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거리 정지 코드와 속도 계산 함수 50분</a:t>
            </a:r>
          </a:p>
        </p:txBody>
      </p:sp>
    </p:spTree>
    <p:extLst>
      <p:ext uri="{BB962C8B-B14F-4D97-AF65-F5344CB8AC3E}">
        <p14:creationId xmlns:p14="http://schemas.microsoft.com/office/powerpoint/2010/main" val="85282965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블록과 Python 비교">
            <a:extLst xmlns:a="http://schemas.openxmlformats.org/drawingml/2006/main">
              <a:ext uri="{FF2B5EF4-FFF2-40B4-BE49-F238E27FC236}">
                <a16:creationId xmlns:a16="http://schemas.microsoft.com/office/drawing/2014/main" id="{54CD1CEB-1353-439A-BED2-F207FDB83902}"/>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블록과 Python 비교</a:t>
            </a:r>
          </a:p>
        </p:txBody>
      </p:sp>
      <p:sp>
        <p:nvSpPr>
          <p:cNvPr id="2" name="21">
            <a:extLst xmlns:a="http://schemas.openxmlformats.org/drawingml/2006/main">
              <a:ext uri="{FF2B5EF4-FFF2-40B4-BE49-F238E27FC236}">
                <a16:creationId xmlns:a16="http://schemas.microsoft.com/office/drawing/2014/main" id="{862BEC1D-3C9E-4E1F-8DEE-F621DF8FEAD8}"/>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21</a:t>
            </a:r>
          </a:p>
        </p:txBody>
      </p:sp>
      <p:graphicFrame>
        <p:nvGraphicFramePr>
          <p:cNvPr id="3" name="">
            <a:extLst xmlns:a="http://schemas.openxmlformats.org/drawingml/2006/main">
              <a:ext uri="{FF2B5EF4-FFF2-40B4-BE49-F238E27FC236}">
                <a16:creationId xmlns:a16="http://schemas.microsoft.com/office/drawing/2014/main" id="{59641550-8828-4DEB-9F89-C48EFB2D610E}"/>
              </a:ext>
            </a:extLst>
          </p:cNvPr>
          <p:cNvGraphicFramePr/>
          <p:nvPr/>
        </p:nvGraphicFramePr>
        <p:xfrm>
          <a:off xmlns:a="http://schemas.openxmlformats.org/drawingml/2006/main" x="476250" y="1981200"/>
          <a:ext xmlns:a="http://schemas.openxmlformats.org/drawingml/2006/main" cx="9739313" cy="4476750"/>
        </p:xfrm>
        <a:graphic xmlns:a="http://schemas.openxmlformats.org/drawingml/2006/main">
          <a:graphicData uri="http://schemas.openxmlformats.org/drawingml/2006/table">
            <a:tbl>
              <a:tblPr/>
              <a:tblGrid>
                <a:gridCol w="2434828"/>
                <a:gridCol w="7304485"/>
              </a:tblGrid>
              <a:tr h="457200">
                <a:tc>
                  <a:txBody>
                    <a:bodyPr lIns="133350" tIns="114300" rIns="114300" bIns="76200">
                      <a:noAutofit/>
                    </a:bodyPr>
                    <a:lstStyle/>
                    <a:p>
                      <a:r>
                        <a:rPr sz="1725" b="1">
                          <a:solidFill>
                            <a:srgbClr val="FFFFFF"/>
                          </a:solidFill>
                          <a:latin typeface="KoPubDotum"/>
                          <a:ea typeface="KoPubDotum"/>
                          <a:cs typeface="KoPubDotum"/>
                        </a:rPr>
                        <a:t>블록의 역할</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Python 표현</a:t>
                      </a:r>
                    </a:p>
                  </a:txBody>
                  <a:tcPr marL="91440" marR="91440" marT="45720" marB="45720" anchor="ctr">
                    <a:solidFill>
                      <a:srgbClr val="F7972B"/>
                    </a:solidFill>
                  </a:tcPr>
                </a:tc>
              </a:tr>
              <a:tr h="669925">
                <a:tc>
                  <a:txBody>
                    <a:bodyPr lIns="133350" tIns="114300" rIns="114300" bIns="76200">
                      <a:noAutofit/>
                    </a:bodyPr>
                    <a:lstStyle/>
                    <a:p>
                      <a:r>
                        <a:rPr sz="1725" b="0">
                          <a:solidFill>
                            <a:srgbClr val="292929"/>
                          </a:solidFill>
                          <a:latin typeface="KoPubDotum"/>
                          <a:ea typeface="KoPubDotum"/>
                          <a:cs typeface="KoPubDotum"/>
                        </a:rPr>
                        <a:t>시작</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async def main() / runloop.run(main())</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계속 반복</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while True:</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만약 / 아니면</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if / else</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거리값 변수</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d = distance_sensor.distance(port.B)</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기다리기</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await runloop.sleep_ms(20)</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사용자 정의 기능</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def 함수이름(): / return</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62578393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거리 조건의 블록과 Python">
            <a:extLst xmlns:a="http://schemas.openxmlformats.org/drawingml/2006/main">
              <a:ext uri="{FF2B5EF4-FFF2-40B4-BE49-F238E27FC236}">
                <a16:creationId xmlns:a16="http://schemas.microsoft.com/office/drawing/2014/main" id="{C587B9FB-A1F0-46C1-98C9-D73ABB9BB73B}"/>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 조건의 블록과 Python</a:t>
            </a:r>
          </a:p>
        </p:txBody>
      </p:sp>
      <p:sp>
        <p:nvSpPr>
          <p:cNvPr id="2" name="22">
            <a:extLst xmlns:a="http://schemas.openxmlformats.org/drawingml/2006/main">
              <a:ext uri="{FF2B5EF4-FFF2-40B4-BE49-F238E27FC236}">
                <a16:creationId xmlns:a16="http://schemas.microsoft.com/office/drawing/2014/main" id="{A3B28215-EF1F-4AC1-8B43-BB784CA7CB93}"/>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22</a:t>
            </a:r>
          </a:p>
        </p:txBody>
      </p:sp>
      <p:pic>
        <p:nvPicPr>
          <p:cNvPr id="3" name="">
            <a:extLst xmlns:a="http://schemas.openxmlformats.org/drawingml/2006/main">
              <a:ext uri="{FF2B5EF4-FFF2-40B4-BE49-F238E27FC236}">
                <a16:creationId xmlns:a16="http://schemas.microsoft.com/office/drawing/2014/main" id="{09AF4A5E-7532-4D77-ADDB-42B9E0CADA25}"/>
              </a:ext>
            </a:extLst>
          </p:cNvPr>
          <p:cNvPicPr>
            <a:picLocks xmlns:a="http://schemas.openxmlformats.org/drawingml/2006/main" noChangeAspect="1"/>
          </p:cNvPicPr>
          <p:nvPr/>
        </p:nvPicPr>
        <p:blipFill>
          <a:blip xmlns:r="http://schemas.openxmlformats.org/officeDocument/2006/relationships" xmlns:a="http://schemas.openxmlformats.org/drawingml/2006/main" r:embed="R10ccb0c7ff4c4e6d"/>
          <a:stretch xmlns:a="http://schemas.openxmlformats.org/drawingml/2006/main"/>
        </p:blipFill>
        <p:spPr>
          <a:xfrm xmlns:a="http://schemas.openxmlformats.org/drawingml/2006/main">
            <a:off x="476250" y="2047875"/>
            <a:ext cx="3619500" cy="3324541"/>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8A6A068-FC35-4C3D-96F6-EBBE513E967E}"/>
              </a:ext>
            </a:extLst>
          </p:cNvPr>
          <p:cNvPicPr>
            <a:picLocks xmlns:a="http://schemas.openxmlformats.org/drawingml/2006/main" noChangeAspect="1"/>
          </p:cNvPicPr>
          <p:nvPr/>
        </p:nvPicPr>
        <p:blipFill>
          <a:blip xmlns:r="http://schemas.openxmlformats.org/officeDocument/2006/relationships" xmlns:a="http://schemas.openxmlformats.org/drawingml/2006/main" r:embed="Rf0e7e1a0ba074ae9"/>
          <a:stretch xmlns:a="http://schemas.openxmlformats.org/drawingml/2006/main"/>
        </p:blipFill>
        <p:spPr>
          <a:xfrm xmlns:a="http://schemas.openxmlformats.org/drawingml/2006/main">
            <a:off x="4381500" y="2047875"/>
            <a:ext cx="5905500" cy="3199707"/>
          </a:xfrm>
          <a:prstGeom xmlns:a="http://schemas.openxmlformats.org/drawingml/2006/main" prst="rect">
            <a:avLst/>
          </a:prstGeom>
        </p:spPr>
      </p:pic>
      <p:sp>
        <p:nvSpPr>
          <p:cNvPr id="5" name="블록 20cm는 Python 200mm입니다. Python">
            <a:extLst xmlns:a="http://schemas.openxmlformats.org/drawingml/2006/main">
              <a:ext uri="{FF2B5EF4-FFF2-40B4-BE49-F238E27FC236}">
                <a16:creationId xmlns:a16="http://schemas.microsoft.com/office/drawing/2014/main" id="{B0B67DEA-5BCB-4344-81BC-8238B275A6B4}"/>
              </a:ext>
            </a:extLst>
          </p:cNvPr>
          <p:cNvSpPr>
            <a:spLocks xmlns:a="http://schemas.openxmlformats.org/drawingml/2006/main" noGrp="1"/>
          </p:cNvSpPr>
          <p:nvPr/>
        </p:nvSpPr>
        <p:spPr>
          <a:xfrm xmlns:a="http://schemas.openxmlformats.org/drawingml/2006/main">
            <a:off x="523875" y="5857875"/>
            <a:ext cx="9620250"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블록 20cm는 Python 200mm입니다. Python은 측정 실패값 -1에서도 멈춥니다.</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블록 25%와 Python velocity=200(°/초)은 단위가 달라 같은 속도값이 아닙니다.</a:t>
            </a:r>
          </a:p>
        </p:txBody>
      </p:sp>
    </p:spTree>
    <p:extLst>
      <p:ext uri="{BB962C8B-B14F-4D97-AF65-F5344CB8AC3E}">
        <p14:creationId xmlns:p14="http://schemas.microsoft.com/office/powerpoint/2010/main" val="71042290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9" name="Python 프로젝트와 도움말">
            <a:extLst xmlns:a="http://schemas.openxmlformats.org/drawingml/2006/main">
              <a:ext uri="{FF2B5EF4-FFF2-40B4-BE49-F238E27FC236}">
                <a16:creationId xmlns:a16="http://schemas.microsoft.com/office/drawing/2014/main" id="{41852F3D-4E38-481F-A7DE-764E461BB0C9}"/>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Python 프로젝트와 도움말</a:t>
            </a:r>
          </a:p>
        </p:txBody>
      </p:sp>
      <p:sp>
        <p:nvSpPr>
          <p:cNvPr id="2" name="23">
            <a:extLst xmlns:a="http://schemas.openxmlformats.org/drawingml/2006/main">
              <a:ext uri="{FF2B5EF4-FFF2-40B4-BE49-F238E27FC236}">
                <a16:creationId xmlns:a16="http://schemas.microsoft.com/office/drawing/2014/main" id="{78754AD9-EF79-4310-B107-FEB859F01692}"/>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23</a:t>
            </a:r>
          </a:p>
        </p:txBody>
      </p:sp>
      <p:sp>
        <p:nvSpPr>
          <p:cNvPr id="3" name="프로젝트 열기">
            <a:extLst xmlns:a="http://schemas.openxmlformats.org/drawingml/2006/main">
              <a:ext uri="{FF2B5EF4-FFF2-40B4-BE49-F238E27FC236}">
                <a16:creationId xmlns:a16="http://schemas.microsoft.com/office/drawing/2014/main" id="{2C00F325-B167-40DB-8144-67F7420A114D}"/>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프로젝트 열기</a:t>
            </a:r>
          </a:p>
        </p:txBody>
      </p:sp>
      <p:sp>
        <p:nvSpPr>
          <p:cNvPr id="4" name="새 프로젝트에서 파이썬을 고릅니다.&#10;기본 코드의 impor">
            <a:extLst xmlns:a="http://schemas.openxmlformats.org/drawingml/2006/main">
              <a:ext uri="{FF2B5EF4-FFF2-40B4-BE49-F238E27FC236}">
                <a16:creationId xmlns:a16="http://schemas.microsoft.com/office/drawing/2014/main" id="{8F13F32E-23E2-40CB-9925-79A4156DE4FB}"/>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새 프로젝트에서 파이썬을 고릅니다.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기본 코드의 import, main, runloop.run을 찾아봅니다.</a:t>
            </a:r>
          </a:p>
        </p:txBody>
      </p:sp>
      <p:sp>
        <p:nvSpPr>
          <p:cNvPr id="5" name="사용할 모듈">
            <a:extLst xmlns:a="http://schemas.openxmlformats.org/drawingml/2006/main">
              <a:ext uri="{FF2B5EF4-FFF2-40B4-BE49-F238E27FC236}">
                <a16:creationId xmlns:a16="http://schemas.microsoft.com/office/drawing/2014/main" id="{1247B407-611D-46D6-830F-3548C3A4744B}"/>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사용할 모듈</a:t>
            </a:r>
          </a:p>
        </p:txBody>
      </p:sp>
      <p:sp>
        <p:nvSpPr>
          <p:cNvPr id="6" name="거리센서는 distance_sensor, 모터 쌍은 mot">
            <a:extLst xmlns:a="http://schemas.openxmlformats.org/drawingml/2006/main">
              <a:ext uri="{FF2B5EF4-FFF2-40B4-BE49-F238E27FC236}">
                <a16:creationId xmlns:a16="http://schemas.microsoft.com/office/drawing/2014/main" id="{A468E95B-5D44-494E-81F2-A101A7BDD9E7}"/>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거리센서는 distance_sensor, 모터 쌍은 motor_pair를 씁니다.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앱의 Python 도움말에서 함수의 인자와 단위를 확인합니다.</a:t>
            </a:r>
          </a:p>
        </p:txBody>
      </p:sp>
      <p:sp>
        <p:nvSpPr>
          <p:cNvPr id="7" name="옛 예제와 구별">
            <a:extLst xmlns:a="http://schemas.openxmlformats.org/drawingml/2006/main">
              <a:ext uri="{FF2B5EF4-FFF2-40B4-BE49-F238E27FC236}">
                <a16:creationId xmlns:a16="http://schemas.microsoft.com/office/drawing/2014/main" id="{2E8A571E-45E2-4F06-B36E-3B0469B4F292}"/>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옛 예제와 구별</a:t>
            </a:r>
          </a:p>
        </p:txBody>
      </p:sp>
      <p:sp>
        <p:nvSpPr>
          <p:cNvPr id="8" name="from spike import PrimeHub를 쓰는 구">
            <a:extLst xmlns:a="http://schemas.openxmlformats.org/drawingml/2006/main">
              <a:ext uri="{FF2B5EF4-FFF2-40B4-BE49-F238E27FC236}">
                <a16:creationId xmlns:a16="http://schemas.microsoft.com/office/drawing/2014/main" id="{C29A99DD-8E4A-459F-8A96-B6D05431DFD9}"/>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from spike import PrimeHub를 쓰는 구형 예제와 섞지 않습니다.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이 연수의 코드는 SPIKE 3 계열을 기준으로 합니다.</a:t>
            </a:r>
          </a:p>
        </p:txBody>
      </p:sp>
    </p:spTree>
    <p:extLst>
      <p:ext uri="{BB962C8B-B14F-4D97-AF65-F5344CB8AC3E}">
        <p14:creationId xmlns:p14="http://schemas.microsoft.com/office/powerpoint/2010/main" val="140977579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8" name="파이썬 프로젝트 만들기">
            <a:extLst xmlns:a="http://schemas.openxmlformats.org/drawingml/2006/main">
              <a:ext uri="{FF2B5EF4-FFF2-40B4-BE49-F238E27FC236}">
                <a16:creationId xmlns:a16="http://schemas.microsoft.com/office/drawing/2014/main" id="{853DD478-8983-4791-93A7-5E85C9E6DA7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파이썬 프로젝트 만들기</a:t>
            </a:r>
          </a:p>
        </p:txBody>
      </p:sp>
      <p:sp>
        <p:nvSpPr>
          <p:cNvPr id="2" name="24">
            <a:extLst xmlns:a="http://schemas.openxmlformats.org/drawingml/2006/main">
              <a:ext uri="{FF2B5EF4-FFF2-40B4-BE49-F238E27FC236}">
                <a16:creationId xmlns:a16="http://schemas.microsoft.com/office/drawing/2014/main" id="{D6503353-4A5F-49EF-A80F-BBBEF904127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24</a:t>
            </a:r>
          </a:p>
        </p:txBody>
      </p:sp>
      <p:pic>
        <p:nvPicPr>
          <p:cNvPr id="3" name="">
            <a:extLst xmlns:a="http://schemas.openxmlformats.org/drawingml/2006/main">
              <a:ext uri="{FF2B5EF4-FFF2-40B4-BE49-F238E27FC236}">
                <a16:creationId xmlns:a16="http://schemas.microsoft.com/office/drawing/2014/main" id="{623DC685-D4C3-4D23-A97C-F6F5A40BAC68}"/>
              </a:ext>
            </a:extLst>
          </p:cNvPr>
          <p:cNvPicPr>
            <a:picLocks xmlns:a="http://schemas.openxmlformats.org/drawingml/2006/main" noChangeAspect="1"/>
          </p:cNvPicPr>
          <p:nvPr/>
        </p:nvPicPr>
        <p:blipFill>
          <a:blip xmlns:r="http://schemas.openxmlformats.org/officeDocument/2006/relationships" xmlns:a="http://schemas.openxmlformats.org/drawingml/2006/main" r:embed="R9f461f329aae47ab"/>
          <a:stretch xmlns:a="http://schemas.openxmlformats.org/drawingml/2006/main"/>
        </p:blipFill>
        <p:spPr>
          <a:xfrm xmlns:a="http://schemas.openxmlformats.org/drawingml/2006/main">
            <a:off x="476250" y="2047875"/>
            <a:ext cx="5745238" cy="4762500"/>
          </a:xfrm>
          <a:prstGeom xmlns:a="http://schemas.openxmlformats.org/drawingml/2006/main" prst="rect">
            <a:avLst/>
          </a:prstGeom>
        </p:spPr>
      </p:pic>
      <p:sp>
        <p:nvSpPr>
          <p:cNvPr id="4" name="만드는 순서">
            <a:extLst xmlns:a="http://schemas.openxmlformats.org/drawingml/2006/main">
              <a:ext uri="{FF2B5EF4-FFF2-40B4-BE49-F238E27FC236}">
                <a16:creationId xmlns:a16="http://schemas.microsoft.com/office/drawing/2014/main" id="{490A21F1-AC64-490F-9EB2-07D1E50B6777}"/>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만드는 순서</a:t>
            </a:r>
          </a:p>
        </p:txBody>
      </p:sp>
      <p:sp>
        <p:nvSpPr>
          <p:cNvPr id="5" name="이름 입력&#10;파이썬 선택&#10;만들기 클릭">
            <a:extLst xmlns:a="http://schemas.openxmlformats.org/drawingml/2006/main">
              <a:ext uri="{FF2B5EF4-FFF2-40B4-BE49-F238E27FC236}">
                <a16:creationId xmlns:a16="http://schemas.microsoft.com/office/drawing/2014/main" id="{B56CD194-D3E6-4394-ADE7-A2053A343D73}"/>
              </a:ext>
            </a:extLst>
          </p:cNvPr>
          <p:cNvSpPr>
            <a:spLocks xmlns:a="http://schemas.openxmlformats.org/drawingml/2006/main" noGrp="1"/>
          </p:cNvSpPr>
          <p:nvPr/>
        </p:nvSpPr>
        <p:spPr>
          <a:xfrm xmlns:a="http://schemas.openxmlformats.org/drawingml/2006/main">
            <a:off x="8239125" y="2577465"/>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이름 입력</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파이썬 선택</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만들기 클릭</a:t>
            </a:r>
          </a:p>
        </p:txBody>
      </p:sp>
      <p:sp>
        <p:nvSpPr>
          <p:cNvPr id="6" name="도움말 찾기">
            <a:extLst xmlns:a="http://schemas.openxmlformats.org/drawingml/2006/main">
              <a:ext uri="{FF2B5EF4-FFF2-40B4-BE49-F238E27FC236}">
                <a16:creationId xmlns:a16="http://schemas.microsoft.com/office/drawing/2014/main" id="{48CDBA0B-9B80-4802-8ED1-3000F840B69F}"/>
              </a:ext>
            </a:extLst>
          </p:cNvPr>
          <p:cNvSpPr>
            <a:spLocks xmlns:a="http://schemas.openxmlformats.org/drawingml/2006/main" noGrp="1"/>
          </p:cNvSpPr>
          <p:nvPr/>
        </p:nvSpPr>
        <p:spPr>
          <a:xfrm xmlns:a="http://schemas.openxmlformats.org/drawingml/2006/main">
            <a:off x="8239125" y="3705606"/>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도움말 찾기</a:t>
            </a:r>
          </a:p>
        </p:txBody>
      </p:sp>
      <p:sp>
        <p:nvSpPr>
          <p:cNvPr id="7" name="편집기의 지식&#10;베이스에서&#10;사용할 모듈을&#10;찾습니다.">
            <a:extLst xmlns:a="http://schemas.openxmlformats.org/drawingml/2006/main">
              <a:ext uri="{FF2B5EF4-FFF2-40B4-BE49-F238E27FC236}">
                <a16:creationId xmlns:a16="http://schemas.microsoft.com/office/drawing/2014/main" id="{2139684E-EF84-4E56-B1D5-0FB1E3C53491}"/>
              </a:ext>
            </a:extLst>
          </p:cNvPr>
          <p:cNvSpPr>
            <a:spLocks xmlns:a="http://schemas.openxmlformats.org/drawingml/2006/main" noGrp="1"/>
          </p:cNvSpPr>
          <p:nvPr/>
        </p:nvSpPr>
        <p:spPr>
          <a:xfrm xmlns:a="http://schemas.openxmlformats.org/drawingml/2006/main">
            <a:off x="8239125" y="4092321"/>
            <a:ext cx="1976438" cy="1199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편집기의 지식</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베이스에서</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사용할 모듈을</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찾습니다.</a:t>
            </a:r>
          </a:p>
        </p:txBody>
      </p:sp>
    </p:spTree>
    <p:extLst>
      <p:ext uri="{BB962C8B-B14F-4D97-AF65-F5344CB8AC3E}">
        <p14:creationId xmlns:p14="http://schemas.microsoft.com/office/powerpoint/2010/main" val="212327347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 name="cm와 mm, 측정 실패값">
            <a:extLst xmlns:a="http://schemas.openxmlformats.org/drawingml/2006/main">
              <a:ext uri="{FF2B5EF4-FFF2-40B4-BE49-F238E27FC236}">
                <a16:creationId xmlns:a16="http://schemas.microsoft.com/office/drawing/2014/main" id="{0A630B70-25CF-4969-8749-20EA1F6A3104}"/>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cm와 mm, 측정 실패값</a:t>
            </a:r>
          </a:p>
        </p:txBody>
      </p:sp>
      <p:sp>
        <p:nvSpPr>
          <p:cNvPr id="2" name="25">
            <a:extLst xmlns:a="http://schemas.openxmlformats.org/drawingml/2006/main">
              <a:ext uri="{FF2B5EF4-FFF2-40B4-BE49-F238E27FC236}">
                <a16:creationId xmlns:a16="http://schemas.microsoft.com/office/drawing/2014/main" id="{385EB108-E4DA-416B-A034-C9143B8B9589}"/>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25</a:t>
            </a:r>
          </a:p>
        </p:txBody>
      </p:sp>
      <p:graphicFrame>
        <p:nvGraphicFramePr>
          <p:cNvPr id="3" name="">
            <a:extLst xmlns:a="http://schemas.openxmlformats.org/drawingml/2006/main">
              <a:ext uri="{FF2B5EF4-FFF2-40B4-BE49-F238E27FC236}">
                <a16:creationId xmlns:a16="http://schemas.microsoft.com/office/drawing/2014/main" id="{CAE45ABB-A2DC-488E-805B-BACA383F6233}"/>
              </a:ext>
            </a:extLst>
          </p:cNvPr>
          <p:cNvGraphicFramePr/>
          <p:nvPr/>
        </p:nvGraphicFramePr>
        <p:xfrm>
          <a:off xmlns:a="http://schemas.openxmlformats.org/drawingml/2006/main" x="476250" y="1981200"/>
          <a:ext xmlns:a="http://schemas.openxmlformats.org/drawingml/2006/main" cx="9739313" cy="38862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대상</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블록/화면</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Python 예제</a:t>
                      </a:r>
                    </a:p>
                  </a:txBody>
                  <a:tcPr marL="91440" marR="91440" marT="45720" marB="45720" anchor="ctr">
                    <a:solidFill>
                      <a:srgbClr val="F7972B"/>
                    </a:solidFill>
                  </a:tcPr>
                </a:tc>
              </a:tr>
              <a:tr h="685800">
                <a:tc>
                  <a:txBody>
                    <a:bodyPr lIns="133350" tIns="114300" rIns="114300" bIns="76200">
                      <a:noAutofit/>
                    </a:bodyPr>
                    <a:lstStyle/>
                    <a:p>
                      <a:r>
                        <a:rPr sz="1725" b="0">
                          <a:solidFill>
                            <a:srgbClr val="292929"/>
                          </a:solidFill>
                          <a:latin typeface="KoPubDotum"/>
                          <a:ea typeface="KoPubDotum"/>
                          <a:cs typeface="KoPubDotum"/>
                        </a:rPr>
                        <a:t>거리</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단위 메뉴에서 cm 선택</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distance_sensor.distance: mm</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20 cm 기준</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20</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200 mm</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측정 불가</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표시 상태를 실제 앱에서 확인</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-1을 유효한 거리와 구분</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이동 속도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velocity: 모터 각속도(°/초)</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반사광</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0~100</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color_sensor.reflection: 0~100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139181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7" name="거리 조건으로 멈추는 Python">
            <a:extLst xmlns:a="http://schemas.openxmlformats.org/drawingml/2006/main">
              <a:ext uri="{FF2B5EF4-FFF2-40B4-BE49-F238E27FC236}">
                <a16:creationId xmlns:a16="http://schemas.microsoft.com/office/drawing/2014/main" id="{FC1D47A1-1884-4231-A296-BA5C98A8D557}"/>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 조건으로 멈추는 Python</a:t>
            </a:r>
          </a:p>
        </p:txBody>
      </p:sp>
      <p:sp>
        <p:nvSpPr>
          <p:cNvPr id="2" name="26">
            <a:extLst xmlns:a="http://schemas.openxmlformats.org/drawingml/2006/main">
              <a:ext uri="{FF2B5EF4-FFF2-40B4-BE49-F238E27FC236}">
                <a16:creationId xmlns:a16="http://schemas.microsoft.com/office/drawing/2014/main" id="{86665883-2703-406E-A992-19475CC439EE}"/>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26</a:t>
            </a:r>
          </a:p>
        </p:txBody>
      </p:sp>
      <p:sp>
        <p:nvSpPr>
          <p:cNvPr id="3" name="">
            <a:extLst xmlns:a="http://schemas.openxmlformats.org/drawingml/2006/main">
              <a:ext uri="{FF2B5EF4-FFF2-40B4-BE49-F238E27FC236}">
                <a16:creationId xmlns:a16="http://schemas.microsoft.com/office/drawing/2014/main" id="{DDC9967F-179E-441F-ADFB-FED15A6299F1}"/>
              </a:ext>
            </a:extLst>
          </p:cNvPr>
          <p:cNvSpPr>
            <a:spLocks xmlns:a="http://schemas.openxmlformats.org/drawingml/2006/main" noGrp="1"/>
          </p:cNvSpPr>
          <p:nvPr/>
        </p:nvSpPr>
        <p:spPr>
          <a:xfrm xmlns:a="http://schemas.openxmlformats.org/drawingml/2006/main">
            <a:off x="476250" y="2238375"/>
            <a:ext cx="9739313" cy="3733800"/>
          </a:xfrm>
          <a:prstGeom xmlns:a="http://schemas.openxmlformats.org/drawingml/2006/main" prst="rect">
            <a:avLst/>
          </a:prstGeom>
          <a:solidFill xmlns:a="http://schemas.openxmlformats.org/drawingml/2006/main">
            <a:srgbClr val="FFF8EF"/>
          </a:solidFill>
          <a:ln xmlns:a="http://schemas.openxmlformats.org/drawingml/2006/main" w="9525">
            <a:solidFill>
              <a:srgbClr val="E8DCC8"/>
            </a:solidFill>
          </a:ln>
        </p:spPr>
      </p:sp>
      <p:sp>
        <p:nvSpPr>
          <p:cNvPr id="4" name="from hub import port&#10;import runl">
            <a:extLst xmlns:a="http://schemas.openxmlformats.org/drawingml/2006/main">
              <a:ext uri="{FF2B5EF4-FFF2-40B4-BE49-F238E27FC236}">
                <a16:creationId xmlns:a16="http://schemas.microsoft.com/office/drawing/2014/main" id="{B1B822EF-4327-42EC-9B74-AC045F39B18C}"/>
              </a:ext>
            </a:extLst>
          </p:cNvPr>
          <p:cNvSpPr>
            <a:spLocks xmlns:a="http://schemas.openxmlformats.org/drawingml/2006/main" noGrp="1"/>
          </p:cNvSpPr>
          <p:nvPr/>
        </p:nvSpPr>
        <p:spPr>
          <a:xfrm xmlns:a="http://schemas.openxmlformats.org/drawingml/2006/main">
            <a:off x="666750" y="2371725"/>
            <a:ext cx="9358313"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292929"/>
                </a:solidFill>
                <a:latin typeface="KoPubDotum"/>
                <a:ea typeface="KoPubDotum"/>
                <a:cs typeface="KoPubDotum"/>
              </a:defRPr>
            </a:defPPr>
          </a:lstStyle>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from hub import port</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import runloop, motor_pair, distance_sensor</a:t>
            </a:r>
          </a:p>
          <a:p xmlns:a="http://schemas.openxmlformats.org/drawingml/2006/main">
            <a:r>
              <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async def main():</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motor_pair.pair(motor_pair.PAIR_1, port.A, port.E)</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while True:</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d = distance_sensor.distance(port.B)</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if d == -1 or d &lt; 200:</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motor_pair.stop(motor_pair.PAIR_1)</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else:</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motor_pair.move(motor_pair.PAIR_1, 0, velocity=200)</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await runloop.sleep_ms(20)</a:t>
            </a:r>
          </a:p>
          <a:p xmlns:a="http://schemas.openxmlformats.org/drawingml/2006/main">
            <a:r>
              <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runloop.run(main())</a:t>
            </a:r>
          </a:p>
        </p:txBody>
      </p:sp>
      <p:sp>
        <p:nvSpPr>
          <p:cNvPr id="5" name="반복문 안의 거리 읽기, 조건, 정지 명령을 찾습니다.">
            <a:extLst xmlns:a="http://schemas.openxmlformats.org/drawingml/2006/main">
              <a:ext uri="{FF2B5EF4-FFF2-40B4-BE49-F238E27FC236}">
                <a16:creationId xmlns:a16="http://schemas.microsoft.com/office/drawing/2014/main" id="{5A1DCCC7-E103-4A4F-A390-D8CAC7AB5610}"/>
              </a:ext>
            </a:extLst>
          </p:cNvPr>
          <p:cNvSpPr>
            <a:spLocks xmlns:a="http://schemas.openxmlformats.org/drawingml/2006/main" noGrp="1"/>
          </p:cNvSpPr>
          <p:nvPr/>
        </p:nvSpPr>
        <p:spPr>
          <a:xfrm xmlns:a="http://schemas.openxmlformats.org/drawingml/2006/main">
            <a:off x="504825" y="6181725"/>
            <a:ext cx="968216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5A554E"/>
                </a:solidFill>
                <a:latin typeface="KoPubDotum"/>
                <a:ea typeface="KoPubDotum"/>
                <a:cs typeface="KoPubDotum"/>
              </a:defRPr>
            </a:defPPr>
          </a:lstStyle>
          <a:p xmlns:a="http://schemas.openxmlformats.org/drawingml/2006/main">
            <a:pPr algn="l">
              <a:lnSpc>
                <a:spcPct val="116000"/>
              </a:lnSpc>
              <a:buNone/>
              <a:defRPr sz="1500" b="1">
                <a:solidFill>
                  <a:srgbClr val="5A554E"/>
                </a:solidFill>
                <a:latin typeface="KoPubDotum"/>
                <a:ea typeface="KoPubDotum"/>
                <a:cs typeface="KoPubDotum"/>
              </a:defRPr>
            </a:pPr>
            <a:r>
              <a:rPr sz="1500" b="1">
                <a:solidFill>
                  <a:srgbClr val="5A554E"/>
                </a:solidFill>
                <a:latin typeface="KoPubDotum"/>
                <a:ea typeface="KoPubDotum"/>
                <a:cs typeface="KoPubDotum"/>
              </a:rPr>
              <a:t>반복문 안의 거리 읽기, 조건, 정지 명령을 찾습니다.</a:t>
            </a:r>
          </a:p>
        </p:txBody>
      </p:sp>
      <p:sp>
        <p:nvSpPr>
          <p:cNvPr id="6" name="-1, 199, 200, 300mm에서 어느 분기가 실행될">
            <a:extLst xmlns:a="http://schemas.openxmlformats.org/drawingml/2006/main">
              <a:ext uri="{FF2B5EF4-FFF2-40B4-BE49-F238E27FC236}">
                <a16:creationId xmlns:a16="http://schemas.microsoft.com/office/drawing/2014/main" id="{77393A73-7A25-4A06-A6D1-03A2D592C81D}"/>
              </a:ext>
            </a:extLst>
          </p:cNvPr>
          <p:cNvSpPr>
            <a:spLocks xmlns:a="http://schemas.openxmlformats.org/drawingml/2006/main" noGrp="1"/>
          </p:cNvSpPr>
          <p:nvPr/>
        </p:nvSpPr>
        <p:spPr>
          <a:xfrm xmlns:a="http://schemas.openxmlformats.org/drawingml/2006/main">
            <a:off x="504825" y="6524625"/>
            <a:ext cx="968216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A554E"/>
                </a:solidFill>
                <a:latin typeface="KoPubDotum"/>
                <a:ea typeface="KoPubDotum"/>
                <a:cs typeface="KoPubDotum"/>
              </a:defRPr>
            </a:defPPr>
          </a:lstStyle>
          <a:p xmlns:a="http://schemas.openxmlformats.org/drawingml/2006/main">
            <a:pPr algn="l">
              <a:lnSpc>
                <a:spcPct val="116000"/>
              </a:lnSpc>
              <a:buNone/>
              <a:defRPr sz="1500" b="0">
                <a:solidFill>
                  <a:srgbClr val="5A554E"/>
                </a:solidFill>
                <a:latin typeface="KoPubDotum"/>
                <a:ea typeface="KoPubDotum"/>
                <a:cs typeface="KoPubDotum"/>
              </a:defRPr>
            </a:pPr>
            <a:r>
              <a:rPr sz="1500" b="0">
                <a:solidFill>
                  <a:srgbClr val="5A554E"/>
                </a:solidFill>
                <a:latin typeface="KoPubDotum"/>
                <a:ea typeface="KoPubDotum"/>
                <a:cs typeface="KoPubDotum"/>
              </a:rPr>
              <a:t>-1, 199, 200, 300mm에서 어느 분기가 실행될까요?</a:t>
            </a:r>
          </a:p>
        </p:txBody>
      </p:sp>
    </p:spTree>
    <p:extLst>
      <p:ext uri="{BB962C8B-B14F-4D97-AF65-F5344CB8AC3E}">
        <p14:creationId xmlns:p14="http://schemas.microsoft.com/office/powerpoint/2010/main" val="214331112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거리 제어 코드 읽기">
            <a:extLst xmlns:a="http://schemas.openxmlformats.org/drawingml/2006/main">
              <a:ext uri="{FF2B5EF4-FFF2-40B4-BE49-F238E27FC236}">
                <a16:creationId xmlns:a16="http://schemas.microsoft.com/office/drawing/2014/main" id="{27BFF1F3-5C37-4F85-82A6-B544EEB6D485}"/>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 제어 코드 읽기</a:t>
            </a:r>
          </a:p>
        </p:txBody>
      </p:sp>
      <p:sp>
        <p:nvSpPr>
          <p:cNvPr id="2" name="27">
            <a:extLst xmlns:a="http://schemas.openxmlformats.org/drawingml/2006/main">
              <a:ext uri="{FF2B5EF4-FFF2-40B4-BE49-F238E27FC236}">
                <a16:creationId xmlns:a16="http://schemas.microsoft.com/office/drawing/2014/main" id="{6E4ABB09-A52F-473E-97C8-BD99F85E6EE9}"/>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27</a:t>
            </a:r>
          </a:p>
        </p:txBody>
      </p:sp>
      <p:pic>
        <p:nvPicPr>
          <p:cNvPr id="3" name="">
            <a:extLst xmlns:a="http://schemas.openxmlformats.org/drawingml/2006/main">
              <a:ext uri="{FF2B5EF4-FFF2-40B4-BE49-F238E27FC236}">
                <a16:creationId xmlns:a16="http://schemas.microsoft.com/office/drawing/2014/main" id="{7A069A4C-6195-4572-8E18-45D6D56B55CD}"/>
              </a:ext>
            </a:extLst>
          </p:cNvPr>
          <p:cNvPicPr>
            <a:picLocks xmlns:a="http://schemas.openxmlformats.org/drawingml/2006/main" noChangeAspect="1"/>
          </p:cNvPicPr>
          <p:nvPr/>
        </p:nvPicPr>
        <p:blipFill>
          <a:blip xmlns:r="http://schemas.openxmlformats.org/officeDocument/2006/relationships" xmlns:a="http://schemas.openxmlformats.org/drawingml/2006/main" r:embed="Rdb3300f188424f2e"/>
          <a:stretch xmlns:a="http://schemas.openxmlformats.org/drawingml/2006/main"/>
        </p:blipFill>
        <p:spPr>
          <a:xfrm xmlns:a="http://schemas.openxmlformats.org/drawingml/2006/main">
            <a:off x="476250" y="2095500"/>
            <a:ext cx="6504488" cy="3524250"/>
          </a:xfrm>
          <a:prstGeom xmlns:a="http://schemas.openxmlformats.org/drawingml/2006/main" prst="rect">
            <a:avLst/>
          </a:prstGeom>
        </p:spPr>
      </p:pic>
      <p:sp>
        <p:nvSpPr>
          <p:cNvPr id="4" name="거리를 읽는 줄이 while 안에 있는지 찾습니다.">
            <a:extLst xmlns:a="http://schemas.openxmlformats.org/drawingml/2006/main">
              <a:ext uri="{FF2B5EF4-FFF2-40B4-BE49-F238E27FC236}">
                <a16:creationId xmlns:a16="http://schemas.microsoft.com/office/drawing/2014/main" id="{C95521FF-0098-4FC6-87C6-661A900D6B89}"/>
              </a:ext>
            </a:extLst>
          </p:cNvPr>
          <p:cNvSpPr>
            <a:spLocks xmlns:a="http://schemas.openxmlformats.org/drawingml/2006/main" noGrp="1"/>
          </p:cNvSpPr>
          <p:nvPr/>
        </p:nvSpPr>
        <p:spPr>
          <a:xfrm xmlns:a="http://schemas.openxmlformats.org/drawingml/2006/main">
            <a:off x="523875" y="5953125"/>
            <a:ext cx="9620250" cy="344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92929"/>
                </a:solidFill>
                <a:latin typeface="KoPubDotum"/>
                <a:ea typeface="KoPubDotum"/>
                <a:cs typeface="KoPubDotum"/>
              </a:defRPr>
            </a:defPPr>
          </a:lstStyle>
          <a:p xmlns:a="http://schemas.openxmlformats.org/drawingml/2006/main">
            <a:pPr algn="l">
              <a:lnSpc>
                <a:spcPct val="116000"/>
              </a:lnSpc>
              <a:buNone/>
              <a:defRPr sz="1575" b="0">
                <a:solidFill>
                  <a:srgbClr val="292929"/>
                </a:solidFill>
                <a:latin typeface="KoPubDotum"/>
                <a:ea typeface="KoPubDotum"/>
                <a:cs typeface="KoPubDotum"/>
              </a:defRPr>
            </a:pPr>
            <a:r>
              <a:rPr sz="1575" b="0">
                <a:solidFill>
                  <a:srgbClr val="292929"/>
                </a:solidFill>
                <a:latin typeface="KoPubDotum"/>
                <a:ea typeface="KoPubDotum"/>
                <a:cs typeface="KoPubDotum"/>
              </a:rPr>
              <a:t>거리를 읽는 줄이 while 안에 있는지 찾습니다.</a:t>
            </a:r>
          </a:p>
        </p:txBody>
      </p:sp>
      <p:sp>
        <p:nvSpPr>
          <p:cNvPr id="5" name="장애물을 치웠을 때 else에서 다시 주행하는 흐름을 따라">
            <a:extLst xmlns:a="http://schemas.openxmlformats.org/drawingml/2006/main">
              <a:ext uri="{FF2B5EF4-FFF2-40B4-BE49-F238E27FC236}">
                <a16:creationId xmlns:a16="http://schemas.microsoft.com/office/drawing/2014/main" id="{C746A06C-D167-4D72-BEB4-2FCC185295F3}"/>
              </a:ext>
            </a:extLst>
          </p:cNvPr>
          <p:cNvSpPr>
            <a:spLocks xmlns:a="http://schemas.openxmlformats.org/drawingml/2006/main" noGrp="1"/>
          </p:cNvSpPr>
          <p:nvPr/>
        </p:nvSpPr>
        <p:spPr>
          <a:xfrm xmlns:a="http://schemas.openxmlformats.org/drawingml/2006/main">
            <a:off x="523875" y="6392609"/>
            <a:ext cx="9620250" cy="344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92929"/>
                </a:solidFill>
                <a:latin typeface="KoPubDotum"/>
                <a:ea typeface="KoPubDotum"/>
                <a:cs typeface="KoPubDotum"/>
              </a:defRPr>
            </a:defPPr>
          </a:lstStyle>
          <a:p xmlns:a="http://schemas.openxmlformats.org/drawingml/2006/main">
            <a:pPr algn="l">
              <a:lnSpc>
                <a:spcPct val="116000"/>
              </a:lnSpc>
              <a:buNone/>
              <a:defRPr sz="1575" b="0">
                <a:solidFill>
                  <a:srgbClr val="292929"/>
                </a:solidFill>
                <a:latin typeface="KoPubDotum"/>
                <a:ea typeface="KoPubDotum"/>
                <a:cs typeface="KoPubDotum"/>
              </a:defRPr>
            </a:pPr>
            <a:r>
              <a:rPr sz="1575" b="0">
                <a:solidFill>
                  <a:srgbClr val="292929"/>
                </a:solidFill>
                <a:latin typeface="KoPubDotum"/>
                <a:ea typeface="KoPubDotum"/>
                <a:cs typeface="KoPubDotum"/>
              </a:rPr>
              <a:t>장애물을 치웠을 때 else에서 다시 주행하는 흐름을 따라갑니다.</a:t>
            </a:r>
          </a:p>
        </p:txBody>
      </p:sp>
    </p:spTree>
    <p:extLst>
      <p:ext uri="{BB962C8B-B14F-4D97-AF65-F5344CB8AC3E}">
        <p14:creationId xmlns:p14="http://schemas.microsoft.com/office/powerpoint/2010/main" val="539461800"/>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7" name="정지 판단을 함수로 만들기">
            <a:extLst xmlns:a="http://schemas.openxmlformats.org/drawingml/2006/main">
              <a:ext uri="{FF2B5EF4-FFF2-40B4-BE49-F238E27FC236}">
                <a16:creationId xmlns:a16="http://schemas.microsoft.com/office/drawing/2014/main" id="{636E5FD2-9AD5-4FFE-A9BA-C0D9B1E18437}"/>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정지 판단을 함수로 만들기</a:t>
            </a:r>
          </a:p>
        </p:txBody>
      </p:sp>
      <p:sp>
        <p:nvSpPr>
          <p:cNvPr id="2" name="28">
            <a:extLst xmlns:a="http://schemas.openxmlformats.org/drawingml/2006/main">
              <a:ext uri="{FF2B5EF4-FFF2-40B4-BE49-F238E27FC236}">
                <a16:creationId xmlns:a16="http://schemas.microsoft.com/office/drawing/2014/main" id="{6D71E86A-041E-4F77-97FA-83E7701E3E2A}"/>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28</a:t>
            </a:r>
          </a:p>
        </p:txBody>
      </p:sp>
      <p:sp>
        <p:nvSpPr>
          <p:cNvPr id="3" name="">
            <a:extLst xmlns:a="http://schemas.openxmlformats.org/drawingml/2006/main">
              <a:ext uri="{FF2B5EF4-FFF2-40B4-BE49-F238E27FC236}">
                <a16:creationId xmlns:a16="http://schemas.microsoft.com/office/drawing/2014/main" id="{2154DCE2-A855-4B2F-AE3D-51D1F426E16A}"/>
              </a:ext>
            </a:extLst>
          </p:cNvPr>
          <p:cNvSpPr>
            <a:spLocks xmlns:a="http://schemas.openxmlformats.org/drawingml/2006/main" noGrp="1"/>
          </p:cNvSpPr>
          <p:nvPr/>
        </p:nvSpPr>
        <p:spPr>
          <a:xfrm xmlns:a="http://schemas.openxmlformats.org/drawingml/2006/main">
            <a:off x="476250" y="2276475"/>
            <a:ext cx="9739313" cy="2771775"/>
          </a:xfrm>
          <a:prstGeom xmlns:a="http://schemas.openxmlformats.org/drawingml/2006/main" prst="rect">
            <a:avLst/>
          </a:prstGeom>
          <a:solidFill xmlns:a="http://schemas.openxmlformats.org/drawingml/2006/main">
            <a:srgbClr val="FFF8EF"/>
          </a:solidFill>
          <a:ln xmlns:a="http://schemas.openxmlformats.org/drawingml/2006/main" w="9525">
            <a:solidFill>
              <a:srgbClr val="E8DCC8"/>
            </a:solidFill>
          </a:ln>
        </p:spPr>
      </p:sp>
      <p:sp>
        <p:nvSpPr>
          <p:cNvPr id="4" name="def should_stop(d):&#10;    return d">
            <a:extLst xmlns:a="http://schemas.openxmlformats.org/drawingml/2006/main">
              <a:ext uri="{FF2B5EF4-FFF2-40B4-BE49-F238E27FC236}">
                <a16:creationId xmlns:a16="http://schemas.microsoft.com/office/drawing/2014/main" id="{84025220-7543-4F9F-A988-2B406298E80F}"/>
              </a:ext>
            </a:extLst>
          </p:cNvPr>
          <p:cNvSpPr>
            <a:spLocks xmlns:a="http://schemas.openxmlformats.org/drawingml/2006/main" noGrp="1"/>
          </p:cNvSpPr>
          <p:nvPr/>
        </p:nvSpPr>
        <p:spPr>
          <a:xfrm xmlns:a="http://schemas.openxmlformats.org/drawingml/2006/main">
            <a:off x="666750" y="2447925"/>
            <a:ext cx="9358313"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def should_stop(d):</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    return d == -1 or d &lt; 200</a:t>
            </a:r>
          </a:p>
          <a:p xmlns:a="http://schemas.openxmlformats.org/drawingml/2006/main">
            <a:r>
              <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 main의 반복문 안</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d = distance_sensor.distance(port.B)</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if should_stop(d):</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    motor_pair.stop(motor_pair.PAIR_1)</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else:</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    motor_pair.move(motor_pair.PAIR_1, 0, velocity=200)</a:t>
            </a:r>
          </a:p>
        </p:txBody>
      </p:sp>
      <p:sp>
        <p:nvSpPr>
          <p:cNvPr id="5" name="거리 d를 받아 정지할지 True 또는 False로 답합니">
            <a:extLst xmlns:a="http://schemas.openxmlformats.org/drawingml/2006/main">
              <a:ext uri="{FF2B5EF4-FFF2-40B4-BE49-F238E27FC236}">
                <a16:creationId xmlns:a16="http://schemas.microsoft.com/office/drawing/2014/main" id="{693F79E6-81AF-4BEE-AD0D-1C234A844BB6}"/>
              </a:ext>
            </a:extLst>
          </p:cNvPr>
          <p:cNvSpPr>
            <a:spLocks xmlns:a="http://schemas.openxmlformats.org/drawingml/2006/main" noGrp="1"/>
          </p:cNvSpPr>
          <p:nvPr/>
        </p:nvSpPr>
        <p:spPr>
          <a:xfrm xmlns:a="http://schemas.openxmlformats.org/drawingml/2006/main">
            <a:off x="504825" y="5257800"/>
            <a:ext cx="96821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거리 d를 받아 정지할지 True 또는 False로 답합니다.</a:t>
            </a:r>
          </a:p>
        </p:txBody>
      </p:sp>
      <p:sp>
        <p:nvSpPr>
          <p:cNvPr id="6" name="should_stop(-1), should_stop(199">
            <a:extLst xmlns:a="http://schemas.openxmlformats.org/drawingml/2006/main">
              <a:ext uri="{FF2B5EF4-FFF2-40B4-BE49-F238E27FC236}">
                <a16:creationId xmlns:a16="http://schemas.microsoft.com/office/drawing/2014/main" id="{8D81073B-1D3B-4FEC-9D55-B608E49481CA}"/>
              </a:ext>
            </a:extLst>
          </p:cNvPr>
          <p:cNvSpPr>
            <a:spLocks xmlns:a="http://schemas.openxmlformats.org/drawingml/2006/main" noGrp="1"/>
          </p:cNvSpPr>
          <p:nvPr/>
        </p:nvSpPr>
        <p:spPr>
          <a:xfrm xmlns:a="http://schemas.openxmlformats.org/drawingml/2006/main">
            <a:off x="504825" y="5695950"/>
            <a:ext cx="96821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should_stop(-1), should_stop(199), should_stop(200), should_stop(300)을 비교합니다.</a:t>
            </a:r>
          </a:p>
        </p:txBody>
      </p:sp>
    </p:spTree>
    <p:extLst>
      <p:ext uri="{BB962C8B-B14F-4D97-AF65-F5344CB8AC3E}">
        <p14:creationId xmlns:p14="http://schemas.microsoft.com/office/powerpoint/2010/main" val="72163735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7" name="거리에 따른 속도 함수">
            <a:extLst xmlns:a="http://schemas.openxmlformats.org/drawingml/2006/main">
              <a:ext uri="{FF2B5EF4-FFF2-40B4-BE49-F238E27FC236}">
                <a16:creationId xmlns:a16="http://schemas.microsoft.com/office/drawing/2014/main" id="{B2212EC4-28D9-46DD-A57B-5431D5309995}"/>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거리에 따른 속도 함수</a:t>
            </a:r>
          </a:p>
        </p:txBody>
      </p:sp>
      <p:sp>
        <p:nvSpPr>
          <p:cNvPr id="2" name="29">
            <a:extLst xmlns:a="http://schemas.openxmlformats.org/drawingml/2006/main">
              <a:ext uri="{FF2B5EF4-FFF2-40B4-BE49-F238E27FC236}">
                <a16:creationId xmlns:a16="http://schemas.microsoft.com/office/drawing/2014/main" id="{5CD0A721-0305-47D4-963C-9869FEF40575}"/>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29</a:t>
            </a:r>
          </a:p>
        </p:txBody>
      </p:sp>
      <p:sp>
        <p:nvSpPr>
          <p:cNvPr id="3" name="">
            <a:extLst xmlns:a="http://schemas.openxmlformats.org/drawingml/2006/main">
              <a:ext uri="{FF2B5EF4-FFF2-40B4-BE49-F238E27FC236}">
                <a16:creationId xmlns:a16="http://schemas.microsoft.com/office/drawing/2014/main" id="{3CFC2146-674A-4047-A725-D99DAA3D125E}"/>
              </a:ext>
            </a:extLst>
          </p:cNvPr>
          <p:cNvSpPr>
            <a:spLocks xmlns:a="http://schemas.openxmlformats.org/drawingml/2006/main" noGrp="1"/>
          </p:cNvSpPr>
          <p:nvPr/>
        </p:nvSpPr>
        <p:spPr>
          <a:xfrm xmlns:a="http://schemas.openxmlformats.org/drawingml/2006/main">
            <a:off x="476250" y="2238375"/>
            <a:ext cx="9739313" cy="2990850"/>
          </a:xfrm>
          <a:prstGeom xmlns:a="http://schemas.openxmlformats.org/drawingml/2006/main" prst="rect">
            <a:avLst/>
          </a:prstGeom>
          <a:solidFill xmlns:a="http://schemas.openxmlformats.org/drawingml/2006/main">
            <a:srgbClr val="FFF8EF"/>
          </a:solidFill>
          <a:ln xmlns:a="http://schemas.openxmlformats.org/drawingml/2006/main" w="9525">
            <a:solidFill>
              <a:srgbClr val="E8DCC8"/>
            </a:solidFill>
          </a:ln>
        </p:spPr>
      </p:sp>
      <p:sp>
        <p:nvSpPr>
          <p:cNvPr id="4" name="def speed_for(d):&#10;    if d == -1">
            <a:extLst xmlns:a="http://schemas.openxmlformats.org/drawingml/2006/main">
              <a:ext uri="{FF2B5EF4-FFF2-40B4-BE49-F238E27FC236}">
                <a16:creationId xmlns:a16="http://schemas.microsoft.com/office/drawing/2014/main" id="{6F0028AE-3138-494F-9083-C8D3D7F32CFB}"/>
              </a:ext>
            </a:extLst>
          </p:cNvPr>
          <p:cNvSpPr>
            <a:spLocks xmlns:a="http://schemas.openxmlformats.org/drawingml/2006/main" noGrp="1"/>
          </p:cNvSpPr>
          <p:nvPr/>
        </p:nvSpPr>
        <p:spPr>
          <a:xfrm xmlns:a="http://schemas.openxmlformats.org/drawingml/2006/main">
            <a:off x="666750" y="2371725"/>
            <a:ext cx="9358313" cy="2962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292929"/>
                </a:solidFill>
                <a:latin typeface="KoPubDotum"/>
                <a:ea typeface="KoPubDotum"/>
                <a:cs typeface="KoPubDotum"/>
              </a:defRPr>
            </a:defPPr>
          </a:lstStyle>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def speed_for(d):</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if d == -1 or d &lt; 200:</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return 0</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return max(100, min(400, int((d - 200) * 2)))</a:t>
            </a:r>
          </a:p>
          <a:p xmlns:a="http://schemas.openxmlformats.org/drawingml/2006/main">
            <a:r>
              <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main의 반복문 안</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v = speed_for(distance_sensor.distance(port.B))</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if v == 0:</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motor_pair.stop(motor_pair.PAIR_1)</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else:</a:t>
            </a:r>
          </a:p>
          <a:p xmlns:a="http://schemas.openxmlformats.org/drawingml/2006/main">
            <a:pPr algn="l">
              <a:lnSpc>
                <a:spcPct val="100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    motor_pair.move(motor_pair.PAIR_1, 0, velocity=v)</a:t>
            </a:r>
          </a:p>
        </p:txBody>
      </p:sp>
      <p:sp>
        <p:nvSpPr>
          <p:cNvPr id="5" name="정지 기준 200mm, 속도 범위 100~400°/초">
            <a:extLst xmlns:a="http://schemas.openxmlformats.org/drawingml/2006/main">
              <a:ext uri="{FF2B5EF4-FFF2-40B4-BE49-F238E27FC236}">
                <a16:creationId xmlns:a16="http://schemas.microsoft.com/office/drawing/2014/main" id="{41D2746E-5D49-4834-A872-3A53CB4C5DDB}"/>
              </a:ext>
            </a:extLst>
          </p:cNvPr>
          <p:cNvSpPr>
            <a:spLocks xmlns:a="http://schemas.openxmlformats.org/drawingml/2006/main" noGrp="1"/>
          </p:cNvSpPr>
          <p:nvPr/>
        </p:nvSpPr>
        <p:spPr>
          <a:xfrm xmlns:a="http://schemas.openxmlformats.org/drawingml/2006/main">
            <a:off x="504825" y="5438775"/>
            <a:ext cx="968216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5A554E"/>
                </a:solidFill>
                <a:latin typeface="KoPubDotum"/>
                <a:ea typeface="KoPubDotum"/>
                <a:cs typeface="KoPubDotum"/>
              </a:defRPr>
            </a:defPPr>
          </a:lstStyle>
          <a:p xmlns:a="http://schemas.openxmlformats.org/drawingml/2006/main">
            <a:pPr algn="l">
              <a:lnSpc>
                <a:spcPct val="116000"/>
              </a:lnSpc>
              <a:buNone/>
              <a:defRPr sz="1500" b="1">
                <a:solidFill>
                  <a:srgbClr val="5A554E"/>
                </a:solidFill>
                <a:latin typeface="KoPubDotum"/>
                <a:ea typeface="KoPubDotum"/>
                <a:cs typeface="KoPubDotum"/>
              </a:defRPr>
            </a:pPr>
            <a:r>
              <a:rPr sz="1500" b="1">
                <a:solidFill>
                  <a:srgbClr val="5A554E"/>
                </a:solidFill>
                <a:latin typeface="KoPubDotum"/>
                <a:ea typeface="KoPubDotum"/>
                <a:cs typeface="KoPubDotum"/>
              </a:rPr>
              <a:t>정지 기준 200mm, 속도 범위 100~400°/초</a:t>
            </a:r>
          </a:p>
        </p:txBody>
      </p:sp>
      <p:sp>
        <p:nvSpPr>
          <p:cNvPr id="6" name="d에 -1, 150, 250, 500을 넣어 v를 구합니다">
            <a:extLst xmlns:a="http://schemas.openxmlformats.org/drawingml/2006/main">
              <a:ext uri="{FF2B5EF4-FFF2-40B4-BE49-F238E27FC236}">
                <a16:creationId xmlns:a16="http://schemas.microsoft.com/office/drawing/2014/main" id="{910D7C1F-FA6C-47E8-8713-8FF14F7B4B66}"/>
              </a:ext>
            </a:extLst>
          </p:cNvPr>
          <p:cNvSpPr>
            <a:spLocks xmlns:a="http://schemas.openxmlformats.org/drawingml/2006/main" noGrp="1"/>
          </p:cNvSpPr>
          <p:nvPr/>
        </p:nvSpPr>
        <p:spPr>
          <a:xfrm xmlns:a="http://schemas.openxmlformats.org/drawingml/2006/main">
            <a:off x="504825" y="5781675"/>
            <a:ext cx="968216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A554E"/>
                </a:solidFill>
                <a:latin typeface="KoPubDotum"/>
                <a:ea typeface="KoPubDotum"/>
                <a:cs typeface="KoPubDotum"/>
              </a:defRPr>
            </a:defPPr>
          </a:lstStyle>
          <a:p xmlns:a="http://schemas.openxmlformats.org/drawingml/2006/main">
            <a:pPr algn="l">
              <a:lnSpc>
                <a:spcPct val="116000"/>
              </a:lnSpc>
              <a:buNone/>
              <a:defRPr sz="1500" b="0">
                <a:solidFill>
                  <a:srgbClr val="5A554E"/>
                </a:solidFill>
                <a:latin typeface="KoPubDotum"/>
                <a:ea typeface="KoPubDotum"/>
                <a:cs typeface="KoPubDotum"/>
              </a:defRPr>
            </a:pPr>
            <a:r>
              <a:rPr sz="1500" b="0">
                <a:solidFill>
                  <a:srgbClr val="5A554E"/>
                </a:solidFill>
                <a:latin typeface="KoPubDotum"/>
                <a:ea typeface="KoPubDotum"/>
                <a:cs typeface="KoPubDotum"/>
              </a:rPr>
              <a:t>d에 -1, 150, 250, 500을 넣어 v를 구합니다.</a:t>
            </a:r>
          </a:p>
        </p:txBody>
      </p:sp>
    </p:spTree>
    <p:extLst>
      <p:ext uri="{BB962C8B-B14F-4D97-AF65-F5344CB8AC3E}">
        <p14:creationId xmlns:p14="http://schemas.microsoft.com/office/powerpoint/2010/main" val="44435433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6" name="속도 계산 함수와 반복문">
            <a:extLst xmlns:a="http://schemas.openxmlformats.org/drawingml/2006/main">
              <a:ext uri="{FF2B5EF4-FFF2-40B4-BE49-F238E27FC236}">
                <a16:creationId xmlns:a16="http://schemas.microsoft.com/office/drawing/2014/main" id="{1B2DE062-02F5-4D3B-B907-4370DA90CBE0}"/>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속도 계산 함수와 반복문</a:t>
            </a:r>
          </a:p>
        </p:txBody>
      </p:sp>
      <p:sp>
        <p:nvSpPr>
          <p:cNvPr id="2" name="30">
            <a:extLst xmlns:a="http://schemas.openxmlformats.org/drawingml/2006/main">
              <a:ext uri="{FF2B5EF4-FFF2-40B4-BE49-F238E27FC236}">
                <a16:creationId xmlns:a16="http://schemas.microsoft.com/office/drawing/2014/main" id="{3A7F5010-9294-4765-AB1B-25B08746E800}"/>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30</a:t>
            </a:r>
          </a:p>
        </p:txBody>
      </p:sp>
      <p:pic>
        <p:nvPicPr>
          <p:cNvPr id="3" name="">
            <a:extLst xmlns:a="http://schemas.openxmlformats.org/drawingml/2006/main">
              <a:ext uri="{FF2B5EF4-FFF2-40B4-BE49-F238E27FC236}">
                <a16:creationId xmlns:a16="http://schemas.microsoft.com/office/drawing/2014/main" id="{8CF20EAA-472E-4D19-8384-95DC7F239689}"/>
              </a:ext>
            </a:extLst>
          </p:cNvPr>
          <p:cNvPicPr>
            <a:picLocks xmlns:a="http://schemas.openxmlformats.org/drawingml/2006/main" noChangeAspect="1"/>
          </p:cNvPicPr>
          <p:nvPr/>
        </p:nvPicPr>
        <p:blipFill>
          <a:blip xmlns:r="http://schemas.openxmlformats.org/officeDocument/2006/relationships" xmlns:a="http://schemas.openxmlformats.org/drawingml/2006/main" r:embed="R3119a60b9ada404e"/>
          <a:stretch xmlns:a="http://schemas.openxmlformats.org/drawingml/2006/main"/>
        </p:blipFill>
        <p:spPr>
          <a:xfrm xmlns:a="http://schemas.openxmlformats.org/drawingml/2006/main">
            <a:off x="476250" y="2047875"/>
            <a:ext cx="5531556" cy="4000500"/>
          </a:xfrm>
          <a:prstGeom xmlns:a="http://schemas.openxmlformats.org/drawingml/2006/main" prst="rect">
            <a:avLst/>
          </a:prstGeom>
        </p:spPr>
      </p:pic>
      <p:sp>
        <p:nvSpPr>
          <p:cNvPr id="4" name="199mm와 200mm에서 계산한 속도를 비교합니다.">
            <a:extLst xmlns:a="http://schemas.openxmlformats.org/drawingml/2006/main">
              <a:ext uri="{FF2B5EF4-FFF2-40B4-BE49-F238E27FC236}">
                <a16:creationId xmlns:a16="http://schemas.microsoft.com/office/drawing/2014/main" id="{C48B68BC-D458-48BC-9D63-8B17E069BED9}"/>
              </a:ext>
            </a:extLst>
          </p:cNvPr>
          <p:cNvSpPr>
            <a:spLocks xmlns:a="http://schemas.openxmlformats.org/drawingml/2006/main" noGrp="1"/>
          </p:cNvSpPr>
          <p:nvPr/>
        </p:nvSpPr>
        <p:spPr>
          <a:xfrm xmlns:a="http://schemas.openxmlformats.org/drawingml/2006/main">
            <a:off x="523875" y="6238875"/>
            <a:ext cx="9620250" cy="331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92929"/>
                </a:solidFill>
                <a:latin typeface="KoPubDotum"/>
                <a:ea typeface="KoPubDotum"/>
                <a:cs typeface="KoPubDotum"/>
              </a:defRPr>
            </a:defPPr>
          </a:lstStyle>
          <a:p xmlns:a="http://schemas.openxmlformats.org/drawingml/2006/main">
            <a:pPr algn="l">
              <a:lnSpc>
                <a:spcPct val="116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199mm와 200mm에서 계산한 속도를 비교합니다.</a:t>
            </a:r>
          </a:p>
        </p:txBody>
      </p:sp>
      <p:sp>
        <p:nvSpPr>
          <p:cNvPr id="5" name="정지 뒤 갑자기 출발하지 않게 하려면 어떤 계산을 바꿔야 ">
            <a:extLst xmlns:a="http://schemas.openxmlformats.org/drawingml/2006/main">
              <a:ext uri="{FF2B5EF4-FFF2-40B4-BE49-F238E27FC236}">
                <a16:creationId xmlns:a16="http://schemas.microsoft.com/office/drawing/2014/main" id="{148F2763-114B-4E08-8E94-01DE19742533}"/>
              </a:ext>
            </a:extLst>
          </p:cNvPr>
          <p:cNvSpPr>
            <a:spLocks xmlns:a="http://schemas.openxmlformats.org/drawingml/2006/main" noGrp="1"/>
          </p:cNvSpPr>
          <p:nvPr/>
        </p:nvSpPr>
        <p:spPr>
          <a:xfrm xmlns:a="http://schemas.openxmlformats.org/drawingml/2006/main">
            <a:off x="523875" y="6646545"/>
            <a:ext cx="9620250" cy="331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92929"/>
                </a:solidFill>
                <a:latin typeface="KoPubDotum"/>
                <a:ea typeface="KoPubDotum"/>
                <a:cs typeface="KoPubDotum"/>
              </a:defRPr>
            </a:defPPr>
          </a:lstStyle>
          <a:p xmlns:a="http://schemas.openxmlformats.org/drawingml/2006/main">
            <a:pPr algn="l">
              <a:lnSpc>
                <a:spcPct val="116000"/>
              </a:lnSpc>
              <a:buNone/>
              <a:defRPr sz="1500" b="0">
                <a:solidFill>
                  <a:srgbClr val="292929"/>
                </a:solidFill>
                <a:latin typeface="KoPubDotum"/>
                <a:ea typeface="KoPubDotum"/>
                <a:cs typeface="KoPubDotum"/>
              </a:defRPr>
            </a:pPr>
            <a:r>
              <a:rPr sz="1500" b="0">
                <a:solidFill>
                  <a:srgbClr val="292929"/>
                </a:solidFill>
                <a:latin typeface="KoPubDotum"/>
                <a:ea typeface="KoPubDotum"/>
                <a:cs typeface="KoPubDotum"/>
              </a:rPr>
              <a:t>정지 뒤 갑자기 출발하지 않게 하려면 어떤 계산을 바꿔야 할까요?</a:t>
            </a:r>
          </a:p>
        </p:txBody>
      </p:sp>
    </p:spTree>
    <p:extLst>
      <p:ext uri="{BB962C8B-B14F-4D97-AF65-F5344CB8AC3E}">
        <p14:creationId xmlns:p14="http://schemas.microsoft.com/office/powerpoint/2010/main" val="50111215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4" name="오류 메시지로 원인 찾기">
            <a:extLst xmlns:a="http://schemas.openxmlformats.org/drawingml/2006/main">
              <a:ext uri="{FF2B5EF4-FFF2-40B4-BE49-F238E27FC236}">
                <a16:creationId xmlns:a16="http://schemas.microsoft.com/office/drawing/2014/main" id="{9C0D81E1-4FC7-4B17-BEA7-65B954F67434}"/>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오류 메시지로 원인 찾기</a:t>
            </a:r>
          </a:p>
        </p:txBody>
      </p:sp>
      <p:sp>
        <p:nvSpPr>
          <p:cNvPr id="2" name="31">
            <a:extLst xmlns:a="http://schemas.openxmlformats.org/drawingml/2006/main">
              <a:ext uri="{FF2B5EF4-FFF2-40B4-BE49-F238E27FC236}">
                <a16:creationId xmlns:a16="http://schemas.microsoft.com/office/drawing/2014/main" id="{DE82AD44-717E-462A-A051-1788D95DD2E5}"/>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31</a:t>
            </a:r>
          </a:p>
        </p:txBody>
      </p:sp>
      <p:graphicFrame>
        <p:nvGraphicFramePr>
          <p:cNvPr id="3" name="">
            <a:extLst xmlns:a="http://schemas.openxmlformats.org/drawingml/2006/main">
              <a:ext uri="{FF2B5EF4-FFF2-40B4-BE49-F238E27FC236}">
                <a16:creationId xmlns:a16="http://schemas.microsoft.com/office/drawing/2014/main" id="{AEAB7BBB-50CC-4196-81C5-349781D32825}"/>
              </a:ext>
            </a:extLst>
          </p:cNvPr>
          <p:cNvGraphicFramePr/>
          <p:nvPr/>
        </p:nvGraphicFramePr>
        <p:xfrm>
          <a:off xmlns:a="http://schemas.openxmlformats.org/drawingml/2006/main" x="476250" y="1981200"/>
          <a:ext xmlns:a="http://schemas.openxmlformats.org/drawingml/2006/main" cx="9739313" cy="32385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오류/증상</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확인 질문</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다음 시험</a:t>
                      </a:r>
                    </a:p>
                  </a:txBody>
                  <a:tcPr marL="91440" marR="91440" marT="45720" marB="45720" anchor="ctr">
                    <a:solidFill>
                      <a:srgbClr val="F7972B"/>
                    </a:solidFill>
                  </a:tcPr>
                </a:tc>
              </a:tr>
              <a:tr h="695325">
                <a:tc>
                  <a:txBody>
                    <a:bodyPr lIns="133350" tIns="114300" rIns="114300" bIns="76200">
                      <a:noAutofit/>
                    </a:bodyPr>
                    <a:lstStyle/>
                    <a:p>
                      <a:r>
                        <a:rPr sz="1725" b="0">
                          <a:solidFill>
                            <a:srgbClr val="292929"/>
                          </a:solidFill>
                          <a:latin typeface="KoPubDotum"/>
                          <a:ea typeface="KoPubDotum"/>
                          <a:cs typeface="KoPubDotum"/>
                        </a:rPr>
                        <a:t>NameError</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모듈·변수를 import/정의했나요?</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오류 줄과 정의 위치 비교</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ENODEV / 장치 오류</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해당 포트에 맞는 장치가 있나요?</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A/E 모터와 B 센서 분리 확인</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SyntaxError / 들여쓰기</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콜론·괄호·블록 들여쓰기가 맞나요?</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오류 줄과 바로 앞 줄 확인</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멈추지 않음</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반복 안에서 새 값을 읽나요?</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정지 상태에서 d와 조건 출력</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7062597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9" name="AI에 오류를 설명할 때">
            <a:extLst xmlns:a="http://schemas.openxmlformats.org/drawingml/2006/main">
              <a:ext uri="{FF2B5EF4-FFF2-40B4-BE49-F238E27FC236}">
                <a16:creationId xmlns:a16="http://schemas.microsoft.com/office/drawing/2014/main" id="{F350B09C-C6DF-4D37-AD6B-282932CF4E3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AI에 오류를 설명할 때</a:t>
            </a:r>
          </a:p>
        </p:txBody>
      </p:sp>
      <p:sp>
        <p:nvSpPr>
          <p:cNvPr id="2" name="32">
            <a:extLst xmlns:a="http://schemas.openxmlformats.org/drawingml/2006/main">
              <a:ext uri="{FF2B5EF4-FFF2-40B4-BE49-F238E27FC236}">
                <a16:creationId xmlns:a16="http://schemas.microsoft.com/office/drawing/2014/main" id="{5B9075C7-63BD-4C80-86FE-29616CC370A5}"/>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32</a:t>
            </a:r>
          </a:p>
        </p:txBody>
      </p:sp>
      <p:sp>
        <p:nvSpPr>
          <p:cNvPr id="3" name="함께 줄 정보">
            <a:extLst xmlns:a="http://schemas.openxmlformats.org/drawingml/2006/main">
              <a:ext uri="{FF2B5EF4-FFF2-40B4-BE49-F238E27FC236}">
                <a16:creationId xmlns:a16="http://schemas.microsoft.com/office/drawing/2014/main" id="{4A5BC636-7CD2-4EA8-AF62-85D726301D0B}"/>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함께 줄 정보</a:t>
            </a:r>
          </a:p>
        </p:txBody>
      </p:sp>
      <p:sp>
        <p:nvSpPr>
          <p:cNvPr id="4" name="“SPIKE 3 Python입니다. 모터는 왼쪽 A, 오른">
            <a:extLst xmlns:a="http://schemas.openxmlformats.org/drawingml/2006/main">
              <a:ext uri="{FF2B5EF4-FFF2-40B4-BE49-F238E27FC236}">
                <a16:creationId xmlns:a16="http://schemas.microsoft.com/office/drawing/2014/main" id="{19870DBF-173A-4B66-A436-929221A0A4F0}"/>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“SPIKE 3 Python입니다. 모터는 왼쪽 A, 오른쪽 E, 거리는 B입니다.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아래 코드와 오류 메시지에서 의심할 부분을 알려 주세요.”</a:t>
            </a:r>
          </a:p>
        </p:txBody>
      </p:sp>
      <p:sp>
        <p:nvSpPr>
          <p:cNvPr id="5" name="제안을 받은 뒤">
            <a:extLst xmlns:a="http://schemas.openxmlformats.org/drawingml/2006/main">
              <a:ext uri="{FF2B5EF4-FFF2-40B4-BE49-F238E27FC236}">
                <a16:creationId xmlns:a16="http://schemas.microsoft.com/office/drawing/2014/main" id="{73E2BBC7-2143-4FB2-ABEA-98326AEFB7FF}"/>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제안을 받은 뒤</a:t>
            </a:r>
          </a:p>
        </p:txBody>
      </p:sp>
      <p:sp>
        <p:nvSpPr>
          <p:cNvPr id="6" name="도움말에서 모듈과 인자, 단위를 대조합니다.&#10;조건에 시험값">
            <a:extLst xmlns:a="http://schemas.openxmlformats.org/drawingml/2006/main">
              <a:ext uri="{FF2B5EF4-FFF2-40B4-BE49-F238E27FC236}">
                <a16:creationId xmlns:a16="http://schemas.microsoft.com/office/drawing/2014/main" id="{CA44E679-200F-4218-B180-9DA1D010675A}"/>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도움말에서 모듈과 인자, 단위를 대조합니다.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조건에 시험값을 넣어 본 뒤 Hub에서 낮은 속도로 실행합니다.</a:t>
            </a:r>
          </a:p>
        </p:txBody>
      </p:sp>
      <p:sp>
        <p:nvSpPr>
          <p:cNvPr id="7" name="직접 확인한 결과">
            <a:extLst xmlns:a="http://schemas.openxmlformats.org/drawingml/2006/main">
              <a:ext uri="{FF2B5EF4-FFF2-40B4-BE49-F238E27FC236}">
                <a16:creationId xmlns:a16="http://schemas.microsoft.com/office/drawing/2014/main" id="{9C24DC66-B372-4227-A283-E72542D2C23E}"/>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직접 확인한 결과</a:t>
            </a:r>
          </a:p>
        </p:txBody>
      </p:sp>
      <p:sp>
        <p:nvSpPr>
          <p:cNvPr id="8" name="바꾼 코드와 다시 실행한 결과를 적습니다.&#10;AI의 설명만으">
            <a:extLst xmlns:a="http://schemas.openxmlformats.org/drawingml/2006/main">
              <a:ext uri="{FF2B5EF4-FFF2-40B4-BE49-F238E27FC236}">
                <a16:creationId xmlns:a16="http://schemas.microsoft.com/office/drawing/2014/main" id="{AF111165-03A8-4403-B774-09F1A274DCD2}"/>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바꾼 코드와 다시 실행한 결과를 적습니다.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AI의 설명만으로 해결됐다고 판단하지 않습니다.</a:t>
            </a:r>
          </a:p>
        </p:txBody>
      </p:sp>
    </p:spTree>
    <p:extLst>
      <p:ext uri="{BB962C8B-B14F-4D97-AF65-F5344CB8AC3E}">
        <p14:creationId xmlns:p14="http://schemas.microsoft.com/office/powerpoint/2010/main" val="158840530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1" name="2차시 실습 확인">
            <a:extLst xmlns:a="http://schemas.openxmlformats.org/drawingml/2006/main">
              <a:ext uri="{FF2B5EF4-FFF2-40B4-BE49-F238E27FC236}">
                <a16:creationId xmlns:a16="http://schemas.microsoft.com/office/drawing/2014/main" id="{A427F1A2-ED72-432B-A42A-154C642B05C0}"/>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2차시 실습 확인</a:t>
            </a:r>
          </a:p>
        </p:txBody>
      </p:sp>
      <p:sp>
        <p:nvSpPr>
          <p:cNvPr id="2" name="33">
            <a:extLst xmlns:a="http://schemas.openxmlformats.org/drawingml/2006/main">
              <a:ext uri="{FF2B5EF4-FFF2-40B4-BE49-F238E27FC236}">
                <a16:creationId xmlns:a16="http://schemas.microsoft.com/office/drawing/2014/main" id="{C5285B06-5F95-4ED8-852A-451001DE3AD4}"/>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33</a:t>
            </a:r>
          </a:p>
        </p:txBody>
      </p:sp>
      <p:sp>
        <p:nvSpPr>
          <p:cNvPr id="3" name="단위">
            <a:extLst xmlns:a="http://schemas.openxmlformats.org/drawingml/2006/main">
              <a:ext uri="{FF2B5EF4-FFF2-40B4-BE49-F238E27FC236}">
                <a16:creationId xmlns:a16="http://schemas.microsoft.com/office/drawing/2014/main" id="{E01CA9AF-93F7-46D9-A053-4AA640710347}"/>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단위</a:t>
            </a:r>
          </a:p>
        </p:txBody>
      </p:sp>
      <p:sp>
        <p:nvSpPr>
          <p:cNvPr id="4" name="블록의 거리 20cm를 Python에서는 몇으로 비교하나요">
            <a:extLst xmlns:a="http://schemas.openxmlformats.org/drawingml/2006/main">
              <a:ext uri="{FF2B5EF4-FFF2-40B4-BE49-F238E27FC236}">
                <a16:creationId xmlns:a16="http://schemas.microsoft.com/office/drawing/2014/main" id="{EB775E34-EDCF-4089-9C60-7CBFE8209511}"/>
              </a:ext>
            </a:extLst>
          </p:cNvPr>
          <p:cNvSpPr>
            <a:spLocks xmlns:a="http://schemas.openxmlformats.org/drawingml/2006/main" noGrp="1"/>
          </p:cNvSpPr>
          <p:nvPr/>
        </p:nvSpPr>
        <p:spPr>
          <a:xfrm xmlns:a="http://schemas.openxmlformats.org/drawingml/2006/main">
            <a:off x="523875" y="2484120"/>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블록의 거리 20cm를 Python에서는 몇으로 비교하나요?</a:t>
            </a:r>
          </a:p>
        </p:txBody>
      </p:sp>
      <p:sp>
        <p:nvSpPr>
          <p:cNvPr id="5" name="함수">
            <a:extLst xmlns:a="http://schemas.openxmlformats.org/drawingml/2006/main">
              <a:ext uri="{FF2B5EF4-FFF2-40B4-BE49-F238E27FC236}">
                <a16:creationId xmlns:a16="http://schemas.microsoft.com/office/drawing/2014/main" id="{EF3EDFA2-E069-4199-B754-8644D87F3102}"/>
              </a:ext>
            </a:extLst>
          </p:cNvPr>
          <p:cNvSpPr>
            <a:spLocks xmlns:a="http://schemas.openxmlformats.org/drawingml/2006/main" noGrp="1"/>
          </p:cNvSpPr>
          <p:nvPr/>
        </p:nvSpPr>
        <p:spPr>
          <a:xfrm xmlns:a="http://schemas.openxmlformats.org/drawingml/2006/main">
            <a:off x="523875" y="3139821"/>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함수</a:t>
            </a:r>
          </a:p>
        </p:txBody>
      </p:sp>
      <p:sp>
        <p:nvSpPr>
          <p:cNvPr id="6" name="정지 판단을 함수로 만들면 무엇을 따로 시험할 수 있나요?">
            <a:extLst xmlns:a="http://schemas.openxmlformats.org/drawingml/2006/main">
              <a:ext uri="{FF2B5EF4-FFF2-40B4-BE49-F238E27FC236}">
                <a16:creationId xmlns:a16="http://schemas.microsoft.com/office/drawing/2014/main" id="{51717B8E-1995-4651-B191-1F311020D5E9}"/>
              </a:ext>
            </a:extLst>
          </p:cNvPr>
          <p:cNvSpPr>
            <a:spLocks xmlns:a="http://schemas.openxmlformats.org/drawingml/2006/main" noGrp="1"/>
          </p:cNvSpPr>
          <p:nvPr/>
        </p:nvSpPr>
        <p:spPr>
          <a:xfrm xmlns:a="http://schemas.openxmlformats.org/drawingml/2006/main">
            <a:off x="523875" y="3576066"/>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정지 판단을 함수로 만들면 무엇을 따로 시험할 수 있나요?</a:t>
            </a:r>
          </a:p>
        </p:txBody>
      </p:sp>
      <p:sp>
        <p:nvSpPr>
          <p:cNvPr id="7" name="API 확인">
            <a:extLst xmlns:a="http://schemas.openxmlformats.org/drawingml/2006/main">
              <a:ext uri="{FF2B5EF4-FFF2-40B4-BE49-F238E27FC236}">
                <a16:creationId xmlns:a16="http://schemas.microsoft.com/office/drawing/2014/main" id="{3E473AFB-CB6D-47E2-9D39-4E73473761AF}"/>
              </a:ext>
            </a:extLst>
          </p:cNvPr>
          <p:cNvSpPr>
            <a:spLocks xmlns:a="http://schemas.openxmlformats.org/drawingml/2006/main" noGrp="1"/>
          </p:cNvSpPr>
          <p:nvPr/>
        </p:nvSpPr>
        <p:spPr>
          <a:xfrm xmlns:a="http://schemas.openxmlformats.org/drawingml/2006/main">
            <a:off x="523875" y="4231767"/>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API 확인</a:t>
            </a:r>
          </a:p>
        </p:txBody>
      </p:sp>
      <p:sp>
        <p:nvSpPr>
          <p:cNvPr id="8" name="AI가 from spike import PrimeHub를 ">
            <a:extLst xmlns:a="http://schemas.openxmlformats.org/drawingml/2006/main">
              <a:ext uri="{FF2B5EF4-FFF2-40B4-BE49-F238E27FC236}">
                <a16:creationId xmlns:a16="http://schemas.microsoft.com/office/drawing/2014/main" id="{71D5484A-0D05-4897-AB86-A73B0D57277C}"/>
              </a:ext>
            </a:extLst>
          </p:cNvPr>
          <p:cNvSpPr>
            <a:spLocks xmlns:a="http://schemas.openxmlformats.org/drawingml/2006/main" noGrp="1"/>
          </p:cNvSpPr>
          <p:nvPr/>
        </p:nvSpPr>
        <p:spPr>
          <a:xfrm xmlns:a="http://schemas.openxmlformats.org/drawingml/2006/main">
            <a:off x="523875" y="4668012"/>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AI가 from spike import PrimeHub를 제안하면 무엇을 확인하나요?</a:t>
            </a:r>
          </a:p>
        </p:txBody>
      </p:sp>
      <p:sp>
        <p:nvSpPr>
          <p:cNvPr id="9" name="저장">
            <a:extLst xmlns:a="http://schemas.openxmlformats.org/drawingml/2006/main">
              <a:ext uri="{FF2B5EF4-FFF2-40B4-BE49-F238E27FC236}">
                <a16:creationId xmlns:a16="http://schemas.microsoft.com/office/drawing/2014/main" id="{DB16542C-0E1A-45D6-96D2-CA686CFB5F7B}"/>
              </a:ext>
            </a:extLst>
          </p:cNvPr>
          <p:cNvSpPr>
            <a:spLocks xmlns:a="http://schemas.openxmlformats.org/drawingml/2006/main" noGrp="1"/>
          </p:cNvSpPr>
          <p:nvPr/>
        </p:nvSpPr>
        <p:spPr>
          <a:xfrm xmlns:a="http://schemas.openxmlformats.org/drawingml/2006/main">
            <a:off x="523875" y="5323713"/>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저장</a:t>
            </a:r>
          </a:p>
        </p:txBody>
      </p:sp>
      <p:sp>
        <p:nvSpPr>
          <p:cNvPr id="10" name="프로젝트와 조건 시험표를 저장합니다.&#10;실제로 실행했는지와 ">
            <a:extLst xmlns:a="http://schemas.openxmlformats.org/drawingml/2006/main">
              <a:ext uri="{FF2B5EF4-FFF2-40B4-BE49-F238E27FC236}">
                <a16:creationId xmlns:a16="http://schemas.microsoft.com/office/drawing/2014/main" id="{C2C3C6B5-5FFD-4F32-8828-E8A6FFEE8DFD}"/>
              </a:ext>
            </a:extLst>
          </p:cNvPr>
          <p:cNvSpPr>
            <a:spLocks xmlns:a="http://schemas.openxmlformats.org/drawingml/2006/main" noGrp="1"/>
          </p:cNvSpPr>
          <p:nvPr/>
        </p:nvSpPr>
        <p:spPr>
          <a:xfrm xmlns:a="http://schemas.openxmlformats.org/drawingml/2006/main">
            <a:off x="523875" y="5759958"/>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프로젝트와 조건 시험표를 저장합니다.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실제로 실행했는지와 남은 오류를 함께 적습니다.</a:t>
            </a:r>
          </a:p>
        </p:txBody>
      </p:sp>
    </p:spTree>
    <p:extLst>
      <p:ext uri="{BB962C8B-B14F-4D97-AF65-F5344CB8AC3E}">
        <p14:creationId xmlns:p14="http://schemas.microsoft.com/office/powerpoint/2010/main" val="192928611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386308-41AB-4BDA-A018-18B372518086}"/>
              </a:ext>
            </a:extLst>
          </p:cNvPr>
          <p:cNvSpPr>
            <a:spLocks xmlns:a="http://schemas.openxmlformats.org/drawingml/2006/main" noGrp="1"/>
          </p:cNvSpPr>
          <p:nvPr/>
        </p:nvSpPr>
        <p:spPr>
          <a:xfrm xmlns:a="http://schemas.openxmlformats.org/drawingml/2006/main">
            <a:off x="742950" y="1381125"/>
            <a:ext cx="2095500" cy="495300"/>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2" name="3차시">
            <a:extLst xmlns:a="http://schemas.openxmlformats.org/drawingml/2006/main">
              <a:ext uri="{FF2B5EF4-FFF2-40B4-BE49-F238E27FC236}">
                <a16:creationId xmlns:a16="http://schemas.microsoft.com/office/drawing/2014/main" id="{E2D18EEB-1091-4BCF-9A60-38E127C16F49}"/>
              </a:ext>
            </a:extLst>
          </p:cNvPr>
          <p:cNvSpPr>
            <a:spLocks xmlns:a="http://schemas.openxmlformats.org/drawingml/2006/main" noGrp="1"/>
          </p:cNvSpPr>
          <p:nvPr/>
        </p:nvSpPr>
        <p:spPr>
          <a:xfrm xmlns:a="http://schemas.openxmlformats.org/drawingml/2006/main">
            <a:off x="819150" y="146685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KoPubDotum"/>
                <a:ea typeface="KoPubDotum"/>
                <a:cs typeface="KoPubDotum"/>
              </a:defRPr>
            </a:defPPr>
          </a:lstStyle>
          <a:p xmlns:a="http://schemas.openxmlformats.org/drawingml/2006/main">
            <a:pPr algn="ctr">
              <a:lnSpc>
                <a:spcPct val="116000"/>
              </a:lnSpc>
              <a:buNone/>
              <a:defRPr sz="2175" b="1">
                <a:solidFill>
                  <a:srgbClr val="FFFFFF"/>
                </a:solidFill>
                <a:latin typeface="KoPubDotum"/>
                <a:ea typeface="KoPubDotum"/>
                <a:cs typeface="KoPubDotum"/>
              </a:defRPr>
            </a:pPr>
            <a:r>
              <a:rPr sz="2175" b="1">
                <a:solidFill>
                  <a:srgbClr val="FFFFFF"/>
                </a:solidFill>
                <a:latin typeface="KoPubDotum"/>
                <a:ea typeface="KoPubDotum"/>
                <a:cs typeface="KoPubDotum"/>
              </a:rPr>
              <a:t>3차시</a:t>
            </a:r>
          </a:p>
        </p:txBody>
      </p:sp>
      <p:sp>
        <p:nvSpPr>
          <p:cNvPr id="3" name="라인 주행과&#10;회전 오차 줄이기">
            <a:extLst xmlns:a="http://schemas.openxmlformats.org/drawingml/2006/main">
              <a:ext uri="{FF2B5EF4-FFF2-40B4-BE49-F238E27FC236}">
                <a16:creationId xmlns:a16="http://schemas.microsoft.com/office/drawing/2014/main" id="{FA2DB282-9D68-4F39-A2E2-ABB129D4C981}"/>
              </a:ext>
            </a:extLst>
          </p:cNvPr>
          <p:cNvSpPr>
            <a:spLocks xmlns:a="http://schemas.openxmlformats.org/drawingml/2006/main" noGrp="1"/>
          </p:cNvSpPr>
          <p:nvPr/>
        </p:nvSpPr>
        <p:spPr>
          <a:xfrm xmlns:a="http://schemas.openxmlformats.org/drawingml/2006/main">
            <a:off x="781050" y="2257425"/>
            <a:ext cx="8953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2929"/>
                </a:solidFill>
                <a:latin typeface="KoPubDotum"/>
                <a:ea typeface="KoPubDotum"/>
                <a:cs typeface="KoPubDotum"/>
              </a:defRPr>
            </a:defPPr>
          </a:lstStyle>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라인 주행과</a:t>
            </a:r>
          </a:p>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회전 오차 줄이기</a:t>
            </a:r>
          </a:p>
        </p:txBody>
      </p:sp>
      <p:sp>
        <p:nvSpPr>
          <p:cNvPr id="4" name="">
            <a:extLst xmlns:a="http://schemas.openxmlformats.org/drawingml/2006/main">
              <a:ext uri="{FF2B5EF4-FFF2-40B4-BE49-F238E27FC236}">
                <a16:creationId xmlns:a16="http://schemas.microsoft.com/office/drawing/2014/main" id="{8C74CB43-1223-4EC1-8ACA-357DEEFF1AAC}"/>
              </a:ext>
            </a:extLst>
          </p:cNvPr>
          <p:cNvSpPr>
            <a:spLocks xmlns:a="http://schemas.openxmlformats.org/drawingml/2006/main" noGrp="1"/>
          </p:cNvSpPr>
          <p:nvPr/>
        </p:nvSpPr>
        <p:spPr>
          <a:xfrm xmlns:a="http://schemas.openxmlformats.org/drawingml/2006/main">
            <a:off x="742950" y="4191000"/>
            <a:ext cx="2095500" cy="485775"/>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5" name="학습 목표">
            <a:extLst xmlns:a="http://schemas.openxmlformats.org/drawingml/2006/main">
              <a:ext uri="{FF2B5EF4-FFF2-40B4-BE49-F238E27FC236}">
                <a16:creationId xmlns:a16="http://schemas.microsoft.com/office/drawing/2014/main" id="{F8569D88-83AA-4953-ABD7-A12C898C3C65}"/>
              </a:ext>
            </a:extLst>
          </p:cNvPr>
          <p:cNvSpPr>
            <a:spLocks xmlns:a="http://schemas.openxmlformats.org/drawingml/2006/main" noGrp="1"/>
          </p:cNvSpPr>
          <p:nvPr/>
        </p:nvSpPr>
        <p:spPr>
          <a:xfrm xmlns:a="http://schemas.openxmlformats.org/drawingml/2006/main">
            <a:off x="838200" y="42767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FFFFF"/>
                </a:solidFill>
                <a:latin typeface="KoPubDotum"/>
                <a:ea typeface="KoPubDotum"/>
                <a:cs typeface="KoPubDotum"/>
              </a:defRPr>
            </a:defPPr>
          </a:lstStyle>
          <a:p xmlns:a="http://schemas.openxmlformats.org/drawingml/2006/main">
            <a:pPr algn="ctr">
              <a:lnSpc>
                <a:spcPct val="116000"/>
              </a:lnSpc>
              <a:buNone/>
              <a:defRPr sz="2100" b="1">
                <a:solidFill>
                  <a:srgbClr val="FFFFFF"/>
                </a:solidFill>
                <a:latin typeface="KoPubDotum"/>
                <a:ea typeface="KoPubDotum"/>
                <a:cs typeface="KoPubDotum"/>
              </a:defRPr>
            </a:pPr>
            <a:r>
              <a:rPr sz="2100" b="1">
                <a:solidFill>
                  <a:srgbClr val="FFFFFF"/>
                </a:solidFill>
                <a:latin typeface="KoPubDotum"/>
                <a:ea typeface="KoPubDotum"/>
                <a:cs typeface="KoPubDotum"/>
              </a:rPr>
              <a:t>학습 목표</a:t>
            </a:r>
          </a:p>
        </p:txBody>
      </p:sp>
      <p:sp>
        <p:nvSpPr>
          <p:cNvPr id="6" name="1. 반사광 기준값과 조향을 바꾸어 라인 주행을 비교합니다">
            <a:extLst xmlns:a="http://schemas.openxmlformats.org/drawingml/2006/main">
              <a:ext uri="{FF2B5EF4-FFF2-40B4-BE49-F238E27FC236}">
                <a16:creationId xmlns:a16="http://schemas.microsoft.com/office/drawing/2014/main" id="{7787F9F7-8D90-4F33-A92B-C0603080323F}"/>
              </a:ext>
            </a:extLst>
          </p:cNvPr>
          <p:cNvSpPr>
            <a:spLocks xmlns:a="http://schemas.openxmlformats.org/drawingml/2006/main" noGrp="1"/>
          </p:cNvSpPr>
          <p:nvPr/>
        </p:nvSpPr>
        <p:spPr>
          <a:xfrm xmlns:a="http://schemas.openxmlformats.org/drawingml/2006/main">
            <a:off x="3381375" y="4171950"/>
            <a:ext cx="6334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92929"/>
                </a:solidFill>
                <a:latin typeface="KoPubDotum"/>
                <a:ea typeface="KoPubDotum"/>
                <a:cs typeface="KoPubDotum"/>
              </a:defRPr>
            </a:defPPr>
          </a:lstStyle>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1. 반사광 기준값과 조향을 바꾸어 라인 주행을 비교합니다.</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2. 목표각과 실제각의 차이를 기록하고 회전을 보정합니다.</a:t>
            </a:r>
          </a:p>
        </p:txBody>
      </p:sp>
      <p:sp>
        <p:nvSpPr>
          <p:cNvPr id="7" name="라인 주행, 회전 보정, 학생 오류 지도 50분">
            <a:extLst xmlns:a="http://schemas.openxmlformats.org/drawingml/2006/main">
              <a:ext uri="{FF2B5EF4-FFF2-40B4-BE49-F238E27FC236}">
                <a16:creationId xmlns:a16="http://schemas.microsoft.com/office/drawing/2014/main" id="{867A590A-FF51-49EC-AC82-13FDA299177A}"/>
              </a:ext>
            </a:extLst>
          </p:cNvPr>
          <p:cNvSpPr>
            <a:spLocks xmlns:a="http://schemas.openxmlformats.org/drawingml/2006/main" noGrp="1"/>
          </p:cNvSpPr>
          <p:nvPr/>
        </p:nvSpPr>
        <p:spPr>
          <a:xfrm xmlns:a="http://schemas.openxmlformats.org/drawingml/2006/main">
            <a:off x="3381375" y="5810250"/>
            <a:ext cx="633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라인 주행, 회전 보정, 학생 오류 지도 50분</a:t>
            </a:r>
          </a:p>
        </p:txBody>
      </p:sp>
    </p:spTree>
    <p:extLst>
      <p:ext uri="{BB962C8B-B14F-4D97-AF65-F5344CB8AC3E}">
        <p14:creationId xmlns:p14="http://schemas.microsoft.com/office/powerpoint/2010/main" val="60108137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 name="반사광 평균 계산 예시">
            <a:extLst xmlns:a="http://schemas.openxmlformats.org/drawingml/2006/main">
              <a:ext uri="{FF2B5EF4-FFF2-40B4-BE49-F238E27FC236}">
                <a16:creationId xmlns:a16="http://schemas.microsoft.com/office/drawing/2014/main" id="{C97936E0-F2AE-4DA0-9A00-D57F4DADD3C3}"/>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반사광 평균 계산 예시</a:t>
            </a:r>
          </a:p>
        </p:txBody>
      </p:sp>
      <p:sp>
        <p:nvSpPr>
          <p:cNvPr id="2" name="35">
            <a:extLst xmlns:a="http://schemas.openxmlformats.org/drawingml/2006/main">
              <a:ext uri="{FF2B5EF4-FFF2-40B4-BE49-F238E27FC236}">
                <a16:creationId xmlns:a16="http://schemas.microsoft.com/office/drawing/2014/main" id="{6A47C077-7420-4492-A2DD-AEF351D82DD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35</a:t>
            </a:r>
          </a:p>
        </p:txBody>
      </p:sp>
      <p:graphicFrame>
        <p:nvGraphicFramePr>
          <p:cNvPr id="3" name="">
            <a:extLst xmlns:a="http://schemas.openxmlformats.org/drawingml/2006/main">
              <a:ext uri="{FF2B5EF4-FFF2-40B4-BE49-F238E27FC236}">
                <a16:creationId xmlns:a16="http://schemas.microsoft.com/office/drawing/2014/main" id="{7DFB49D8-3CFA-4F44-8B64-6F4000CCCBA8}"/>
              </a:ext>
            </a:extLst>
          </p:cNvPr>
          <p:cNvGraphicFramePr/>
          <p:nvPr/>
        </p:nvGraphicFramePr>
        <p:xfrm>
          <a:off xmlns:a="http://schemas.openxmlformats.org/drawingml/2006/main" x="476250" y="1981200"/>
          <a:ext xmlns:a="http://schemas.openxmlformats.org/drawingml/2006/main" cx="9739313" cy="25908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표면</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계산 연습용 예시값</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평균</a:t>
                      </a:r>
                    </a:p>
                  </a:txBody>
                  <a:tcPr marL="91440" marR="91440" marT="45720" marB="45720" anchor="ctr">
                    <a:solidFill>
                      <a:srgbClr val="F7972B"/>
                    </a:solidFill>
                  </a:tcPr>
                </a:tc>
              </a:tr>
              <a:tr h="711200">
                <a:tc>
                  <a:txBody>
                    <a:bodyPr lIns="133350" tIns="114300" rIns="114300" bIns="76200">
                      <a:noAutofit/>
                    </a:bodyPr>
                    <a:lstStyle/>
                    <a:p>
                      <a:r>
                        <a:rPr sz="1725" b="0">
                          <a:solidFill>
                            <a:srgbClr val="292929"/>
                          </a:solidFill>
                          <a:latin typeface="KoPubDotum"/>
                          <a:ea typeface="KoPubDotum"/>
                          <a:cs typeface="KoPubDotum"/>
                        </a:rPr>
                        <a:t>검정</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12, 14, 13, 15, 11</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13</a:t>
                      </a:r>
                    </a:p>
                  </a:txBody>
                  <a:tcPr marL="91440" marR="91440" marT="45720" marB="45720" anchor="ctr">
                    <a:solidFill>
                      <a:srgbClr val="FFFFFF"/>
                    </a:solidFill>
                  </a:tcPr>
                </a:tc>
              </a:tr>
              <a:tr h="711200">
                <a:tc>
                  <a:txBody>
                    <a:bodyPr lIns="133350" tIns="114300" rIns="114300" bIns="76200">
                      <a:noAutofit/>
                    </a:bodyPr>
                    <a:lstStyle/>
                    <a:p>
                      <a:r>
                        <a:rPr sz="1725" b="0">
                          <a:solidFill>
                            <a:srgbClr val="292929"/>
                          </a:solidFill>
                          <a:latin typeface="KoPubDotum"/>
                          <a:ea typeface="KoPubDotum"/>
                          <a:cs typeface="KoPubDotum"/>
                        </a:rPr>
                        <a:t>흰색</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78, 82, 80, 79, 81</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80</a:t>
                      </a:r>
                    </a:p>
                  </a:txBody>
                  <a:tcPr marL="91440" marR="91440" marT="45720" marB="45720" anchor="ctr">
                    <a:solidFill>
                      <a:srgbClr val="FFFFFF"/>
                    </a:solidFill>
                  </a:tcPr>
                </a:tc>
              </a:tr>
              <a:tr h="711200">
                <a:tc>
                  <a:txBody>
                    <a:bodyPr lIns="133350" tIns="114300" rIns="114300" bIns="76200">
                      <a:noAutofit/>
                    </a:bodyPr>
                    <a:lstStyle/>
                    <a:p>
                      <a:r>
                        <a:rPr sz="1725" b="0">
                          <a:solidFill>
                            <a:srgbClr val="292929"/>
                          </a:solidFill>
                          <a:latin typeface="KoPubDotum"/>
                          <a:ea typeface="KoPubDotum"/>
                          <a:cs typeface="KoPubDotum"/>
                        </a:rPr>
                        <a:t>기준값</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(검정 평균 + 흰색 평균) ÷ 2</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46.5</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0502400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0" name="선의 한쪽 경계 따라가기">
            <a:extLst xmlns:a="http://schemas.openxmlformats.org/drawingml/2006/main">
              <a:ext uri="{FF2B5EF4-FFF2-40B4-BE49-F238E27FC236}">
                <a16:creationId xmlns:a16="http://schemas.microsoft.com/office/drawing/2014/main" id="{DBBA3E93-83A0-451E-A767-0590B36B0FE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선의 한쪽 경계 따라가기</a:t>
            </a:r>
          </a:p>
        </p:txBody>
      </p:sp>
      <p:sp>
        <p:nvSpPr>
          <p:cNvPr id="2" name="36">
            <a:extLst xmlns:a="http://schemas.openxmlformats.org/drawingml/2006/main">
              <a:ext uri="{FF2B5EF4-FFF2-40B4-BE49-F238E27FC236}">
                <a16:creationId xmlns:a16="http://schemas.microsoft.com/office/drawing/2014/main" id="{45B3925D-E606-4F9C-B2F7-A98D8608C261}"/>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36</a:t>
            </a:r>
          </a:p>
        </p:txBody>
      </p:sp>
      <p:pic>
        <p:nvPicPr>
          <p:cNvPr id="3" name="">
            <a:extLst xmlns:a="http://schemas.openxmlformats.org/drawingml/2006/main">
              <a:ext uri="{FF2B5EF4-FFF2-40B4-BE49-F238E27FC236}">
                <a16:creationId xmlns:a16="http://schemas.microsoft.com/office/drawing/2014/main" id="{E8FB99E8-B051-48E0-A9DA-7A8789C34853}"/>
              </a:ext>
            </a:extLst>
          </p:cNvPr>
          <p:cNvPicPr>
            <a:picLocks xmlns:a="http://schemas.openxmlformats.org/drawingml/2006/main" noChangeAspect="1"/>
          </p:cNvPicPr>
          <p:nvPr/>
        </p:nvPicPr>
        <p:blipFill>
          <a:blip xmlns:r="http://schemas.openxmlformats.org/officeDocument/2006/relationships" xmlns:a="http://schemas.openxmlformats.org/drawingml/2006/main" r:embed="R7e316aea54fe40ea"/>
          <a:stretch xmlns:a="http://schemas.openxmlformats.org/drawingml/2006/main"/>
        </p:blipFill>
        <p:spPr>
          <a:xfrm xmlns:a="http://schemas.openxmlformats.org/drawingml/2006/main">
            <a:off x="476250" y="2047875"/>
            <a:ext cx="4775033" cy="5000625"/>
          </a:xfrm>
          <a:prstGeom xmlns:a="http://schemas.openxmlformats.org/drawingml/2006/main" prst="rect">
            <a:avLst/>
          </a:prstGeom>
        </p:spPr>
      </p:pic>
      <p:sp>
        <p:nvSpPr>
          <p:cNvPr id="4" name="추적할 경계">
            <a:extLst xmlns:a="http://schemas.openxmlformats.org/drawingml/2006/main">
              <a:ext uri="{FF2B5EF4-FFF2-40B4-BE49-F238E27FC236}">
                <a16:creationId xmlns:a16="http://schemas.microsoft.com/office/drawing/2014/main" id="{7962EB91-3F0A-416F-9F0F-03951CC21E0E}"/>
              </a:ext>
            </a:extLst>
          </p:cNvPr>
          <p:cNvSpPr>
            <a:spLocks xmlns:a="http://schemas.openxmlformats.org/drawingml/2006/main" noGrp="1"/>
          </p:cNvSpPr>
          <p:nvPr/>
        </p:nvSpPr>
        <p:spPr>
          <a:xfrm xmlns:a="http://schemas.openxmlformats.org/drawingml/2006/main">
            <a:off x="5632283" y="2190750"/>
            <a:ext cx="458328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추적할 경계</a:t>
            </a:r>
          </a:p>
        </p:txBody>
      </p:sp>
      <p:sp>
        <p:nvSpPr>
          <p:cNvPr id="5" name="검정 선의 왼쪽과 오른쪽 중&#10;어느 경계를 따라갈지 정합니다">
            <a:extLst xmlns:a="http://schemas.openxmlformats.org/drawingml/2006/main">
              <a:ext uri="{FF2B5EF4-FFF2-40B4-BE49-F238E27FC236}">
                <a16:creationId xmlns:a16="http://schemas.microsoft.com/office/drawing/2014/main" id="{124A0636-3C10-4661-98A4-805CADBC4B7D}"/>
              </a:ext>
            </a:extLst>
          </p:cNvPr>
          <p:cNvSpPr>
            <a:spLocks xmlns:a="http://schemas.openxmlformats.org/drawingml/2006/main" noGrp="1"/>
          </p:cNvSpPr>
          <p:nvPr/>
        </p:nvSpPr>
        <p:spPr>
          <a:xfrm xmlns:a="http://schemas.openxmlformats.org/drawingml/2006/main">
            <a:off x="5632283" y="2602230"/>
            <a:ext cx="458328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검정 선의 왼쪽과 오른쪽 중</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어느 경계를 따라갈지 정합니다.</a:t>
            </a:r>
          </a:p>
        </p:txBody>
      </p:sp>
      <p:sp>
        <p:nvSpPr>
          <p:cNvPr id="6" name="조향 방향 시험">
            <a:extLst xmlns:a="http://schemas.openxmlformats.org/drawingml/2006/main">
              <a:ext uri="{FF2B5EF4-FFF2-40B4-BE49-F238E27FC236}">
                <a16:creationId xmlns:a16="http://schemas.microsoft.com/office/drawing/2014/main" id="{191E8D76-0F1D-45BB-8BF1-2035A60E3F45}"/>
              </a:ext>
            </a:extLst>
          </p:cNvPr>
          <p:cNvSpPr>
            <a:spLocks xmlns:a="http://schemas.openxmlformats.org/drawingml/2006/main" noGrp="1"/>
          </p:cNvSpPr>
          <p:nvPr/>
        </p:nvSpPr>
        <p:spPr>
          <a:xfrm xmlns:a="http://schemas.openxmlformats.org/drawingml/2006/main">
            <a:off x="5632283" y="3500628"/>
            <a:ext cx="458328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조향 방향 시험</a:t>
            </a:r>
          </a:p>
        </p:txBody>
      </p:sp>
      <p:sp>
        <p:nvSpPr>
          <p:cNvPr id="7" name="밝은 쪽으로 벗어났을 때&#10;선 쪽으로 돌아오는지 봅니다.">
            <a:extLst xmlns:a="http://schemas.openxmlformats.org/drawingml/2006/main">
              <a:ext uri="{FF2B5EF4-FFF2-40B4-BE49-F238E27FC236}">
                <a16:creationId xmlns:a16="http://schemas.microsoft.com/office/drawing/2014/main" id="{96F9DBA9-843E-4F4B-8538-61045C834B09}"/>
              </a:ext>
            </a:extLst>
          </p:cNvPr>
          <p:cNvSpPr>
            <a:spLocks xmlns:a="http://schemas.openxmlformats.org/drawingml/2006/main" noGrp="1"/>
          </p:cNvSpPr>
          <p:nvPr/>
        </p:nvSpPr>
        <p:spPr>
          <a:xfrm xmlns:a="http://schemas.openxmlformats.org/drawingml/2006/main">
            <a:off x="5632283" y="3912108"/>
            <a:ext cx="458328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밝은 쪽으로 벗어났을 때</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선 쪽으로 돌아오는지 봅니다.</a:t>
            </a:r>
          </a:p>
        </p:txBody>
      </p:sp>
      <p:sp>
        <p:nvSpPr>
          <p:cNvPr id="8" name="반대로 움직이면">
            <a:extLst xmlns:a="http://schemas.openxmlformats.org/drawingml/2006/main">
              <a:ext uri="{FF2B5EF4-FFF2-40B4-BE49-F238E27FC236}">
                <a16:creationId xmlns:a16="http://schemas.microsoft.com/office/drawing/2014/main" id="{CEB5073E-2F4B-48A5-8766-1478F8C6BC2E}"/>
              </a:ext>
            </a:extLst>
          </p:cNvPr>
          <p:cNvSpPr>
            <a:spLocks xmlns:a="http://schemas.openxmlformats.org/drawingml/2006/main" noGrp="1"/>
          </p:cNvSpPr>
          <p:nvPr/>
        </p:nvSpPr>
        <p:spPr>
          <a:xfrm xmlns:a="http://schemas.openxmlformats.org/drawingml/2006/main">
            <a:off x="5632283" y="4810506"/>
            <a:ext cx="458328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반대로 움직이면</a:t>
            </a:r>
          </a:p>
        </p:txBody>
      </p:sp>
      <p:sp>
        <p:nvSpPr>
          <p:cNvPr id="9" name="조향의 부호를 바꾸고&#10;같은 위치에서 다시 시험합니다.">
            <a:extLst xmlns:a="http://schemas.openxmlformats.org/drawingml/2006/main">
              <a:ext uri="{FF2B5EF4-FFF2-40B4-BE49-F238E27FC236}">
                <a16:creationId xmlns:a16="http://schemas.microsoft.com/office/drawing/2014/main" id="{FC1844C3-71E8-4499-96F9-E6832CAB789D}"/>
              </a:ext>
            </a:extLst>
          </p:cNvPr>
          <p:cNvSpPr>
            <a:spLocks xmlns:a="http://schemas.openxmlformats.org/drawingml/2006/main" noGrp="1"/>
          </p:cNvSpPr>
          <p:nvPr/>
        </p:nvSpPr>
        <p:spPr>
          <a:xfrm xmlns:a="http://schemas.openxmlformats.org/drawingml/2006/main">
            <a:off x="5632283" y="5221986"/>
            <a:ext cx="458328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조향의 부호를 바꾸고</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같은 위치에서 다시 시험합니다.</a:t>
            </a:r>
          </a:p>
        </p:txBody>
      </p:sp>
    </p:spTree>
    <p:extLst>
      <p:ext uri="{BB962C8B-B14F-4D97-AF65-F5344CB8AC3E}">
        <p14:creationId xmlns:p14="http://schemas.microsoft.com/office/powerpoint/2010/main" val="1550439511"/>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8" name="오차에 비례해 조향하는 P 제어">
            <a:extLst xmlns:a="http://schemas.openxmlformats.org/drawingml/2006/main">
              <a:ext uri="{FF2B5EF4-FFF2-40B4-BE49-F238E27FC236}">
                <a16:creationId xmlns:a16="http://schemas.microsoft.com/office/drawing/2014/main" id="{C99DDED4-D2EF-43CB-AA1C-F8523023491D}"/>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오차에 비례해 조향하는 P 제어</a:t>
            </a:r>
          </a:p>
        </p:txBody>
      </p:sp>
      <p:sp>
        <p:nvSpPr>
          <p:cNvPr id="2" name="37">
            <a:extLst xmlns:a="http://schemas.openxmlformats.org/drawingml/2006/main">
              <a:ext uri="{FF2B5EF4-FFF2-40B4-BE49-F238E27FC236}">
                <a16:creationId xmlns:a16="http://schemas.microsoft.com/office/drawing/2014/main" id="{B0DA48A5-8734-4A8A-BF1B-E037FD50ABB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37</a:t>
            </a:r>
          </a:p>
        </p:txBody>
      </p:sp>
      <p:pic>
        <p:nvPicPr>
          <p:cNvPr id="3" name="">
            <a:extLst xmlns:a="http://schemas.openxmlformats.org/drawingml/2006/main">
              <a:ext uri="{FF2B5EF4-FFF2-40B4-BE49-F238E27FC236}">
                <a16:creationId xmlns:a16="http://schemas.microsoft.com/office/drawing/2014/main" id="{6E8722A2-AFF3-407E-9B78-B7E8059FAB2B}"/>
              </a:ext>
            </a:extLst>
          </p:cNvPr>
          <p:cNvPicPr>
            <a:picLocks xmlns:a="http://schemas.openxmlformats.org/drawingml/2006/main" noChangeAspect="1"/>
          </p:cNvPicPr>
          <p:nvPr/>
        </p:nvPicPr>
        <p:blipFill>
          <a:blip xmlns:r="http://schemas.openxmlformats.org/officeDocument/2006/relationships" xmlns:a="http://schemas.openxmlformats.org/drawingml/2006/main" r:embed="R097cfd89b0e34c09"/>
          <a:stretch xmlns:a="http://schemas.openxmlformats.org/drawingml/2006/main"/>
        </p:blipFill>
        <p:spPr>
          <a:xfrm xmlns:a="http://schemas.openxmlformats.org/drawingml/2006/main">
            <a:off x="476250" y="2047875"/>
            <a:ext cx="3635484" cy="5000625"/>
          </a:xfrm>
          <a:prstGeom xmlns:a="http://schemas.openxmlformats.org/drawingml/2006/main" prst="rect">
            <a:avLst/>
          </a:prstGeom>
        </p:spPr>
      </p:pic>
      <p:sp>
        <p:nvSpPr>
          <p:cNvPr id="4" name="조향 계산">
            <a:extLst xmlns:a="http://schemas.openxmlformats.org/drawingml/2006/main">
              <a:ext uri="{FF2B5EF4-FFF2-40B4-BE49-F238E27FC236}">
                <a16:creationId xmlns:a16="http://schemas.microsoft.com/office/drawing/2014/main" id="{511ED335-90D9-45E4-884B-13BF4B39B4B0}"/>
              </a:ext>
            </a:extLst>
          </p:cNvPr>
          <p:cNvSpPr>
            <a:spLocks xmlns:a="http://schemas.openxmlformats.org/drawingml/2006/main" noGrp="1"/>
          </p:cNvSpPr>
          <p:nvPr/>
        </p:nvSpPr>
        <p:spPr>
          <a:xfrm xmlns:a="http://schemas.openxmlformats.org/drawingml/2006/main">
            <a:off x="4667250" y="2190750"/>
            <a:ext cx="554831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조향 계산</a:t>
            </a:r>
          </a:p>
        </p:txBody>
      </p:sp>
      <p:sp>
        <p:nvSpPr>
          <p:cNvPr id="5" name="오차 = 반사광 − 기준값&#10;조향 = 오차 × K (K=1.">
            <a:extLst xmlns:a="http://schemas.openxmlformats.org/drawingml/2006/main">
              <a:ext uri="{FF2B5EF4-FFF2-40B4-BE49-F238E27FC236}">
                <a16:creationId xmlns:a16="http://schemas.microsoft.com/office/drawing/2014/main" id="{0C629ADB-AA82-46C2-8161-8579F52F01F9}"/>
              </a:ext>
            </a:extLst>
          </p:cNvPr>
          <p:cNvSpPr>
            <a:spLocks xmlns:a="http://schemas.openxmlformats.org/drawingml/2006/main" noGrp="1"/>
          </p:cNvSpPr>
          <p:nvPr/>
        </p:nvSpPr>
        <p:spPr>
          <a:xfrm xmlns:a="http://schemas.openxmlformats.org/drawingml/2006/main">
            <a:off x="4667250" y="2602230"/>
            <a:ext cx="5548313" cy="995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오차 = 반사광 − 기준값</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조향 = 오차 × K (K=1.5)</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범위: -100~100</a:t>
            </a:r>
          </a:p>
        </p:txBody>
      </p:sp>
      <p:sp>
        <p:nvSpPr>
          <p:cNvPr id="6" name="K를 키우면">
            <a:extLst xmlns:a="http://schemas.openxmlformats.org/drawingml/2006/main">
              <a:ext uri="{FF2B5EF4-FFF2-40B4-BE49-F238E27FC236}">
                <a16:creationId xmlns:a16="http://schemas.microsoft.com/office/drawing/2014/main" id="{28445A55-D264-4B3F-95CA-D899112B9C44}"/>
              </a:ext>
            </a:extLst>
          </p:cNvPr>
          <p:cNvSpPr>
            <a:spLocks xmlns:a="http://schemas.openxmlformats.org/drawingml/2006/main" noGrp="1"/>
          </p:cNvSpPr>
          <p:nvPr/>
        </p:nvSpPr>
        <p:spPr>
          <a:xfrm xmlns:a="http://schemas.openxmlformats.org/drawingml/2006/main">
            <a:off x="4667250" y="3806952"/>
            <a:ext cx="554831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K를 키우면</a:t>
            </a:r>
          </a:p>
        </p:txBody>
      </p:sp>
      <p:sp>
        <p:nvSpPr>
          <p:cNvPr id="7" name="K=3, 반사광 10이면 조향은 -120입니다.&#10;범위를 넘">
            <a:extLst xmlns:a="http://schemas.openxmlformats.org/drawingml/2006/main">
              <a:ext uri="{FF2B5EF4-FFF2-40B4-BE49-F238E27FC236}">
                <a16:creationId xmlns:a16="http://schemas.microsoft.com/office/drawing/2014/main" id="{7F9BD4AA-8AA1-4B4F-9B55-4A9C6E3AA1AC}"/>
              </a:ext>
            </a:extLst>
          </p:cNvPr>
          <p:cNvSpPr>
            <a:spLocks xmlns:a="http://schemas.openxmlformats.org/drawingml/2006/main" noGrp="1"/>
          </p:cNvSpPr>
          <p:nvPr/>
        </p:nvSpPr>
        <p:spPr>
          <a:xfrm xmlns:a="http://schemas.openxmlformats.org/drawingml/2006/main">
            <a:off x="4667250" y="4218432"/>
            <a:ext cx="554831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K=3, 반사광 10이면 조향은 -120입니다.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범위를 넘는 값은 -100으로 제한합니다.</a:t>
            </a:r>
          </a:p>
        </p:txBody>
      </p:sp>
    </p:spTree>
    <p:extLst>
      <p:ext uri="{BB962C8B-B14F-4D97-AF65-F5344CB8AC3E}">
        <p14:creationId xmlns:p14="http://schemas.microsoft.com/office/powerpoint/2010/main" val="76437997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7" name="Python으로 반사광 제어">
            <a:extLst xmlns:a="http://schemas.openxmlformats.org/drawingml/2006/main">
              <a:ext uri="{FF2B5EF4-FFF2-40B4-BE49-F238E27FC236}">
                <a16:creationId xmlns:a16="http://schemas.microsoft.com/office/drawing/2014/main" id="{3866B174-5373-4EE2-BAA1-27759928262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Python으로 반사광 제어</a:t>
            </a:r>
          </a:p>
        </p:txBody>
      </p:sp>
      <p:sp>
        <p:nvSpPr>
          <p:cNvPr id="2" name="38">
            <a:extLst xmlns:a="http://schemas.openxmlformats.org/drawingml/2006/main">
              <a:ext uri="{FF2B5EF4-FFF2-40B4-BE49-F238E27FC236}">
                <a16:creationId xmlns:a16="http://schemas.microsoft.com/office/drawing/2014/main" id="{426693A2-30A1-4A5F-A74B-5F08B100AD87}"/>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38</a:t>
            </a:r>
          </a:p>
        </p:txBody>
      </p:sp>
      <p:sp>
        <p:nvSpPr>
          <p:cNvPr id="3" name="">
            <a:extLst xmlns:a="http://schemas.openxmlformats.org/drawingml/2006/main">
              <a:ext uri="{FF2B5EF4-FFF2-40B4-BE49-F238E27FC236}">
                <a16:creationId xmlns:a16="http://schemas.microsoft.com/office/drawing/2014/main" id="{45D5DBC0-41F8-4038-9114-7DD89D97B02F}"/>
              </a:ext>
            </a:extLst>
          </p:cNvPr>
          <p:cNvSpPr>
            <a:spLocks xmlns:a="http://schemas.openxmlformats.org/drawingml/2006/main" noGrp="1"/>
          </p:cNvSpPr>
          <p:nvPr/>
        </p:nvSpPr>
        <p:spPr>
          <a:xfrm xmlns:a="http://schemas.openxmlformats.org/drawingml/2006/main">
            <a:off x="476250" y="2276475"/>
            <a:ext cx="9739313" cy="2667000"/>
          </a:xfrm>
          <a:prstGeom xmlns:a="http://schemas.openxmlformats.org/drawingml/2006/main" prst="rect">
            <a:avLst/>
          </a:prstGeom>
          <a:solidFill xmlns:a="http://schemas.openxmlformats.org/drawingml/2006/main">
            <a:srgbClr val="FFF8EF"/>
          </a:solidFill>
          <a:ln xmlns:a="http://schemas.openxmlformats.org/drawingml/2006/main" w="9525">
            <a:solidFill>
              <a:srgbClr val="E8DCC8"/>
            </a:solidFill>
          </a:ln>
        </p:spPr>
      </p:sp>
      <p:sp>
        <p:nvSpPr>
          <p:cNvPr id="4" name="# main에서 A/E 모터 쌍을 설정한 뒤, 반복문 안&#10;">
            <a:extLst xmlns:a="http://schemas.openxmlformats.org/drawingml/2006/main">
              <a:ext uri="{FF2B5EF4-FFF2-40B4-BE49-F238E27FC236}">
                <a16:creationId xmlns:a16="http://schemas.microsoft.com/office/drawing/2014/main" id="{3548E072-2CF2-439F-9216-D9958BE02E93}"/>
              </a:ext>
            </a:extLst>
          </p:cNvPr>
          <p:cNvSpPr>
            <a:spLocks xmlns:a="http://schemas.openxmlformats.org/drawingml/2006/main" noGrp="1"/>
          </p:cNvSpPr>
          <p:nvPr/>
        </p:nvSpPr>
        <p:spPr>
          <a:xfrm xmlns:a="http://schemas.openxmlformats.org/drawingml/2006/main">
            <a:off x="666750" y="2447925"/>
            <a:ext cx="9358313"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 main에서 A/E 모터 쌍을 설정한 뒤, 반복문 안</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r = color_sensor.reflection(port.D)</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e = r - 46.5</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u = max(-100, min(100, int(1.5 * e)))</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motor_pair.move(motor_pair.PAIR_1, u, velocity=150)</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await runloop.sleep_ms(20)</a:t>
            </a:r>
          </a:p>
        </p:txBody>
      </p:sp>
      <p:sp>
        <p:nvSpPr>
          <p:cNvPr id="5" name="기존 import에 color_sensor를 추가합니다.">
            <a:extLst xmlns:a="http://schemas.openxmlformats.org/drawingml/2006/main">
              <a:ext uri="{FF2B5EF4-FFF2-40B4-BE49-F238E27FC236}">
                <a16:creationId xmlns:a16="http://schemas.microsoft.com/office/drawing/2014/main" id="{81C25909-3D2E-4A33-B940-F55D555D0E42}"/>
              </a:ext>
            </a:extLst>
          </p:cNvPr>
          <p:cNvSpPr>
            <a:spLocks xmlns:a="http://schemas.openxmlformats.org/drawingml/2006/main" noGrp="1"/>
          </p:cNvSpPr>
          <p:nvPr/>
        </p:nvSpPr>
        <p:spPr>
          <a:xfrm xmlns:a="http://schemas.openxmlformats.org/drawingml/2006/main">
            <a:off x="504825" y="5153025"/>
            <a:ext cx="96821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기존 import에 color_sensor를 추가합니다.</a:t>
            </a:r>
          </a:p>
        </p:txBody>
      </p:sp>
      <p:sp>
        <p:nvSpPr>
          <p:cNvPr id="6" name="46.5를 직접 구한 기준값으로 바꿉니다.&#10;추적할 경계에서">
            <a:extLst xmlns:a="http://schemas.openxmlformats.org/drawingml/2006/main">
              <a:ext uri="{FF2B5EF4-FFF2-40B4-BE49-F238E27FC236}">
                <a16:creationId xmlns:a16="http://schemas.microsoft.com/office/drawing/2014/main" id="{560971DB-A622-4D01-876D-DDFABC1C41BE}"/>
              </a:ext>
            </a:extLst>
          </p:cNvPr>
          <p:cNvSpPr>
            <a:spLocks xmlns:a="http://schemas.openxmlformats.org/drawingml/2006/main" noGrp="1"/>
          </p:cNvSpPr>
          <p:nvPr/>
        </p:nvSpPr>
        <p:spPr>
          <a:xfrm xmlns:a="http://schemas.openxmlformats.org/drawingml/2006/main">
            <a:off x="504825" y="5591175"/>
            <a:ext cx="96821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46.5를 직접 구한 기준값으로 바꿉니다.</a:t>
            </a:r>
          </a:p>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추적할 경계에서 조향 부호가 맞는지 시험합니다.</a:t>
            </a:r>
          </a:p>
        </p:txBody>
      </p:sp>
    </p:spTree>
    <p:extLst>
      <p:ext uri="{BB962C8B-B14F-4D97-AF65-F5344CB8AC3E}">
        <p14:creationId xmlns:p14="http://schemas.microsoft.com/office/powerpoint/2010/main" val="167268966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4" name="설정 하나씩 바꾸며 비교">
            <a:extLst xmlns:a="http://schemas.openxmlformats.org/drawingml/2006/main">
              <a:ext uri="{FF2B5EF4-FFF2-40B4-BE49-F238E27FC236}">
                <a16:creationId xmlns:a16="http://schemas.microsoft.com/office/drawing/2014/main" id="{5FBBD1A9-7EF7-4FF0-A3F1-9EF3B4F2726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설정 하나씩 바꾸며 비교</a:t>
            </a:r>
          </a:p>
        </p:txBody>
      </p:sp>
      <p:sp>
        <p:nvSpPr>
          <p:cNvPr id="2" name="39">
            <a:extLst xmlns:a="http://schemas.openxmlformats.org/drawingml/2006/main">
              <a:ext uri="{FF2B5EF4-FFF2-40B4-BE49-F238E27FC236}">
                <a16:creationId xmlns:a16="http://schemas.microsoft.com/office/drawing/2014/main" id="{5EBE105A-FEF4-4F66-AF8E-5CA64BC09014}"/>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39</a:t>
            </a:r>
          </a:p>
        </p:txBody>
      </p:sp>
      <p:graphicFrame>
        <p:nvGraphicFramePr>
          <p:cNvPr id="3" name="">
            <a:extLst xmlns:a="http://schemas.openxmlformats.org/drawingml/2006/main">
              <a:ext uri="{FF2B5EF4-FFF2-40B4-BE49-F238E27FC236}">
                <a16:creationId xmlns:a16="http://schemas.microsoft.com/office/drawing/2014/main" id="{C9AAAB3A-5C63-492B-8738-9865C8A1F727}"/>
              </a:ext>
            </a:extLst>
          </p:cNvPr>
          <p:cNvGraphicFramePr/>
          <p:nvPr/>
        </p:nvGraphicFramePr>
        <p:xfrm>
          <a:off xmlns:a="http://schemas.openxmlformats.org/drawingml/2006/main" x="476250" y="1981200"/>
          <a:ext xmlns:a="http://schemas.openxmlformats.org/drawingml/2006/main" cx="9739313" cy="2590800"/>
        </p:xfrm>
        <a:graphic xmlns:a="http://schemas.openxmlformats.org/drawingml/2006/main">
          <a:graphicData uri="http://schemas.openxmlformats.org/drawingml/2006/table">
            <a:tbl>
              <a:tblPr/>
              <a:tblGrid>
                <a:gridCol w="1391330"/>
                <a:gridCol w="2782661"/>
                <a:gridCol w="2782661"/>
                <a:gridCol w="2782661"/>
              </a:tblGrid>
              <a:tr h="457200">
                <a:tc>
                  <a:txBody>
                    <a:bodyPr lIns="133350" tIns="114300" rIns="114300" bIns="76200">
                      <a:noAutofit/>
                    </a:bodyPr>
                    <a:lstStyle/>
                    <a:p>
                      <a:r>
                        <a:rPr sz="1575" b="1">
                          <a:solidFill>
                            <a:srgbClr val="FFFFFF"/>
                          </a:solidFill>
                          <a:latin typeface="KoPubDotum"/>
                          <a:ea typeface="KoPubDotum"/>
                          <a:cs typeface="KoPubDotum"/>
                        </a:rPr>
                        <a:t>시험</a:t>
                      </a:r>
                    </a:p>
                  </a:txBody>
                  <a:tcPr marL="91440" marR="91440" marT="45720" marB="45720" anchor="ctr">
                    <a:solidFill>
                      <a:srgbClr val="F7972B"/>
                    </a:solidFill>
                  </a:tcPr>
                </a:tc>
                <a:tc>
                  <a:txBody>
                    <a:bodyPr lIns="133350" tIns="114300" rIns="114300" bIns="76200">
                      <a:noAutofit/>
                    </a:bodyPr>
                    <a:lstStyle/>
                    <a:p>
                      <a:r>
                        <a:rPr sz="1575" b="1">
                          <a:solidFill>
                            <a:srgbClr val="FFFFFF"/>
                          </a:solidFill>
                          <a:latin typeface="KoPubDotum"/>
                          <a:ea typeface="KoPubDotum"/>
                          <a:cs typeface="KoPubDotum"/>
                        </a:rPr>
                        <a:t>바꿀 값</a:t>
                      </a:r>
                    </a:p>
                  </a:txBody>
                  <a:tcPr marL="91440" marR="91440" marT="45720" marB="45720" anchor="ctr">
                    <a:solidFill>
                      <a:srgbClr val="F7972B"/>
                    </a:solidFill>
                  </a:tcPr>
                </a:tc>
                <a:tc>
                  <a:txBody>
                    <a:bodyPr lIns="133350" tIns="114300" rIns="114300" bIns="76200">
                      <a:noAutofit/>
                    </a:bodyPr>
                    <a:lstStyle/>
                    <a:p>
                      <a:r>
                        <a:rPr sz="1575" b="1">
                          <a:solidFill>
                            <a:srgbClr val="FFFFFF"/>
                          </a:solidFill>
                          <a:latin typeface="KoPubDotum"/>
                          <a:ea typeface="KoPubDotum"/>
                          <a:cs typeface="KoPubDotum"/>
                        </a:rPr>
                        <a:t>유지할 것</a:t>
                      </a:r>
                    </a:p>
                  </a:txBody>
                  <a:tcPr marL="91440" marR="91440" marT="45720" marB="45720" anchor="ctr">
                    <a:solidFill>
                      <a:srgbClr val="F7972B"/>
                    </a:solidFill>
                  </a:tcPr>
                </a:tc>
                <a:tc>
                  <a:txBody>
                    <a:bodyPr lIns="133350" tIns="114300" rIns="114300" bIns="76200">
                      <a:noAutofit/>
                    </a:bodyPr>
                    <a:lstStyle/>
                    <a:p>
                      <a:r>
                        <a:rPr sz="1575" b="1">
                          <a:solidFill>
                            <a:srgbClr val="FFFFFF"/>
                          </a:solidFill>
                          <a:latin typeface="KoPubDotum"/>
                          <a:ea typeface="KoPubDotum"/>
                          <a:cs typeface="KoPubDotum"/>
                        </a:rPr>
                        <a:t>기록</a:t>
                      </a:r>
                    </a:p>
                  </a:txBody>
                  <a:tcPr marL="91440" marR="91440" marT="45720" marB="45720" anchor="ctr">
                    <a:solidFill>
                      <a:srgbClr val="F7972B"/>
                    </a:solidFill>
                  </a:tcPr>
                </a:tc>
              </a:tr>
              <a:tr h="711200">
                <a:tc>
                  <a:txBody>
                    <a:bodyPr lIns="133350" tIns="114300" rIns="114300" bIns="76200">
                      <a:noAutofit/>
                    </a:bodyPr>
                    <a:lstStyle/>
                    <a:p>
                      <a:r>
                        <a:rPr sz="1575" b="0">
                          <a:solidFill>
                            <a:srgbClr val="292929"/>
                          </a:solidFill>
                          <a:latin typeface="KoPubDotum"/>
                          <a:ea typeface="KoPubDotum"/>
                          <a:cs typeface="KoPubDotum"/>
                        </a:rPr>
                        <a:t>1</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K=0.8</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같은 선, 센서 높이, 속도</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이탈 횟수, 흔들림</a:t>
                      </a:r>
                    </a:p>
                  </a:txBody>
                  <a:tcPr marL="91440" marR="91440" marT="45720" marB="45720" anchor="ctr">
                    <a:solidFill>
                      <a:srgbClr val="FFFFFF"/>
                    </a:solidFill>
                  </a:tcPr>
                </a:tc>
              </a:tr>
              <a:tr h="711200">
                <a:tc>
                  <a:txBody>
                    <a:bodyPr lIns="133350" tIns="114300" rIns="114300" bIns="76200">
                      <a:noAutofit/>
                    </a:bodyPr>
                    <a:lstStyle/>
                    <a:p>
                      <a:r>
                        <a:rPr sz="1575" b="0">
                          <a:solidFill>
                            <a:srgbClr val="292929"/>
                          </a:solidFill>
                          <a:latin typeface="KoPubDotum"/>
                          <a:ea typeface="KoPubDotum"/>
                          <a:cs typeface="KoPubDotum"/>
                        </a:rPr>
                        <a:t>2</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K=1.5</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같은 선, 센서 높이, 속도</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이탈 횟수, 흔들림</a:t>
                      </a:r>
                    </a:p>
                  </a:txBody>
                  <a:tcPr marL="91440" marR="91440" marT="45720" marB="45720" anchor="ctr">
                    <a:solidFill>
                      <a:srgbClr val="FFFFFF"/>
                    </a:solidFill>
                  </a:tcPr>
                </a:tc>
              </a:tr>
              <a:tr h="711200">
                <a:tc>
                  <a:txBody>
                    <a:bodyPr lIns="133350" tIns="114300" rIns="114300" bIns="76200">
                      <a:noAutofit/>
                    </a:bodyPr>
                    <a:lstStyle/>
                    <a:p>
                      <a:r>
                        <a:rPr sz="1575" b="0">
                          <a:solidFill>
                            <a:srgbClr val="292929"/>
                          </a:solidFill>
                          <a:latin typeface="KoPubDotum"/>
                          <a:ea typeface="KoPubDotum"/>
                          <a:cs typeface="KoPubDotum"/>
                        </a:rPr>
                        <a:t>3</a:t>
                      </a:r>
                    </a:p>
                  </a:txBody>
                  <a:tcPr marL="91440" marR="91440" marT="45720" marB="45720" anchor="ctr">
                    <a:solidFill>
                      <a:srgbClr val="FFF5E9"/>
                    </a:solidFill>
                  </a:tcPr>
                </a:tc>
                <a:tc>
                  <a:txBody>
                    <a:bodyPr lIns="133350" tIns="114300" rIns="114300" bIns="76200">
                      <a:noAutofit/>
                    </a:bodyPr>
                    <a:lstStyle/>
                    <a:p>
                      <a:r>
                        <a:rPr sz="1575" b="0">
                          <a:solidFill>
                            <a:srgbClr val="292929"/>
                          </a:solidFill>
                          <a:latin typeface="KoPubDotum"/>
                          <a:ea typeface="KoPubDotum"/>
                          <a:cs typeface="KoPubDotum"/>
                        </a:rPr>
                        <a:t>속도만 변경</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선, 센서 높이, 선택한 K</a:t>
                      </a:r>
                    </a:p>
                  </a:txBody>
                  <a:tcPr marL="91440" marR="91440" marT="45720" marB="45720" anchor="ctr">
                    <a:solidFill>
                      <a:srgbClr val="FFFFFF"/>
                    </a:solidFill>
                  </a:tcPr>
                </a:tc>
                <a:tc>
                  <a:txBody>
                    <a:bodyPr lIns="133350" tIns="114300" rIns="114300" bIns="76200">
                      <a:noAutofit/>
                    </a:bodyPr>
                    <a:lstStyle/>
                    <a:p>
                      <a:r>
                        <a:rPr sz="1575" b="0">
                          <a:solidFill>
                            <a:srgbClr val="292929"/>
                          </a:solidFill>
                          <a:latin typeface="KoPubDotum"/>
                          <a:ea typeface="KoPubDotum"/>
                          <a:cs typeface="KoPubDotum"/>
                        </a:rPr>
                        <a:t>완주 여부, 소요 시간</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1952435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8" name="회전각 오차로 방향 보정">
            <a:extLst xmlns:a="http://schemas.openxmlformats.org/drawingml/2006/main">
              <a:ext uri="{FF2B5EF4-FFF2-40B4-BE49-F238E27FC236}">
                <a16:creationId xmlns:a16="http://schemas.microsoft.com/office/drawing/2014/main" id="{61C15EDB-ACA6-4427-ABCB-DB2A226C5E2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회전각 오차로 방향 보정</a:t>
            </a:r>
          </a:p>
        </p:txBody>
      </p:sp>
      <p:sp>
        <p:nvSpPr>
          <p:cNvPr id="2" name="40">
            <a:extLst xmlns:a="http://schemas.openxmlformats.org/drawingml/2006/main">
              <a:ext uri="{FF2B5EF4-FFF2-40B4-BE49-F238E27FC236}">
                <a16:creationId xmlns:a16="http://schemas.microsoft.com/office/drawing/2014/main" id="{B4F7FA85-8BE0-4F19-BB4F-A24E49251614}"/>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40</a:t>
            </a:r>
          </a:p>
        </p:txBody>
      </p:sp>
      <p:pic>
        <p:nvPicPr>
          <p:cNvPr id="3" name="">
            <a:extLst xmlns:a="http://schemas.openxmlformats.org/drawingml/2006/main">
              <a:ext uri="{FF2B5EF4-FFF2-40B4-BE49-F238E27FC236}">
                <a16:creationId xmlns:a16="http://schemas.microsoft.com/office/drawing/2014/main" id="{B2C455B7-990E-47D1-842D-EEF1E506D770}"/>
              </a:ext>
            </a:extLst>
          </p:cNvPr>
          <p:cNvPicPr>
            <a:picLocks xmlns:a="http://schemas.openxmlformats.org/drawingml/2006/main" noChangeAspect="1"/>
          </p:cNvPicPr>
          <p:nvPr/>
        </p:nvPicPr>
        <p:blipFill>
          <a:blip xmlns:r="http://schemas.openxmlformats.org/officeDocument/2006/relationships" xmlns:a="http://schemas.openxmlformats.org/drawingml/2006/main" r:embed="R98f5aba9348347d7"/>
          <a:stretch xmlns:a="http://schemas.openxmlformats.org/drawingml/2006/main"/>
        </p:blipFill>
        <p:spPr>
          <a:xfrm xmlns:a="http://schemas.openxmlformats.org/drawingml/2006/main">
            <a:off x="476250" y="2143125"/>
            <a:ext cx="9715500" cy="1497117"/>
          </a:xfrm>
          <a:prstGeom xmlns:a="http://schemas.openxmlformats.org/drawingml/2006/main" prst="rect">
            <a:avLst/>
          </a:prstGeom>
        </p:spPr>
      </p:pic>
      <p:sp>
        <p:nvSpPr>
          <p:cNvPr id="4" name="회전 방향">
            <a:extLst xmlns:a="http://schemas.openxmlformats.org/drawingml/2006/main">
              <a:ext uri="{FF2B5EF4-FFF2-40B4-BE49-F238E27FC236}">
                <a16:creationId xmlns:a16="http://schemas.microsoft.com/office/drawing/2014/main" id="{159C7CC2-3637-41E1-BCA3-73A03BB84CDA}"/>
              </a:ext>
            </a:extLst>
          </p:cNvPr>
          <p:cNvSpPr>
            <a:spLocks xmlns:a="http://schemas.openxmlformats.org/drawingml/2006/main" noGrp="1"/>
          </p:cNvSpPr>
          <p:nvPr/>
        </p:nvSpPr>
        <p:spPr>
          <a:xfrm xmlns:a="http://schemas.openxmlformats.org/drawingml/2006/main">
            <a:off x="523875" y="4572000"/>
            <a:ext cx="9620250" cy="366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2929"/>
                </a:solidFill>
                <a:latin typeface="KoPubDotum"/>
                <a:ea typeface="KoPubDotum"/>
                <a:cs typeface="KoPubDotum"/>
              </a:defRPr>
            </a:defPPr>
          </a:lstStyle>
          <a:p xmlns:a="http://schemas.openxmlformats.org/drawingml/2006/main">
            <a:pPr algn="l">
              <a:lnSpc>
                <a:spcPct val="116000"/>
              </a:lnSpc>
              <a:buNone/>
              <a:defRPr sz="1875" b="1">
                <a:solidFill>
                  <a:srgbClr val="292929"/>
                </a:solidFill>
                <a:latin typeface="KoPubDotum"/>
                <a:ea typeface="KoPubDotum"/>
                <a:cs typeface="KoPubDotum"/>
              </a:defRPr>
            </a:pPr>
            <a:r>
              <a:rPr sz="1875" b="1">
                <a:solidFill>
                  <a:srgbClr val="292929"/>
                </a:solidFill>
                <a:latin typeface="KoPubDotum"/>
                <a:ea typeface="KoPubDotum"/>
                <a:cs typeface="KoPubDotum"/>
              </a:rPr>
              <a:t>회전 방향</a:t>
            </a:r>
          </a:p>
        </p:txBody>
      </p:sp>
      <p:sp>
        <p:nvSpPr>
          <p:cNvPr id="5" name="목표 90°에서 현재 요 각도를 뺍니다. 오차의 부호에 따">
            <a:extLst xmlns:a="http://schemas.openxmlformats.org/drawingml/2006/main">
              <a:ext uri="{FF2B5EF4-FFF2-40B4-BE49-F238E27FC236}">
                <a16:creationId xmlns:a16="http://schemas.microsoft.com/office/drawing/2014/main" id="{99E4A72E-CEFA-4851-8685-605F3D7E9C74}"/>
              </a:ext>
            </a:extLst>
          </p:cNvPr>
          <p:cNvSpPr>
            <a:spLocks xmlns:a="http://schemas.openxmlformats.org/drawingml/2006/main" noGrp="1"/>
          </p:cNvSpPr>
          <p:nvPr/>
        </p:nvSpPr>
        <p:spPr>
          <a:xfrm xmlns:a="http://schemas.openxmlformats.org/drawingml/2006/main">
            <a:off x="523875" y="4995863"/>
            <a:ext cx="9620250" cy="3952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92929"/>
                </a:solidFill>
                <a:latin typeface="KoPubDotum"/>
                <a:ea typeface="KoPubDotum"/>
                <a:cs typeface="KoPubDotum"/>
              </a:defRPr>
            </a:defPPr>
          </a:lstStyle>
          <a:p xmlns:a="http://schemas.openxmlformats.org/drawingml/2006/main">
            <a:pPr algn="l">
              <a:lnSpc>
                <a:spcPct val="116000"/>
              </a:lnSpc>
              <a:buNone/>
              <a:defRPr sz="1875" b="0">
                <a:solidFill>
                  <a:srgbClr val="292929"/>
                </a:solidFill>
                <a:latin typeface="KoPubDotum"/>
                <a:ea typeface="KoPubDotum"/>
                <a:cs typeface="KoPubDotum"/>
              </a:defRPr>
            </a:pPr>
            <a:r>
              <a:rPr sz="1875" b="0">
                <a:solidFill>
                  <a:srgbClr val="292929"/>
                </a:solidFill>
                <a:latin typeface="KoPubDotum"/>
                <a:ea typeface="KoPubDotum"/>
                <a:cs typeface="KoPubDotum"/>
              </a:rPr>
              <a:t>목표 90°에서 현재 요 각도를 뺍니다. 오차의 부호에 따라 회전 방향을 바꿉니다.</a:t>
            </a:r>
          </a:p>
        </p:txBody>
      </p:sp>
      <p:sp>
        <p:nvSpPr>
          <p:cNvPr id="6" name="정지 조건">
            <a:extLst xmlns:a="http://schemas.openxmlformats.org/drawingml/2006/main">
              <a:ext uri="{FF2B5EF4-FFF2-40B4-BE49-F238E27FC236}">
                <a16:creationId xmlns:a16="http://schemas.microsoft.com/office/drawing/2014/main" id="{D2CACFC4-5BC0-4F8E-A814-FF66107505DF}"/>
              </a:ext>
            </a:extLst>
          </p:cNvPr>
          <p:cNvSpPr>
            <a:spLocks xmlns:a="http://schemas.openxmlformats.org/drawingml/2006/main" noGrp="1"/>
          </p:cNvSpPr>
          <p:nvPr/>
        </p:nvSpPr>
        <p:spPr>
          <a:xfrm xmlns:a="http://schemas.openxmlformats.org/drawingml/2006/main">
            <a:off x="523875" y="5581650"/>
            <a:ext cx="9620250" cy="366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2929"/>
                </a:solidFill>
                <a:latin typeface="KoPubDotum"/>
                <a:ea typeface="KoPubDotum"/>
                <a:cs typeface="KoPubDotum"/>
              </a:defRPr>
            </a:defPPr>
          </a:lstStyle>
          <a:p xmlns:a="http://schemas.openxmlformats.org/drawingml/2006/main">
            <a:pPr algn="l">
              <a:lnSpc>
                <a:spcPct val="116000"/>
              </a:lnSpc>
              <a:buNone/>
              <a:defRPr sz="1875" b="1">
                <a:solidFill>
                  <a:srgbClr val="292929"/>
                </a:solidFill>
                <a:latin typeface="KoPubDotum"/>
                <a:ea typeface="KoPubDotum"/>
                <a:cs typeface="KoPubDotum"/>
              </a:defRPr>
            </a:pPr>
            <a:r>
              <a:rPr sz="1875" b="1">
                <a:solidFill>
                  <a:srgbClr val="292929"/>
                </a:solidFill>
                <a:latin typeface="KoPubDotum"/>
                <a:ea typeface="KoPubDotum"/>
                <a:cs typeface="KoPubDotum"/>
              </a:rPr>
              <a:t>정지 조건</a:t>
            </a:r>
          </a:p>
        </p:txBody>
      </p:sp>
      <p:sp>
        <p:nvSpPr>
          <p:cNvPr id="7" name="오차의 절댓값이 3° 미만이거나 5초가 지나면 반복을 끝내">
            <a:extLst xmlns:a="http://schemas.openxmlformats.org/drawingml/2006/main">
              <a:ext uri="{FF2B5EF4-FFF2-40B4-BE49-F238E27FC236}">
                <a16:creationId xmlns:a16="http://schemas.microsoft.com/office/drawing/2014/main" id="{154C8660-C069-4E36-9F61-4C67A127B5D4}"/>
              </a:ext>
            </a:extLst>
          </p:cNvPr>
          <p:cNvSpPr>
            <a:spLocks xmlns:a="http://schemas.openxmlformats.org/drawingml/2006/main" noGrp="1"/>
          </p:cNvSpPr>
          <p:nvPr/>
        </p:nvSpPr>
        <p:spPr>
          <a:xfrm xmlns:a="http://schemas.openxmlformats.org/drawingml/2006/main">
            <a:off x="523875" y="6005513"/>
            <a:ext cx="9620250" cy="3952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92929"/>
                </a:solidFill>
                <a:latin typeface="KoPubDotum"/>
                <a:ea typeface="KoPubDotum"/>
                <a:cs typeface="KoPubDotum"/>
              </a:defRPr>
            </a:defPPr>
          </a:lstStyle>
          <a:p xmlns:a="http://schemas.openxmlformats.org/drawingml/2006/main">
            <a:pPr algn="l">
              <a:lnSpc>
                <a:spcPct val="116000"/>
              </a:lnSpc>
              <a:buNone/>
              <a:defRPr sz="1875" b="0">
                <a:solidFill>
                  <a:srgbClr val="292929"/>
                </a:solidFill>
                <a:latin typeface="KoPubDotum"/>
                <a:ea typeface="KoPubDotum"/>
                <a:cs typeface="KoPubDotum"/>
              </a:defRPr>
            </a:pPr>
            <a:r>
              <a:rPr sz="1875" b="0">
                <a:solidFill>
                  <a:srgbClr val="292929"/>
                </a:solidFill>
                <a:latin typeface="KoPubDotum"/>
                <a:ea typeface="KoPubDotum"/>
                <a:cs typeface="KoPubDotum"/>
              </a:rPr>
              <a:t>오차의 절댓값이 3° 미만이거나 5초가 지나면 반복을 끝내고 멈춥니다.</a:t>
            </a:r>
          </a:p>
        </p:txBody>
      </p:sp>
    </p:spTree>
    <p:extLst>
      <p:ext uri="{BB962C8B-B14F-4D97-AF65-F5344CB8AC3E}">
        <p14:creationId xmlns:p14="http://schemas.microsoft.com/office/powerpoint/2010/main" val="845866129"/>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8" name="장애물이 있으면 라인 주행 정지">
            <a:extLst xmlns:a="http://schemas.openxmlformats.org/drawingml/2006/main">
              <a:ext uri="{FF2B5EF4-FFF2-40B4-BE49-F238E27FC236}">
                <a16:creationId xmlns:a16="http://schemas.microsoft.com/office/drawing/2014/main" id="{DB8F075C-1F8B-444D-896C-58A1121E0DE9}"/>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장애물이 있으면 라인 주행 정지</a:t>
            </a:r>
          </a:p>
        </p:txBody>
      </p:sp>
      <p:sp>
        <p:nvSpPr>
          <p:cNvPr id="2" name="41">
            <a:extLst xmlns:a="http://schemas.openxmlformats.org/drawingml/2006/main">
              <a:ext uri="{FF2B5EF4-FFF2-40B4-BE49-F238E27FC236}">
                <a16:creationId xmlns:a16="http://schemas.microsoft.com/office/drawing/2014/main" id="{336BA31E-C090-4A3C-9743-84A6B1AED80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41</a:t>
            </a:r>
          </a:p>
        </p:txBody>
      </p:sp>
      <p:pic>
        <p:nvPicPr>
          <p:cNvPr id="3" name="">
            <a:extLst xmlns:a="http://schemas.openxmlformats.org/drawingml/2006/main">
              <a:ext uri="{FF2B5EF4-FFF2-40B4-BE49-F238E27FC236}">
                <a16:creationId xmlns:a16="http://schemas.microsoft.com/office/drawing/2014/main" id="{CBFEE2B3-BD86-4CC6-AF19-05AEE5440A8B}"/>
              </a:ext>
            </a:extLst>
          </p:cNvPr>
          <p:cNvPicPr>
            <a:picLocks xmlns:a="http://schemas.openxmlformats.org/drawingml/2006/main" noChangeAspect="1"/>
          </p:cNvPicPr>
          <p:nvPr/>
        </p:nvPicPr>
        <p:blipFill>
          <a:blip xmlns:r="http://schemas.openxmlformats.org/officeDocument/2006/relationships" xmlns:a="http://schemas.openxmlformats.org/drawingml/2006/main" r:embed="R02af9ce3cc8d479d"/>
          <a:stretch xmlns:a="http://schemas.openxmlformats.org/drawingml/2006/main"/>
        </p:blipFill>
        <p:spPr>
          <a:xfrm xmlns:a="http://schemas.openxmlformats.org/drawingml/2006/main">
            <a:off x="476250" y="2143125"/>
            <a:ext cx="7460933" cy="2000250"/>
          </a:xfrm>
          <a:prstGeom xmlns:a="http://schemas.openxmlformats.org/drawingml/2006/main" prst="rect">
            <a:avLst/>
          </a:prstGeom>
        </p:spPr>
      </p:pic>
      <p:sp>
        <p:nvSpPr>
          <p:cNvPr id="4" name="장애물 우선">
            <a:extLst xmlns:a="http://schemas.openxmlformats.org/drawingml/2006/main">
              <a:ext uri="{FF2B5EF4-FFF2-40B4-BE49-F238E27FC236}">
                <a16:creationId xmlns:a16="http://schemas.microsoft.com/office/drawing/2014/main" id="{4358BFC1-65F6-4F25-9DBE-0AFB38B2394F}"/>
              </a:ext>
            </a:extLst>
          </p:cNvPr>
          <p:cNvSpPr>
            <a:spLocks xmlns:a="http://schemas.openxmlformats.org/drawingml/2006/main" noGrp="1"/>
          </p:cNvSpPr>
          <p:nvPr/>
        </p:nvSpPr>
        <p:spPr>
          <a:xfrm xmlns:a="http://schemas.openxmlformats.org/drawingml/2006/main">
            <a:off x="523875" y="4572000"/>
            <a:ext cx="9620250" cy="366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2929"/>
                </a:solidFill>
                <a:latin typeface="KoPubDotum"/>
                <a:ea typeface="KoPubDotum"/>
                <a:cs typeface="KoPubDotum"/>
              </a:defRPr>
            </a:defPPr>
          </a:lstStyle>
          <a:p xmlns:a="http://schemas.openxmlformats.org/drawingml/2006/main">
            <a:pPr algn="l">
              <a:lnSpc>
                <a:spcPct val="116000"/>
              </a:lnSpc>
              <a:buNone/>
              <a:defRPr sz="1875" b="1">
                <a:solidFill>
                  <a:srgbClr val="292929"/>
                </a:solidFill>
                <a:latin typeface="KoPubDotum"/>
                <a:ea typeface="KoPubDotum"/>
                <a:cs typeface="KoPubDotum"/>
              </a:defRPr>
            </a:pPr>
            <a:r>
              <a:rPr sz="1875" b="1">
                <a:solidFill>
                  <a:srgbClr val="292929"/>
                </a:solidFill>
                <a:latin typeface="KoPubDotum"/>
                <a:ea typeface="KoPubDotum"/>
                <a:cs typeface="KoPubDotum"/>
              </a:rPr>
              <a:t>장애물 우선</a:t>
            </a:r>
          </a:p>
        </p:txBody>
      </p:sp>
      <p:sp>
        <p:nvSpPr>
          <p:cNvPr id="5" name="거리 B가 20cm 미만이면 이동을 멈춥니다.">
            <a:extLst xmlns:a="http://schemas.openxmlformats.org/drawingml/2006/main">
              <a:ext uri="{FF2B5EF4-FFF2-40B4-BE49-F238E27FC236}">
                <a16:creationId xmlns:a16="http://schemas.microsoft.com/office/drawing/2014/main" id="{86923227-0D05-49AD-BFA2-D663CB51E5AF}"/>
              </a:ext>
            </a:extLst>
          </p:cNvPr>
          <p:cNvSpPr>
            <a:spLocks xmlns:a="http://schemas.openxmlformats.org/drawingml/2006/main" noGrp="1"/>
          </p:cNvSpPr>
          <p:nvPr/>
        </p:nvSpPr>
        <p:spPr>
          <a:xfrm xmlns:a="http://schemas.openxmlformats.org/drawingml/2006/main">
            <a:off x="523875" y="4995863"/>
            <a:ext cx="9620250" cy="3952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92929"/>
                </a:solidFill>
                <a:latin typeface="KoPubDotum"/>
                <a:ea typeface="KoPubDotum"/>
                <a:cs typeface="KoPubDotum"/>
              </a:defRPr>
            </a:defPPr>
          </a:lstStyle>
          <a:p xmlns:a="http://schemas.openxmlformats.org/drawingml/2006/main">
            <a:pPr algn="l">
              <a:lnSpc>
                <a:spcPct val="116000"/>
              </a:lnSpc>
              <a:buNone/>
              <a:defRPr sz="1875" b="0">
                <a:solidFill>
                  <a:srgbClr val="292929"/>
                </a:solidFill>
                <a:latin typeface="KoPubDotum"/>
                <a:ea typeface="KoPubDotum"/>
                <a:cs typeface="KoPubDotum"/>
              </a:defRPr>
            </a:pPr>
            <a:r>
              <a:rPr sz="1875" b="0">
                <a:solidFill>
                  <a:srgbClr val="292929"/>
                </a:solidFill>
                <a:latin typeface="KoPubDotum"/>
                <a:ea typeface="KoPubDotum"/>
                <a:cs typeface="KoPubDotum"/>
              </a:rPr>
              <a:t>거리 B가 20cm 미만이면 이동을 멈춥니다.</a:t>
            </a:r>
          </a:p>
        </p:txBody>
      </p:sp>
      <p:sp>
        <p:nvSpPr>
          <p:cNvPr id="6" name="아니면">
            <a:extLst xmlns:a="http://schemas.openxmlformats.org/drawingml/2006/main">
              <a:ext uri="{FF2B5EF4-FFF2-40B4-BE49-F238E27FC236}">
                <a16:creationId xmlns:a16="http://schemas.microsoft.com/office/drawing/2014/main" id="{04F708D2-E5F5-46D0-930E-AAE68C6E2A15}"/>
              </a:ext>
            </a:extLst>
          </p:cNvPr>
          <p:cNvSpPr>
            <a:spLocks xmlns:a="http://schemas.openxmlformats.org/drawingml/2006/main" noGrp="1"/>
          </p:cNvSpPr>
          <p:nvPr/>
        </p:nvSpPr>
        <p:spPr>
          <a:xfrm xmlns:a="http://schemas.openxmlformats.org/drawingml/2006/main">
            <a:off x="523875" y="5581650"/>
            <a:ext cx="9620250" cy="366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2929"/>
                </a:solidFill>
                <a:latin typeface="KoPubDotum"/>
                <a:ea typeface="KoPubDotum"/>
                <a:cs typeface="KoPubDotum"/>
              </a:defRPr>
            </a:defPPr>
          </a:lstStyle>
          <a:p xmlns:a="http://schemas.openxmlformats.org/drawingml/2006/main">
            <a:pPr algn="l">
              <a:lnSpc>
                <a:spcPct val="116000"/>
              </a:lnSpc>
              <a:buNone/>
              <a:defRPr sz="1875" b="1">
                <a:solidFill>
                  <a:srgbClr val="292929"/>
                </a:solidFill>
                <a:latin typeface="KoPubDotum"/>
                <a:ea typeface="KoPubDotum"/>
                <a:cs typeface="KoPubDotum"/>
              </a:defRPr>
            </a:pPr>
            <a:r>
              <a:rPr sz="1875" b="1">
                <a:solidFill>
                  <a:srgbClr val="292929"/>
                </a:solidFill>
                <a:latin typeface="KoPubDotum"/>
                <a:ea typeface="KoPubDotum"/>
                <a:cs typeface="KoPubDotum"/>
              </a:rPr>
              <a:t>아니면</a:t>
            </a:r>
          </a:p>
        </p:txBody>
      </p:sp>
      <p:sp>
        <p:nvSpPr>
          <p:cNvPr id="7" name="앞의 P 제어 코드로 라인을 따라갑니다. 책을 놓았다 치워">
            <a:extLst xmlns:a="http://schemas.openxmlformats.org/drawingml/2006/main">
              <a:ext uri="{FF2B5EF4-FFF2-40B4-BE49-F238E27FC236}">
                <a16:creationId xmlns:a16="http://schemas.microsoft.com/office/drawing/2014/main" id="{2242EADA-82DF-45CF-A679-00AA74981854}"/>
              </a:ext>
            </a:extLst>
          </p:cNvPr>
          <p:cNvSpPr>
            <a:spLocks xmlns:a="http://schemas.openxmlformats.org/drawingml/2006/main" noGrp="1"/>
          </p:cNvSpPr>
          <p:nvPr/>
        </p:nvSpPr>
        <p:spPr>
          <a:xfrm xmlns:a="http://schemas.openxmlformats.org/drawingml/2006/main">
            <a:off x="523875" y="6005513"/>
            <a:ext cx="9620250" cy="3952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92929"/>
                </a:solidFill>
                <a:latin typeface="KoPubDotum"/>
                <a:ea typeface="KoPubDotum"/>
                <a:cs typeface="KoPubDotum"/>
              </a:defRPr>
            </a:defPPr>
          </a:lstStyle>
          <a:p xmlns:a="http://schemas.openxmlformats.org/drawingml/2006/main">
            <a:pPr algn="l">
              <a:lnSpc>
                <a:spcPct val="116000"/>
              </a:lnSpc>
              <a:buNone/>
              <a:defRPr sz="1875" b="0">
                <a:solidFill>
                  <a:srgbClr val="292929"/>
                </a:solidFill>
                <a:latin typeface="KoPubDotum"/>
                <a:ea typeface="KoPubDotum"/>
                <a:cs typeface="KoPubDotum"/>
              </a:defRPr>
            </a:pPr>
            <a:r>
              <a:rPr sz="1875" b="0">
                <a:solidFill>
                  <a:srgbClr val="292929"/>
                </a:solidFill>
                <a:latin typeface="KoPubDotum"/>
                <a:ea typeface="KoPubDotum"/>
                <a:cs typeface="KoPubDotum"/>
              </a:rPr>
              <a:t>앞의 P 제어 코드로 라인을 따라갑니다. 책을 놓았다 치워 정지와 재출발을 시험합니다.</a:t>
            </a:r>
          </a:p>
        </p:txBody>
      </p:sp>
    </p:spTree>
    <p:extLst>
      <p:ext uri="{BB962C8B-B14F-4D97-AF65-F5344CB8AC3E}">
        <p14:creationId xmlns:p14="http://schemas.microsoft.com/office/powerpoint/2010/main" val="776301578"/>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4" name="연결·업데이트 문제">
            <a:extLst xmlns:a="http://schemas.openxmlformats.org/drawingml/2006/main">
              <a:ext uri="{FF2B5EF4-FFF2-40B4-BE49-F238E27FC236}">
                <a16:creationId xmlns:a16="http://schemas.microsoft.com/office/drawing/2014/main" id="{0E98A407-EC3C-48D5-9A88-F0E231BCBF0F}"/>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연결·업데이트 문제</a:t>
            </a:r>
          </a:p>
        </p:txBody>
      </p:sp>
      <p:sp>
        <p:nvSpPr>
          <p:cNvPr id="2" name="42">
            <a:extLst xmlns:a="http://schemas.openxmlformats.org/drawingml/2006/main">
              <a:ext uri="{FF2B5EF4-FFF2-40B4-BE49-F238E27FC236}">
                <a16:creationId xmlns:a16="http://schemas.microsoft.com/office/drawing/2014/main" id="{3556D428-946B-4E2D-A890-C5FDA75CD43F}"/>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42</a:t>
            </a:r>
          </a:p>
        </p:txBody>
      </p:sp>
      <p:graphicFrame>
        <p:nvGraphicFramePr>
          <p:cNvPr id="3" name="">
            <a:extLst xmlns:a="http://schemas.openxmlformats.org/drawingml/2006/main">
              <a:ext uri="{FF2B5EF4-FFF2-40B4-BE49-F238E27FC236}">
                <a16:creationId xmlns:a16="http://schemas.microsoft.com/office/drawing/2014/main" id="{4873D4C3-1570-4974-B07A-4D7555EFE2F4}"/>
              </a:ext>
            </a:extLst>
          </p:cNvPr>
          <p:cNvGraphicFramePr/>
          <p:nvPr/>
        </p:nvGraphicFramePr>
        <p:xfrm>
          <a:off xmlns:a="http://schemas.openxmlformats.org/drawingml/2006/main" x="476250" y="1981200"/>
          <a:ext xmlns:a="http://schemas.openxmlformats.org/drawingml/2006/main" cx="9739313" cy="32385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증상</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점검 순서</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수업 전 조치</a:t>
                      </a:r>
                    </a:p>
                  </a:txBody>
                  <a:tcPr marL="91440" marR="91440" marT="45720" marB="45720" anchor="ctr">
                    <a:solidFill>
                      <a:srgbClr val="F7972B"/>
                    </a:solidFill>
                  </a:tcPr>
                </a:tc>
              </a:tr>
              <a:tr h="695325">
                <a:tc>
                  <a:txBody>
                    <a:bodyPr lIns="133350" tIns="114300" rIns="114300" bIns="76200">
                      <a:noAutofit/>
                    </a:bodyPr>
                    <a:lstStyle/>
                    <a:p>
                      <a:r>
                        <a:rPr sz="1725" b="0">
                          <a:solidFill>
                            <a:srgbClr val="292929"/>
                          </a:solidFill>
                          <a:latin typeface="KoPubDotum"/>
                          <a:ea typeface="KoPubDotum"/>
                          <a:cs typeface="KoPubDotum"/>
                        </a:rPr>
                        <a:t>검색 실패</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전원·거리·이름·기존 연결·권한</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한 Hub씩 이름 지정</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USB 통신 실패</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데이터 케이블·USB 포트·장치 권한</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예비 케이블로 사전 시험</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업데이트 안내</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앱과 Hub 안내·충전·연결 안정성</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수업 전에 USB로 업데이트 점검</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업데이트 중단</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전원·케이블·공식 복구 안내 확인</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Hub를 여러 번 강제로 끄지 말고 공식 FAQ의 복구 안내 따르기</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29094151"/>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4" name="센서와 모터를 따로 시험">
            <a:extLst xmlns:a="http://schemas.openxmlformats.org/drawingml/2006/main">
              <a:ext uri="{FF2B5EF4-FFF2-40B4-BE49-F238E27FC236}">
                <a16:creationId xmlns:a16="http://schemas.microsoft.com/office/drawing/2014/main" id="{C3846DDC-6E10-412D-8B97-2FA8A6D4E4A7}"/>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센서와 모터를 따로 시험</a:t>
            </a:r>
          </a:p>
        </p:txBody>
      </p:sp>
      <p:sp>
        <p:nvSpPr>
          <p:cNvPr id="2" name="43">
            <a:extLst xmlns:a="http://schemas.openxmlformats.org/drawingml/2006/main">
              <a:ext uri="{FF2B5EF4-FFF2-40B4-BE49-F238E27FC236}">
                <a16:creationId xmlns:a16="http://schemas.microsoft.com/office/drawing/2014/main" id="{38821168-7FBD-42EE-8F3F-6CD7E0C80BF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43</a:t>
            </a:r>
          </a:p>
        </p:txBody>
      </p:sp>
      <p:graphicFrame>
        <p:nvGraphicFramePr>
          <p:cNvPr id="3" name="">
            <a:extLst xmlns:a="http://schemas.openxmlformats.org/drawingml/2006/main">
              <a:ext uri="{FF2B5EF4-FFF2-40B4-BE49-F238E27FC236}">
                <a16:creationId xmlns:a16="http://schemas.microsoft.com/office/drawing/2014/main" id="{F7975782-FB0F-4108-8218-173836CEC978}"/>
              </a:ext>
            </a:extLst>
          </p:cNvPr>
          <p:cNvGraphicFramePr/>
          <p:nvPr/>
        </p:nvGraphicFramePr>
        <p:xfrm>
          <a:off xmlns:a="http://schemas.openxmlformats.org/drawingml/2006/main" x="476250" y="1981200"/>
          <a:ext xmlns:a="http://schemas.openxmlformats.org/drawingml/2006/main" cx="9739313" cy="32385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영역</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확인할 내용</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따로 시험</a:t>
                      </a:r>
                    </a:p>
                  </a:txBody>
                  <a:tcPr marL="91440" marR="91440" marT="45720" marB="45720" anchor="ctr">
                    <a:solidFill>
                      <a:srgbClr val="F7972B"/>
                    </a:solidFill>
                  </a:tcPr>
                </a:tc>
              </a:tr>
              <a:tr h="695325">
                <a:tc>
                  <a:txBody>
                    <a:bodyPr lIns="133350" tIns="114300" rIns="114300" bIns="76200">
                      <a:noAutofit/>
                    </a:bodyPr>
                    <a:lstStyle/>
                    <a:p>
                      <a:r>
                        <a:rPr sz="1725" b="0">
                          <a:solidFill>
                            <a:srgbClr val="292929"/>
                          </a:solidFill>
                          <a:latin typeface="KoPubDotum"/>
                          <a:ea typeface="KoPubDotum"/>
                          <a:cs typeface="KoPubDotum"/>
                        </a:rPr>
                        <a:t>센서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같은 입력에서 값이 바뀌는가?</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센서 하나만 연결해 읽기</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모터</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포트·방향·축·프레임 마찰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바퀴를 들어 한 모터씩 짧게 구동</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코드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조건값·단위·반복·동시 실행</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센서값 출력 후 조건 함수만 시험</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조립</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감지면·높이·케이블·바퀴</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전원을 끄고 손으로 축·바퀴 확인</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6794462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9" name="학생과 함께 오류 찾기">
            <a:extLst xmlns:a="http://schemas.openxmlformats.org/drawingml/2006/main">
              <a:ext uri="{FF2B5EF4-FFF2-40B4-BE49-F238E27FC236}">
                <a16:creationId xmlns:a16="http://schemas.microsoft.com/office/drawing/2014/main" id="{D741FF79-A1B5-46B8-A612-713F9C85A15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학생과 함께 오류 찾기</a:t>
            </a:r>
          </a:p>
        </p:txBody>
      </p:sp>
      <p:sp>
        <p:nvSpPr>
          <p:cNvPr id="2" name="44">
            <a:extLst xmlns:a="http://schemas.openxmlformats.org/drawingml/2006/main">
              <a:ext uri="{FF2B5EF4-FFF2-40B4-BE49-F238E27FC236}">
                <a16:creationId xmlns:a16="http://schemas.microsoft.com/office/drawing/2014/main" id="{EA77B7A4-5929-43FD-9AAD-1B07D4D14F03}"/>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44</a:t>
            </a:r>
          </a:p>
        </p:txBody>
      </p:sp>
      <p:sp>
        <p:nvSpPr>
          <p:cNvPr id="3" name="처음에는">
            <a:extLst xmlns:a="http://schemas.openxmlformats.org/drawingml/2006/main">
              <a:ext uri="{FF2B5EF4-FFF2-40B4-BE49-F238E27FC236}">
                <a16:creationId xmlns:a16="http://schemas.microsoft.com/office/drawing/2014/main" id="{54098564-C92A-484D-860F-4A6799365346}"/>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처음에는</a:t>
            </a:r>
          </a:p>
        </p:txBody>
      </p:sp>
      <p:sp>
        <p:nvSpPr>
          <p:cNvPr id="4" name="“어떻게 움직이길 예상했나요?”&#10;“지금 센서값과 실제 움직">
            <a:extLst xmlns:a="http://schemas.openxmlformats.org/drawingml/2006/main">
              <a:ext uri="{FF2B5EF4-FFF2-40B4-BE49-F238E27FC236}">
                <a16:creationId xmlns:a16="http://schemas.microsoft.com/office/drawing/2014/main" id="{63E8B9BA-2220-42D3-9506-6694E018652D}"/>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“어떻게 움직이길 예상했나요?”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“지금 센서값과 실제 움직임은 어떤가요?”</a:t>
            </a:r>
          </a:p>
        </p:txBody>
      </p:sp>
      <p:sp>
        <p:nvSpPr>
          <p:cNvPr id="5" name="다음 시험은">
            <a:extLst xmlns:a="http://schemas.openxmlformats.org/drawingml/2006/main">
              <a:ext uri="{FF2B5EF4-FFF2-40B4-BE49-F238E27FC236}">
                <a16:creationId xmlns:a16="http://schemas.microsoft.com/office/drawing/2014/main" id="{CE143B4A-4820-4D2A-BB29-F0327C24289A}"/>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다음 시험은</a:t>
            </a:r>
          </a:p>
        </p:txBody>
      </p:sp>
      <p:sp>
        <p:nvSpPr>
          <p:cNvPr id="6" name="“포트, 조건, 조립 중 어디부터 볼까요?”&#10;“이번에는 설">
            <a:extLst xmlns:a="http://schemas.openxmlformats.org/drawingml/2006/main">
              <a:ext uri="{FF2B5EF4-FFF2-40B4-BE49-F238E27FC236}">
                <a16:creationId xmlns:a16="http://schemas.microsoft.com/office/drawing/2014/main" id="{479F3601-34CD-4ADB-B6DD-C756B16ADB18}"/>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“포트, 조건, 조립 중 어디부터 볼까요?”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“이번에는 설정 하나만 바꿔 볼까요?”</a:t>
            </a:r>
          </a:p>
        </p:txBody>
      </p:sp>
      <p:sp>
        <p:nvSpPr>
          <p:cNvPr id="7" name="해결한 뒤에는">
            <a:extLst xmlns:a="http://schemas.openxmlformats.org/drawingml/2006/main">
              <a:ext uri="{FF2B5EF4-FFF2-40B4-BE49-F238E27FC236}">
                <a16:creationId xmlns:a16="http://schemas.microsoft.com/office/drawing/2014/main" id="{C53A1B8F-2CFE-402F-B5B2-6B97DD98DD1E}"/>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해결한 뒤에는</a:t>
            </a:r>
          </a:p>
        </p:txBody>
      </p:sp>
      <p:sp>
        <p:nvSpPr>
          <p:cNvPr id="8" name="“무엇을 바꿨더니 달라졌나요?”&#10;“다른 모둠도 따라 해볼 ">
            <a:extLst xmlns:a="http://schemas.openxmlformats.org/drawingml/2006/main">
              <a:ext uri="{FF2B5EF4-FFF2-40B4-BE49-F238E27FC236}">
                <a16:creationId xmlns:a16="http://schemas.microsoft.com/office/drawing/2014/main" id="{635C810A-F0E6-45E2-B20D-1C1A22080D3C}"/>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“무엇을 바꿨더니 달라졌나요?”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“다른 모둠도 따라 해볼 수 있게 적어 볼까요?”</a:t>
            </a:r>
          </a:p>
        </p:txBody>
      </p:sp>
    </p:spTree>
    <p:extLst>
      <p:ext uri="{BB962C8B-B14F-4D97-AF65-F5344CB8AC3E}">
        <p14:creationId xmlns:p14="http://schemas.microsoft.com/office/powerpoint/2010/main" val="2068930330"/>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1" name="3차시 실습 확인과 학교 수업 준비">
            <a:extLst xmlns:a="http://schemas.openxmlformats.org/drawingml/2006/main">
              <a:ext uri="{FF2B5EF4-FFF2-40B4-BE49-F238E27FC236}">
                <a16:creationId xmlns:a16="http://schemas.microsoft.com/office/drawing/2014/main" id="{B868CFE4-79B4-4AF7-B77C-757B921FBEF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3차시 실습 확인과 학교 수업 준비</a:t>
            </a:r>
          </a:p>
        </p:txBody>
      </p:sp>
      <p:sp>
        <p:nvSpPr>
          <p:cNvPr id="2" name="45">
            <a:extLst xmlns:a="http://schemas.openxmlformats.org/drawingml/2006/main">
              <a:ext uri="{FF2B5EF4-FFF2-40B4-BE49-F238E27FC236}">
                <a16:creationId xmlns:a16="http://schemas.microsoft.com/office/drawing/2014/main" id="{A4938A4D-EFD4-4FF0-8490-0F3EB251F2B7}"/>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45</a:t>
            </a:r>
          </a:p>
        </p:txBody>
      </p:sp>
      <p:sp>
        <p:nvSpPr>
          <p:cNvPr id="3" name="기준값">
            <a:extLst xmlns:a="http://schemas.openxmlformats.org/drawingml/2006/main">
              <a:ext uri="{FF2B5EF4-FFF2-40B4-BE49-F238E27FC236}">
                <a16:creationId xmlns:a16="http://schemas.microsoft.com/office/drawing/2014/main" id="{7A9BF526-1212-4E5A-94FD-F1DD7BF26347}"/>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기준값</a:t>
            </a:r>
          </a:p>
        </p:txBody>
      </p:sp>
      <p:sp>
        <p:nvSpPr>
          <p:cNvPr id="4" name="검정 평균 13, 흰색 평균 80이면 중간값은 얼마인가요?">
            <a:extLst xmlns:a="http://schemas.openxmlformats.org/drawingml/2006/main">
              <a:ext uri="{FF2B5EF4-FFF2-40B4-BE49-F238E27FC236}">
                <a16:creationId xmlns:a16="http://schemas.microsoft.com/office/drawing/2014/main" id="{932CC328-DE0C-433F-A484-DAEE6660AAF9}"/>
              </a:ext>
            </a:extLst>
          </p:cNvPr>
          <p:cNvSpPr>
            <a:spLocks xmlns:a="http://schemas.openxmlformats.org/drawingml/2006/main" noGrp="1"/>
          </p:cNvSpPr>
          <p:nvPr/>
        </p:nvSpPr>
        <p:spPr>
          <a:xfrm xmlns:a="http://schemas.openxmlformats.org/drawingml/2006/main">
            <a:off x="523875" y="2484120"/>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검정 평균 13, 흰색 평균 80이면 중간값은 얼마인가요?</a:t>
            </a:r>
          </a:p>
        </p:txBody>
      </p:sp>
      <p:sp>
        <p:nvSpPr>
          <p:cNvPr id="5" name="P 제어 계산">
            <a:extLst xmlns:a="http://schemas.openxmlformats.org/drawingml/2006/main">
              <a:ext uri="{FF2B5EF4-FFF2-40B4-BE49-F238E27FC236}">
                <a16:creationId xmlns:a16="http://schemas.microsoft.com/office/drawing/2014/main" id="{D37A894F-CC3F-4F80-86DA-D82EB113BD74}"/>
              </a:ext>
            </a:extLst>
          </p:cNvPr>
          <p:cNvSpPr>
            <a:spLocks xmlns:a="http://schemas.openxmlformats.org/drawingml/2006/main" noGrp="1"/>
          </p:cNvSpPr>
          <p:nvPr/>
        </p:nvSpPr>
        <p:spPr>
          <a:xfrm xmlns:a="http://schemas.openxmlformats.org/drawingml/2006/main">
            <a:off x="523875" y="3139821"/>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P 제어 계산</a:t>
            </a:r>
          </a:p>
        </p:txBody>
      </p:sp>
      <p:sp>
        <p:nvSpPr>
          <p:cNvPr id="6" name="기준값 46.5, 현재값 60, K=1.5이면 오차와 조향">
            <a:extLst xmlns:a="http://schemas.openxmlformats.org/drawingml/2006/main">
              <a:ext uri="{FF2B5EF4-FFF2-40B4-BE49-F238E27FC236}">
                <a16:creationId xmlns:a16="http://schemas.microsoft.com/office/drawing/2014/main" id="{2855AA99-D0D6-4165-8568-16FB1C3EA857}"/>
              </a:ext>
            </a:extLst>
          </p:cNvPr>
          <p:cNvSpPr>
            <a:spLocks xmlns:a="http://schemas.openxmlformats.org/drawingml/2006/main" noGrp="1"/>
          </p:cNvSpPr>
          <p:nvPr/>
        </p:nvSpPr>
        <p:spPr>
          <a:xfrm xmlns:a="http://schemas.openxmlformats.org/drawingml/2006/main">
            <a:off x="523875" y="3576066"/>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기준값 46.5, 현재값 60, K=1.5이면 오차와 조향은 얼마인가요?</a:t>
            </a:r>
          </a:p>
        </p:txBody>
      </p:sp>
      <p:sp>
        <p:nvSpPr>
          <p:cNvPr id="7" name="두 센서의 조건">
            <a:extLst xmlns:a="http://schemas.openxmlformats.org/drawingml/2006/main">
              <a:ext uri="{FF2B5EF4-FFF2-40B4-BE49-F238E27FC236}">
                <a16:creationId xmlns:a16="http://schemas.microsoft.com/office/drawing/2014/main" id="{DC178AAC-B5AC-48BF-A093-33902566104B}"/>
              </a:ext>
            </a:extLst>
          </p:cNvPr>
          <p:cNvSpPr>
            <a:spLocks xmlns:a="http://schemas.openxmlformats.org/drawingml/2006/main" noGrp="1"/>
          </p:cNvSpPr>
          <p:nvPr/>
        </p:nvSpPr>
        <p:spPr>
          <a:xfrm xmlns:a="http://schemas.openxmlformats.org/drawingml/2006/main">
            <a:off x="523875" y="4231767"/>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두 센서의 조건</a:t>
            </a:r>
          </a:p>
        </p:txBody>
      </p:sp>
      <p:sp>
        <p:nvSpPr>
          <p:cNvPr id="8" name="라인 주행 중 장애물이 가까워지면 어떤 명령이 먼저여야 하">
            <a:extLst xmlns:a="http://schemas.openxmlformats.org/drawingml/2006/main">
              <a:ext uri="{FF2B5EF4-FFF2-40B4-BE49-F238E27FC236}">
                <a16:creationId xmlns:a16="http://schemas.microsoft.com/office/drawing/2014/main" id="{61650743-3F99-42F6-A384-173364E36117}"/>
              </a:ext>
            </a:extLst>
          </p:cNvPr>
          <p:cNvSpPr>
            <a:spLocks xmlns:a="http://schemas.openxmlformats.org/drawingml/2006/main" noGrp="1"/>
          </p:cNvSpPr>
          <p:nvPr/>
        </p:nvSpPr>
        <p:spPr>
          <a:xfrm xmlns:a="http://schemas.openxmlformats.org/drawingml/2006/main">
            <a:off x="523875" y="4668012"/>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라인 주행 중 장애물이 가까워지면 어떤 명령이 먼저여야 하나요?</a:t>
            </a:r>
          </a:p>
        </p:txBody>
      </p:sp>
      <p:sp>
        <p:nvSpPr>
          <p:cNvPr id="9" name="학교에서 해볼 일">
            <a:extLst xmlns:a="http://schemas.openxmlformats.org/drawingml/2006/main">
              <a:ext uri="{FF2B5EF4-FFF2-40B4-BE49-F238E27FC236}">
                <a16:creationId xmlns:a16="http://schemas.microsoft.com/office/drawing/2014/main" id="{74BC6181-8CA7-4797-BDE8-DD9E51CC8A47}"/>
              </a:ext>
            </a:extLst>
          </p:cNvPr>
          <p:cNvSpPr>
            <a:spLocks xmlns:a="http://schemas.openxmlformats.org/drawingml/2006/main" noGrp="1"/>
          </p:cNvSpPr>
          <p:nvPr/>
        </p:nvSpPr>
        <p:spPr>
          <a:xfrm xmlns:a="http://schemas.openxmlformats.org/drawingml/2006/main">
            <a:off x="523875" y="5323713"/>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학교에서 해볼 일</a:t>
            </a:r>
          </a:p>
        </p:txBody>
      </p:sp>
      <p:sp>
        <p:nvSpPr>
          <p:cNvPr id="10" name="학년과 학생 과제를 정합니다.&#10;학생이 어려워할 부분과 처음">
            <a:extLst xmlns:a="http://schemas.openxmlformats.org/drawingml/2006/main">
              <a:ext uri="{FF2B5EF4-FFF2-40B4-BE49-F238E27FC236}">
                <a16:creationId xmlns:a16="http://schemas.microsoft.com/office/drawing/2014/main" id="{738BC153-26B3-428D-949B-58301B7AED7A}"/>
              </a:ext>
            </a:extLst>
          </p:cNvPr>
          <p:cNvSpPr>
            <a:spLocks xmlns:a="http://schemas.openxmlformats.org/drawingml/2006/main" noGrp="1"/>
          </p:cNvSpPr>
          <p:nvPr/>
        </p:nvSpPr>
        <p:spPr>
          <a:xfrm xmlns:a="http://schemas.openxmlformats.org/drawingml/2006/main">
            <a:off x="523875" y="5759958"/>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학년과 학생 과제를 정합니다.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학생이 어려워할 부분과 처음 건넬 질문을 적습니다.</a:t>
            </a:r>
          </a:p>
        </p:txBody>
      </p:sp>
    </p:spTree>
    <p:extLst>
      <p:ext uri="{BB962C8B-B14F-4D97-AF65-F5344CB8AC3E}">
        <p14:creationId xmlns:p14="http://schemas.microsoft.com/office/powerpoint/2010/main" val="2067920849"/>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9" name="수업 준비에 참고할 자료">
            <a:extLst xmlns:a="http://schemas.openxmlformats.org/drawingml/2006/main">
              <a:ext uri="{FF2B5EF4-FFF2-40B4-BE49-F238E27FC236}">
                <a16:creationId xmlns:a16="http://schemas.microsoft.com/office/drawing/2014/main" id="{C19DFDE2-DCCE-496F-941E-E2D6EC748BF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수업 준비에 참고할 자료</a:t>
            </a:r>
          </a:p>
        </p:txBody>
      </p:sp>
      <p:sp>
        <p:nvSpPr>
          <p:cNvPr id="2" name="46">
            <a:extLst xmlns:a="http://schemas.openxmlformats.org/drawingml/2006/main">
              <a:ext uri="{FF2B5EF4-FFF2-40B4-BE49-F238E27FC236}">
                <a16:creationId xmlns:a16="http://schemas.microsoft.com/office/drawing/2014/main" id="{61B97222-EE59-48DC-AFD3-A181F4C169E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46</a:t>
            </a:r>
          </a:p>
        </p:txBody>
      </p:sp>
      <p:sp>
        <p:nvSpPr>
          <p:cNvPr id="3" name="공식 도움말">
            <a:extLst xmlns:a="http://schemas.openxmlformats.org/drawingml/2006/main">
              <a:ext uri="{FF2B5EF4-FFF2-40B4-BE49-F238E27FC236}">
                <a16:creationId xmlns:a16="http://schemas.microsoft.com/office/drawing/2014/main" id="{C55312A7-DC1A-4120-A325-D5D4E6292F9F}"/>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공식 도움말</a:t>
            </a:r>
          </a:p>
        </p:txBody>
      </p:sp>
      <p:sp>
        <p:nvSpPr>
          <p:cNvPr id="4" name="Python API에서 함수의 인자와 단위를 확인합니다.&#10;">
            <a:extLst xmlns:a="http://schemas.openxmlformats.org/drawingml/2006/main">
              <a:ext uri="{FF2B5EF4-FFF2-40B4-BE49-F238E27FC236}">
                <a16:creationId xmlns:a16="http://schemas.microsoft.com/office/drawing/2014/main" id="{05AE28C7-1114-4EFF-ADAA-F3EEDA1A904D}"/>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Python API에서 함수의 인자와 단위를 확인합니다.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Cart Control과 Reacting to Lines에서 수업 예제를 봅니다.</a:t>
            </a:r>
          </a:p>
        </p:txBody>
      </p:sp>
      <p:sp>
        <p:nvSpPr>
          <p:cNvPr id="5" name="실습 준비">
            <a:extLst xmlns:a="http://schemas.openxmlformats.org/drawingml/2006/main">
              <a:ext uri="{FF2B5EF4-FFF2-40B4-BE49-F238E27FC236}">
                <a16:creationId xmlns:a16="http://schemas.microsoft.com/office/drawing/2014/main" id="{6403EBB0-3895-42A6-A225-D63E690A7FD5}"/>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실습 준비</a:t>
            </a:r>
          </a:p>
        </p:txBody>
      </p:sp>
      <p:sp>
        <p:nvSpPr>
          <p:cNvPr id="6" name="직접 측정한 반사광으로 기준값을 바꿉니다.&#10;사용할 Hub에">
            <a:extLst xmlns:a="http://schemas.openxmlformats.org/drawingml/2006/main">
              <a:ext uri="{FF2B5EF4-FFF2-40B4-BE49-F238E27FC236}">
                <a16:creationId xmlns:a16="http://schemas.microsoft.com/office/drawing/2014/main" id="{90CA60A0-C9B2-485D-931B-AB60AF44BB5C}"/>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직접 측정한 반사광으로 기준값을 바꿉니다.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사용할 Hub에서 정지와 재출발을 미리 시험합니다.</a:t>
            </a:r>
          </a:p>
        </p:txBody>
      </p:sp>
      <p:sp>
        <p:nvSpPr>
          <p:cNvPr id="7" name="자료 위치">
            <a:extLst xmlns:a="http://schemas.openxmlformats.org/drawingml/2006/main">
              <a:ext uri="{FF2B5EF4-FFF2-40B4-BE49-F238E27FC236}">
                <a16:creationId xmlns:a16="http://schemas.microsoft.com/office/drawing/2014/main" id="{8980BED7-FAA2-4051-AADC-A34ACA379023}"/>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자료 위치</a:t>
            </a:r>
          </a:p>
        </p:txBody>
      </p:sp>
      <p:sp>
        <p:nvSpPr>
          <p:cNvPr id="8" name="공식 링크는 공통 매뉴얼 25~26쪽에 모아 두었습니다.&#10;">
            <a:extLst xmlns:a="http://schemas.openxmlformats.org/drawingml/2006/main">
              <a:ext uri="{FF2B5EF4-FFF2-40B4-BE49-F238E27FC236}">
                <a16:creationId xmlns:a16="http://schemas.microsoft.com/office/drawing/2014/main" id="{45BD6939-3E2B-4185-8730-9AB4C5FA573C}"/>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공식 링크는 공통 매뉴얼 25~26쪽에 모아 두었습니다.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활동지에는 예상한 결과와 실제 시험 결과를 함께 적습니다.</a:t>
            </a:r>
          </a:p>
        </p:txBody>
      </p:sp>
    </p:spTree>
    <p:extLst>
      <p:ext uri="{BB962C8B-B14F-4D97-AF65-F5344CB8AC3E}">
        <p14:creationId xmlns:p14="http://schemas.microsoft.com/office/powerpoint/2010/main" val="780972636"/>
      </p:ext>
    </p:extLst>
  </p:cSld>
</p:sld>
</file>

<file path=ppt/theme/theme1.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KoPubDotum"/>
        <a:ea typeface="KoPubDotum"/>
        <a:cs typeface=""/>
      </a:majorFont>
      <a:minorFont>
        <a:latin typeface="KoPubDotum"/>
        <a:ea typeface="KoPubDotum"/>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2026-10-10T07:03:04.3090000Z</dcterms:created>
  <dcterms:modified xsi:type="dcterms:W3CDTF">2026-10-10T07:03:04.3090000Z</dcterms:modified>
</coreProperties>
</file>